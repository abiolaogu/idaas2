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theme/theme31.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0" r:id="rId2"/>
    <p:sldMasterId id="2147483651" r:id="rId3"/>
    <p:sldMasterId id="2147483652" r:id="rId4"/>
    <p:sldMasterId id="2147483653" r:id="rId5"/>
    <p:sldMasterId id="2147483654" r:id="rId6"/>
    <p:sldMasterId id="2147483655" r:id="rId7"/>
    <p:sldMasterId id="2147483656" r:id="rId8"/>
    <p:sldMasterId id="2147483657" r:id="rId9"/>
    <p:sldMasterId id="2147483658" r:id="rId10"/>
    <p:sldMasterId id="2147483659" r:id="rId11"/>
    <p:sldMasterId id="2147483660" r:id="rId12"/>
    <p:sldMasterId id="2147483661" r:id="rId13"/>
    <p:sldMasterId id="2147483662" r:id="rId14"/>
    <p:sldMasterId id="2147483663" r:id="rId15"/>
    <p:sldMasterId id="2147483664" r:id="rId16"/>
    <p:sldMasterId id="2147483665" r:id="rId17"/>
    <p:sldMasterId id="2147483666" r:id="rId18"/>
    <p:sldMasterId id="2147483667" r:id="rId19"/>
    <p:sldMasterId id="2147483668" r:id="rId20"/>
    <p:sldMasterId id="2147483669" r:id="rId21"/>
    <p:sldMasterId id="2147483670" r:id="rId22"/>
    <p:sldMasterId id="2147483671" r:id="rId23"/>
    <p:sldMasterId id="2147483672" r:id="rId24"/>
    <p:sldMasterId id="2147483673" r:id="rId25"/>
    <p:sldMasterId id="2147483674" r:id="rId26"/>
    <p:sldMasterId id="2147483675" r:id="rId27"/>
    <p:sldMasterId id="2147483676" r:id="rId28"/>
    <p:sldMasterId id="2147483677" r:id="rId29"/>
    <p:sldMasterId id="2147483678" r:id="rId30"/>
  </p:sldMasterIdLst>
  <p:notesMasterIdLst>
    <p:notesMasterId r:id="rId63"/>
  </p:notesMasterIdLst>
  <p:sldIdLst>
    <p:sldId id="257" r:id="rId31"/>
    <p:sldId id="258" r:id="rId32"/>
    <p:sldId id="259" r:id="rId33"/>
    <p:sldId id="260" r:id="rId34"/>
    <p:sldId id="261" r:id="rId35"/>
    <p:sldId id="262" r:id="rId36"/>
    <p:sldId id="263" r:id="rId37"/>
    <p:sldId id="264" r:id="rId38"/>
    <p:sldId id="265" r:id="rId39"/>
    <p:sldId id="266" r:id="rId40"/>
    <p:sldId id="267" r:id="rId41"/>
    <p:sldId id="268" r:id="rId42"/>
    <p:sldId id="269" r:id="rId43"/>
    <p:sldId id="270" r:id="rId44"/>
    <p:sldId id="271" r:id="rId45"/>
    <p:sldId id="272" r:id="rId46"/>
    <p:sldId id="273" r:id="rId47"/>
    <p:sldId id="274" r:id="rId48"/>
    <p:sldId id="275" r:id="rId49"/>
    <p:sldId id="276" r:id="rId50"/>
    <p:sldId id="277" r:id="rId51"/>
    <p:sldId id="278" r:id="rId52"/>
    <p:sldId id="279" r:id="rId53"/>
    <p:sldId id="280" r:id="rId54"/>
    <p:sldId id="281" r:id="rId55"/>
    <p:sldId id="282" r:id="rId56"/>
    <p:sldId id="283" r:id="rId57"/>
    <p:sldId id="284" r:id="rId58"/>
    <p:sldId id="285" r:id="rId59"/>
    <p:sldId id="286" r:id="rId60"/>
    <p:sldId id="287" r:id="rId61"/>
    <p:sldId id="288" r:id="rId62"/>
  </p:sldIdLst>
  <p:sldSz cx="12192000" cy="6858000"/>
  <p:notesSz cx="6858000" cy="9144000"/>
  <p:custDataLst>
    <p:tags r:id="rId64"/>
  </p:custDataLst>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706"/>
  </p:normalViewPr>
  <p:slideViewPr>
    <p:cSldViewPr snapToGrid="0">
      <p:cViewPr varScale="1">
        <p:scale>
          <a:sx n="85" d="100"/>
          <a:sy n="85" d="100"/>
        </p:scale>
        <p:origin x="208"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34" Type="http://schemas.openxmlformats.org/officeDocument/2006/relationships/slide" Target="slides/slide4.xml"/><Relationship Id="rId42" Type="http://schemas.openxmlformats.org/officeDocument/2006/relationships/slide" Target="slides/slide12.xml"/><Relationship Id="rId47" Type="http://schemas.openxmlformats.org/officeDocument/2006/relationships/slide" Target="slides/slide17.xml"/><Relationship Id="rId50" Type="http://schemas.openxmlformats.org/officeDocument/2006/relationships/slide" Target="slides/slide20.xml"/><Relationship Id="rId55" Type="http://schemas.openxmlformats.org/officeDocument/2006/relationships/slide" Target="slides/slide25.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2.xml"/><Relationship Id="rId37" Type="http://schemas.openxmlformats.org/officeDocument/2006/relationships/slide" Target="slides/slide7.xml"/><Relationship Id="rId40" Type="http://schemas.openxmlformats.org/officeDocument/2006/relationships/slide" Target="slides/slide10.xml"/><Relationship Id="rId45" Type="http://schemas.openxmlformats.org/officeDocument/2006/relationships/slide" Target="slides/slide15.xml"/><Relationship Id="rId53" Type="http://schemas.openxmlformats.org/officeDocument/2006/relationships/slide" Target="slides/slide23.xml"/><Relationship Id="rId58" Type="http://schemas.openxmlformats.org/officeDocument/2006/relationships/slide" Target="slides/slide28.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3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slide" Target="slides/slide18.xml"/><Relationship Id="rId56" Type="http://schemas.openxmlformats.org/officeDocument/2006/relationships/slide" Target="slides/slide26.xml"/><Relationship Id="rId64" Type="http://schemas.openxmlformats.org/officeDocument/2006/relationships/tags" Target="tags/tag1.xml"/><Relationship Id="rId8" Type="http://schemas.openxmlformats.org/officeDocument/2006/relationships/slideMaster" Target="slideMasters/slideMaster8.xml"/><Relationship Id="rId51" Type="http://schemas.openxmlformats.org/officeDocument/2006/relationships/slide" Target="slides/slide2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slide" Target="slides/slide16.xml"/><Relationship Id="rId59" Type="http://schemas.openxmlformats.org/officeDocument/2006/relationships/slide" Target="slides/slide29.xml"/><Relationship Id="rId67" Type="http://schemas.openxmlformats.org/officeDocument/2006/relationships/theme" Target="theme/theme1.xml"/><Relationship Id="rId20" Type="http://schemas.openxmlformats.org/officeDocument/2006/relationships/slideMaster" Target="slideMasters/slideMaster20.xml"/><Relationship Id="rId41" Type="http://schemas.openxmlformats.org/officeDocument/2006/relationships/slide" Target="slides/slide11.xml"/><Relationship Id="rId54" Type="http://schemas.openxmlformats.org/officeDocument/2006/relationships/slide" Target="slides/slide24.xml"/><Relationship Id="rId62" Type="http://schemas.openxmlformats.org/officeDocument/2006/relationships/slide" Target="slides/slide3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6.xml"/><Relationship Id="rId49" Type="http://schemas.openxmlformats.org/officeDocument/2006/relationships/slide" Target="slides/slide19.xml"/><Relationship Id="rId57" Type="http://schemas.openxmlformats.org/officeDocument/2006/relationships/slide" Target="slides/slide27.xml"/><Relationship Id="rId10" Type="http://schemas.openxmlformats.org/officeDocument/2006/relationships/slideMaster" Target="slideMasters/slideMaster10.xml"/><Relationship Id="rId31" Type="http://schemas.openxmlformats.org/officeDocument/2006/relationships/slide" Target="slides/slide1.xml"/><Relationship Id="rId44" Type="http://schemas.openxmlformats.org/officeDocument/2006/relationships/slide" Target="slides/slide14.xml"/><Relationship Id="rId52" Type="http://schemas.openxmlformats.org/officeDocument/2006/relationships/slide" Target="slides/slide22.xml"/><Relationship Id="rId60" Type="http://schemas.openxmlformats.org/officeDocument/2006/relationships/slide" Target="slides/slide30.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v>Number of Jobs</c:v>
          </c:tx>
          <c:spPr>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Lint</c:v>
                </c:pt>
                <c:pt idx="1">
                  <c:v>Build</c:v>
                </c:pt>
                <c:pt idx="2">
                  <c:v>Package</c:v>
                </c:pt>
                <c:pt idx="3">
                  <c:v>Deploy</c:v>
                </c:pt>
              </c:strCache>
            </c:strRef>
          </c:cat>
          <c:val>
            <c:numRef>
              <c:f>Sheet1!$B$2:$B$5</c:f>
              <c:numCache>
                <c:formatCode>General</c:formatCode>
                <c:ptCount val="4"/>
                <c:pt idx="0">
                  <c:v>1</c:v>
                </c:pt>
                <c:pt idx="1">
                  <c:v>1</c:v>
                </c:pt>
                <c:pt idx="2">
                  <c:v>1</c:v>
                </c:pt>
                <c:pt idx="3">
                  <c:v>1</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dLbls>
          <c:dLblPos val="ctr"/>
          <c:showLegendKey val="0"/>
          <c:showVal val="1"/>
          <c:showCatName val="0"/>
          <c:showSerName val="0"/>
          <c:showPercent val="0"/>
          <c:showBubbleSize val="0"/>
        </c:dLbls>
        <c:gapWidth val="15"/>
        <c:overlap val="100"/>
        <c:axId val="997681952"/>
        <c:axId val="998023600"/>
      </c:barChart>
      <c:catAx>
        <c:axId val="9976819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8023600"/>
        <c:crosses val="autoZero"/>
        <c:auto val="1"/>
        <c:lblAlgn val="ctr"/>
        <c:lblOffset val="100"/>
        <c:noMultiLvlLbl val="0"/>
      </c:catAx>
      <c:valAx>
        <c:axId val="998023600"/>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76819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63C5D6-5AF2-5146-A9E1-6F537954A3A2}" type="datetimeFigureOut">
              <a:rPr lang="en-NG" smtClean="0"/>
              <a:t>24/09/2025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AE875D-82BE-5349-B23F-059BAFD7B8F5}" type="slidenum">
              <a:rPr lang="en-NG" smtClean="0"/>
              <a:t>‹#›</a:t>
            </a:fld>
            <a:endParaRPr lang="en-NG"/>
          </a:p>
        </p:txBody>
      </p:sp>
    </p:spTree>
    <p:extLst>
      <p:ext uri="{BB962C8B-B14F-4D97-AF65-F5344CB8AC3E}">
        <p14:creationId xmlns:p14="http://schemas.microsoft.com/office/powerpoint/2010/main" val="1917421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C20235-DE1E-0E43-AF47-418E280831CB}" type="slidenum">
              <a:rPr lang="en-US" smtClean="0"/>
              <a:t>26</a:t>
            </a:fld>
            <a:endParaRPr lang="en-US"/>
          </a:p>
        </p:txBody>
      </p:sp>
    </p:spTree>
    <p:extLst>
      <p:ext uri="{BB962C8B-B14F-4D97-AF65-F5344CB8AC3E}">
        <p14:creationId xmlns:p14="http://schemas.microsoft.com/office/powerpoint/2010/main" val="3652112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574837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173432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213426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19100" y="629392"/>
            <a:ext cx="11353800" cy="622300"/>
          </a:xfrm>
        </p:spPr>
        <p:txBody>
          <a:bodyPr lIns="91440"/>
          <a:lstStyle/>
          <a:p>
            <a:r>
              <a:rPr lang="en-US"/>
              <a:t>Click to edit Master title style</a:t>
            </a:r>
          </a:p>
        </p:txBody>
      </p:sp>
      <p:sp>
        <p:nvSpPr>
          <p:cNvPr id="3" name="Content Placeholder 2"/>
          <p:cNvSpPr>
            <a:spLocks noGrp="1"/>
          </p:cNvSpPr>
          <p:nvPr>
            <p:ph sz="half" idx="1"/>
          </p:nvPr>
        </p:nvSpPr>
        <p:spPr>
          <a:xfrm>
            <a:off x="419100" y="2501461"/>
            <a:ext cx="365760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29099" y="2501461"/>
            <a:ext cx="3733799"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9/24/25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15297" y="2501461"/>
            <a:ext cx="3657601"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19102" y="1412241"/>
            <a:ext cx="365759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229102" y="1412241"/>
            <a:ext cx="3733798"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15300" y="1412241"/>
            <a:ext cx="3657600"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Tree>
    <p:extLst>
      <p:ext uri="{BB962C8B-B14F-4D97-AF65-F5344CB8AC3E}">
        <p14:creationId xmlns:p14="http://schemas.microsoft.com/office/powerpoint/2010/main" val="1003392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480292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213426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632265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7874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632265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59849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7203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7203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19100" y="629392"/>
            <a:ext cx="11353800" cy="622300"/>
          </a:xfrm>
        </p:spPr>
        <p:txBody>
          <a:bodyPr lIns="91440"/>
          <a:lstStyle/>
          <a:p>
            <a:r>
              <a:rPr lang="en-US"/>
              <a:t>Click to edit Master title style</a:t>
            </a:r>
          </a:p>
        </p:txBody>
      </p:sp>
      <p:sp>
        <p:nvSpPr>
          <p:cNvPr id="3" name="Content Placeholder 2"/>
          <p:cNvSpPr>
            <a:spLocks noGrp="1"/>
          </p:cNvSpPr>
          <p:nvPr>
            <p:ph sz="half" idx="1"/>
          </p:nvPr>
        </p:nvSpPr>
        <p:spPr>
          <a:xfrm>
            <a:off x="419100" y="2501461"/>
            <a:ext cx="365760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29099" y="2501461"/>
            <a:ext cx="3733799"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9/24/25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15297" y="2501461"/>
            <a:ext cx="3657601"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19102" y="1412241"/>
            <a:ext cx="365759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229102" y="1412241"/>
            <a:ext cx="3733798"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15300" y="1412241"/>
            <a:ext cx="3657600"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Tree>
    <p:extLst>
      <p:ext uri="{BB962C8B-B14F-4D97-AF65-F5344CB8AC3E}">
        <p14:creationId xmlns:p14="http://schemas.microsoft.com/office/powerpoint/2010/main" val="1003392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338482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632265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6322655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598490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3659083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4228336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19100" y="629392"/>
            <a:ext cx="11353800" cy="622300"/>
          </a:xfrm>
        </p:spPr>
        <p:txBody>
          <a:bodyPr lIns="91440"/>
          <a:lstStyle/>
          <a:p>
            <a:r>
              <a:rPr lang="en-US"/>
              <a:t>Click to edit Master title style</a:t>
            </a:r>
          </a:p>
        </p:txBody>
      </p:sp>
      <p:sp>
        <p:nvSpPr>
          <p:cNvPr id="3" name="Content Placeholder 2"/>
          <p:cNvSpPr>
            <a:spLocks noGrp="1"/>
          </p:cNvSpPr>
          <p:nvPr>
            <p:ph sz="half" idx="1"/>
          </p:nvPr>
        </p:nvSpPr>
        <p:spPr>
          <a:xfrm>
            <a:off x="419100" y="2501461"/>
            <a:ext cx="365760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29099" y="2501461"/>
            <a:ext cx="3733799"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9/24/25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15297" y="2501461"/>
            <a:ext cx="3657601"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19102" y="1412241"/>
            <a:ext cx="365759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229102" y="1412241"/>
            <a:ext cx="3733798"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15300" y="1412241"/>
            <a:ext cx="3657600"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Tree>
    <p:extLst>
      <p:ext uri="{BB962C8B-B14F-4D97-AF65-F5344CB8AC3E}">
        <p14:creationId xmlns:p14="http://schemas.microsoft.com/office/powerpoint/2010/main" val="264269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385207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72034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450460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9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4826293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9/24/25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6322655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67530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9312108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19100" y="629392"/>
            <a:ext cx="11353800" cy="622300"/>
          </a:xfrm>
        </p:spPr>
        <p:txBody>
          <a:bodyPr lIns="91440"/>
          <a:lstStyle/>
          <a:p>
            <a:r>
              <a:rPr lang="en-US"/>
              <a:t>Click to edit Master title style</a:t>
            </a:r>
          </a:p>
        </p:txBody>
      </p:sp>
      <p:sp>
        <p:nvSpPr>
          <p:cNvPr id="3" name="Content Placeholder 2"/>
          <p:cNvSpPr>
            <a:spLocks noGrp="1"/>
          </p:cNvSpPr>
          <p:nvPr>
            <p:ph sz="half" idx="1"/>
          </p:nvPr>
        </p:nvSpPr>
        <p:spPr>
          <a:xfrm>
            <a:off x="419100" y="2501461"/>
            <a:ext cx="365760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29099" y="2501461"/>
            <a:ext cx="3733799"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9/24/25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15297" y="2501461"/>
            <a:ext cx="3657601"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19102" y="1412241"/>
            <a:ext cx="365759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229102" y="1412241"/>
            <a:ext cx="3733798"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15300" y="1412241"/>
            <a:ext cx="3657600"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Tree>
    <p:extLst>
      <p:ext uri="{BB962C8B-B14F-4D97-AF65-F5344CB8AC3E}">
        <p14:creationId xmlns:p14="http://schemas.microsoft.com/office/powerpoint/2010/main" val="10033927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2134268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9/24/25</a:t>
            </a:fld>
            <a:endParaRPr lang="en-US" dirty="0"/>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043332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9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69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9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94"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486072912"/>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1266058122"/>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3369236946"/>
      </p:ext>
    </p:extLst>
  </p:cSld>
  <p:clrMap bg1="lt1" tx1="dk1" bg2="lt2" tx2="dk2" accent1="accent1" accent2="accent2" accent3="accent3" accent4="accent4" accent5="accent5" accent6="accent6" hlink="hlink" folHlink="folHlink"/>
  <p:sldLayoutIdLst>
    <p:sldLayoutId id="214748370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3369236946"/>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70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70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704"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70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1266058122"/>
      </p:ext>
    </p:extLst>
  </p:cSld>
  <p:clrMap bg1="lt1" tx1="dk1" bg2="lt2" tx2="dk2" accent1="accent1" accent2="accent2" accent3="accent3" accent4="accent4" accent5="accent5" accent6="accent6" hlink="hlink" folHlink="folHlink"/>
  <p:sldLayoutIdLst>
    <p:sldLayoutId id="214748370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679038154"/>
      </p:ext>
    </p:extLst>
  </p:cSld>
  <p:clrMap bg1="lt1" tx1="dk1" bg2="lt2" tx2="dk2" accent1="accent1" accent2="accent2" accent3="accent3" accent4="accent4" accent5="accent5" accent6="accent6" hlink="hlink" folHlink="folHlink"/>
  <p:sldLayoutIdLst>
    <p:sldLayoutId id="214748370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193092003"/>
      </p:ext>
    </p:extLst>
  </p:cSld>
  <p:clrMap bg1="lt1" tx1="dk1" bg2="lt2" tx2="dk2" accent1="accent1" accent2="accent2" accent3="accent3" accent4="accent4" accent5="accent5" accent6="accent6" hlink="hlink" folHlink="folHlink"/>
  <p:sldLayoutIdLst>
    <p:sldLayoutId id="214748370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664215612"/>
      </p:ext>
    </p:extLst>
  </p:cSld>
  <p:clrMap bg1="lt1" tx1="dk1" bg2="lt2" tx2="dk2" accent1="accent1" accent2="accent2" accent3="accent3" accent4="accent4" accent5="accent5" accent6="accent6" hlink="hlink" folHlink="folHlink"/>
  <p:sldLayoutIdLst>
    <p:sldLayoutId id="214748370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664215612"/>
      </p:ext>
    </p:extLst>
  </p:cSld>
  <p:clrMap bg1="lt1" tx1="dk1" bg2="lt2" tx2="dk2" accent1="accent1" accent2="accent2" accent3="accent3" accent4="accent4" accent5="accent5" accent6="accent6" hlink="hlink" folHlink="folHlink"/>
  <p:sldLayoutIdLst>
    <p:sldLayoutId id="214748371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3369236946"/>
      </p:ext>
    </p:extLst>
  </p:cSld>
  <p:clrMap bg1="lt1" tx1="dk1" bg2="lt2" tx2="dk2" accent1="accent1" accent2="accent2" accent3="accent3" accent4="accent4" accent5="accent5" accent6="accent6" hlink="hlink" folHlink="folHlink"/>
  <p:sldLayoutIdLst>
    <p:sldLayoutId id="214748371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1369763552"/>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664215612"/>
      </p:ext>
    </p:extLst>
  </p:cSld>
  <p:clrMap bg1="lt1" tx1="dk1" bg2="lt2" tx2="dk2" accent1="accent1" accent2="accent2" accent3="accent3" accent4="accent4" accent5="accent5" accent6="accent6" hlink="hlink" folHlink="folHlink"/>
  <p:sldLayoutIdLst>
    <p:sldLayoutId id="214748371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815645886"/>
      </p:ext>
    </p:extLst>
  </p:cSld>
  <p:clrMap bg1="lt1" tx1="dk1" bg2="lt2" tx2="dk2" accent1="accent1" accent2="accent2" accent3="accent3" accent4="accent4" accent5="accent5" accent6="accent6" hlink="hlink" folHlink="folHlink"/>
  <p:sldLayoutIdLst>
    <p:sldLayoutId id="214748371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348677719"/>
      </p:ext>
    </p:extLst>
  </p:cSld>
  <p:clrMap bg1="lt1" tx1="dk1" bg2="lt2" tx2="dk2" accent1="accent1" accent2="accent2" accent3="accent3" accent4="accent4" accent5="accent5" accent6="accent6" hlink="hlink" folHlink="folHlink"/>
  <p:sldLayoutIdLst>
    <p:sldLayoutId id="214748371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71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71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9/24/25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71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4.xml"/><Relationship Id="rId7"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3.jpeg"/><Relationship Id="rId4" Type="http://schemas.openxmlformats.org/officeDocument/2006/relationships/tags" Target="../tags/tag5.xml"/><Relationship Id="rId9"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6.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5.png"/><Relationship Id="rId5" Type="http://schemas.openxmlformats.org/officeDocument/2006/relationships/tags" Target="../tags/tag15.xml"/><Relationship Id="rId10" Type="http://schemas.openxmlformats.org/officeDocument/2006/relationships/image" Target="../media/image4.jpeg"/><Relationship Id="rId4" Type="http://schemas.openxmlformats.org/officeDocument/2006/relationships/tags" Target="../tags/tag14.xml"/><Relationship Id="rId9"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5.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slideLayout" Target="../slideLayouts/slideLayout4.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image" Target="../media/image5.png"/><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slideLayout" Target="../slideLayouts/slideLayout5.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image" Target="../media/image6.svg"/></Relationships>
</file>

<file path=ppt/slides/_rels/slide6.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tags" Target="../tags/tag43.xml"/><Relationship Id="rId7" Type="http://schemas.openxmlformats.org/officeDocument/2006/relationships/slideLayout" Target="../slideLayouts/slideLayout6.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10" Type="http://schemas.openxmlformats.org/officeDocument/2006/relationships/image" Target="../media/image6.svg"/><Relationship Id="rId4" Type="http://schemas.openxmlformats.org/officeDocument/2006/relationships/tags" Target="../tags/tag50.xm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tags" Target="../tags/tag61.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slideLayout" Target="../slideLayouts/slideLayout8.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0" Type="http://schemas.openxmlformats.org/officeDocument/2006/relationships/tags" Target="../tags/tag63.xml"/><Relationship Id="rId4" Type="http://schemas.openxmlformats.org/officeDocument/2006/relationships/tags" Target="../tags/tag57.xml"/><Relationship Id="rId9" Type="http://schemas.openxmlformats.org/officeDocument/2006/relationships/tags" Target="../tags/tag62.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tags" Target="../tags/tag67.xml"/><Relationship Id="rId7" Type="http://schemas.openxmlformats.org/officeDocument/2006/relationships/tags" Target="../tags/tag7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10" Type="http://schemas.openxmlformats.org/officeDocument/2006/relationships/image" Target="../media/image6.svg"/><Relationship Id="rId4" Type="http://schemas.openxmlformats.org/officeDocument/2006/relationships/tags" Target="../tags/tag68.xml"/><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image" Target="../media/image8.jpeg"/><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slideLayout" Target="../slideLayouts/slideLayout10.xml"/><Relationship Id="rId2" Type="http://schemas.openxmlformats.org/officeDocument/2006/relationships/tags" Target="../tags/tag73.xml"/><Relationship Id="rId16" Type="http://schemas.openxmlformats.org/officeDocument/2006/relationships/image" Target="../media/image6.svg"/><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5" Type="http://schemas.openxmlformats.org/officeDocument/2006/relationships/image" Target="../media/image5.png"/><Relationship Id="rId10" Type="http://schemas.openxmlformats.org/officeDocument/2006/relationships/tags" Target="../tags/tag81.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image" Target="../media/image9.jpeg"/></Relationships>
</file>

<file path=ppt/slides/_rels/slide11.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6.sv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media/image5.png"/><Relationship Id="rId5" Type="http://schemas.openxmlformats.org/officeDocument/2006/relationships/tags" Target="../tags/tag87.xml"/><Relationship Id="rId10" Type="http://schemas.openxmlformats.org/officeDocument/2006/relationships/slideLayout" Target="../slideLayouts/slideLayout11.xml"/><Relationship Id="rId4" Type="http://schemas.openxmlformats.org/officeDocument/2006/relationships/tags" Target="../tags/tag86.xml"/><Relationship Id="rId9" Type="http://schemas.openxmlformats.org/officeDocument/2006/relationships/tags" Target="../tags/tag91.xml"/></Relationships>
</file>

<file path=ppt/slides/_rels/slide12.xml.rels><?xml version="1.0" encoding="UTF-8" standalone="yes"?>
<Relationships xmlns="http://schemas.openxmlformats.org/package/2006/relationships"><Relationship Id="rId8" Type="http://schemas.openxmlformats.org/officeDocument/2006/relationships/tags" Target="../tags/tag99.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image" Target="../media/image6.sv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image" Target="../media/image5.png"/><Relationship Id="rId5" Type="http://schemas.openxmlformats.org/officeDocument/2006/relationships/tags" Target="../tags/tag96.xml"/><Relationship Id="rId10" Type="http://schemas.openxmlformats.org/officeDocument/2006/relationships/slideLayout" Target="../slideLayouts/slideLayout12.xml"/><Relationship Id="rId4" Type="http://schemas.openxmlformats.org/officeDocument/2006/relationships/tags" Target="../tags/tag95.xml"/><Relationship Id="rId9" Type="http://schemas.openxmlformats.org/officeDocument/2006/relationships/tags" Target="../tags/tag100.xml"/></Relationships>
</file>

<file path=ppt/slides/_rels/slide13.xml.rels><?xml version="1.0" encoding="UTF-8" standalone="yes"?>
<Relationships xmlns="http://schemas.openxmlformats.org/package/2006/relationships"><Relationship Id="rId8" Type="http://schemas.openxmlformats.org/officeDocument/2006/relationships/tags" Target="../tags/tag108.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10" Type="http://schemas.openxmlformats.org/officeDocument/2006/relationships/slideLayout" Target="../slideLayouts/slideLayout13.xml"/><Relationship Id="rId4" Type="http://schemas.openxmlformats.org/officeDocument/2006/relationships/tags" Target="../tags/tag104.xml"/><Relationship Id="rId9" Type="http://schemas.openxmlformats.org/officeDocument/2006/relationships/tags" Target="../tags/tag109.xml"/></Relationships>
</file>

<file path=ppt/slides/_rels/slide1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tags" Target="../tags/tag112.xml"/><Relationship Id="rId7" Type="http://schemas.openxmlformats.org/officeDocument/2006/relationships/slideLayout" Target="../slideLayouts/slideLayout14.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s>
</file>

<file path=ppt/slides/_rels/slide15.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slideLayout" Target="../slideLayouts/slideLayout15.xml"/><Relationship Id="rId5" Type="http://schemas.openxmlformats.org/officeDocument/2006/relationships/tags" Target="../tags/tag120.xml"/><Relationship Id="rId4" Type="http://schemas.openxmlformats.org/officeDocument/2006/relationships/tags" Target="../tags/tag119.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tags" Target="../tags/tag123.xml"/><Relationship Id="rId7" Type="http://schemas.openxmlformats.org/officeDocument/2006/relationships/tags" Target="../tags/tag127.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5" Type="http://schemas.openxmlformats.org/officeDocument/2006/relationships/tags" Target="../tags/tag125.xml"/><Relationship Id="rId10" Type="http://schemas.openxmlformats.org/officeDocument/2006/relationships/image" Target="../media/image6.svg"/><Relationship Id="rId4" Type="http://schemas.openxmlformats.org/officeDocument/2006/relationships/tags" Target="../tags/tag124.xml"/><Relationship Id="rId9"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image" Target="../media/image11.jpeg"/><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slideLayout" Target="../slideLayouts/slideLayout17.xml"/><Relationship Id="rId2" Type="http://schemas.openxmlformats.org/officeDocument/2006/relationships/tags" Target="../tags/tag129.xml"/><Relationship Id="rId16" Type="http://schemas.openxmlformats.org/officeDocument/2006/relationships/image" Target="../media/image6.svg"/><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image" Target="../media/image5.png"/><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image" Target="../media/image12.jpeg"/></Relationships>
</file>

<file path=ppt/slides/_rels/slide18.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tags" Target="../tags/tag151.xml"/><Relationship Id="rId18" Type="http://schemas.openxmlformats.org/officeDocument/2006/relationships/tags" Target="../tags/tag156.xml"/><Relationship Id="rId26" Type="http://schemas.openxmlformats.org/officeDocument/2006/relationships/image" Target="../media/image6.svg"/><Relationship Id="rId3" Type="http://schemas.openxmlformats.org/officeDocument/2006/relationships/tags" Target="../tags/tag141.xml"/><Relationship Id="rId21" Type="http://schemas.openxmlformats.org/officeDocument/2006/relationships/tags" Target="../tags/tag159.xml"/><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tags" Target="../tags/tag155.xml"/><Relationship Id="rId25" Type="http://schemas.openxmlformats.org/officeDocument/2006/relationships/image" Target="../media/image5.png"/><Relationship Id="rId2" Type="http://schemas.openxmlformats.org/officeDocument/2006/relationships/tags" Target="../tags/tag140.xml"/><Relationship Id="rId16" Type="http://schemas.openxmlformats.org/officeDocument/2006/relationships/tags" Target="../tags/tag154.xml"/><Relationship Id="rId20" Type="http://schemas.openxmlformats.org/officeDocument/2006/relationships/tags" Target="../tags/tag158.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24" Type="http://schemas.openxmlformats.org/officeDocument/2006/relationships/slideLayout" Target="../slideLayouts/slideLayout18.xml"/><Relationship Id="rId5" Type="http://schemas.openxmlformats.org/officeDocument/2006/relationships/tags" Target="../tags/tag143.xml"/><Relationship Id="rId15" Type="http://schemas.openxmlformats.org/officeDocument/2006/relationships/tags" Target="../tags/tag153.xml"/><Relationship Id="rId23" Type="http://schemas.openxmlformats.org/officeDocument/2006/relationships/tags" Target="../tags/tag161.xml"/><Relationship Id="rId10" Type="http://schemas.openxmlformats.org/officeDocument/2006/relationships/tags" Target="../tags/tag148.xml"/><Relationship Id="rId19" Type="http://schemas.openxmlformats.org/officeDocument/2006/relationships/tags" Target="../tags/tag157.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 Id="rId22" Type="http://schemas.openxmlformats.org/officeDocument/2006/relationships/tags" Target="../tags/tag160.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64.xml"/><Relationship Id="rId7" Type="http://schemas.openxmlformats.org/officeDocument/2006/relationships/tags" Target="../tags/tag168.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image" Target="../media/image6.svg"/><Relationship Id="rId5" Type="http://schemas.openxmlformats.org/officeDocument/2006/relationships/tags" Target="../tags/tag166.xml"/><Relationship Id="rId10" Type="http://schemas.openxmlformats.org/officeDocument/2006/relationships/image" Target="../media/image5.png"/><Relationship Id="rId4" Type="http://schemas.openxmlformats.org/officeDocument/2006/relationships/tags" Target="../tags/tag165.xml"/><Relationship Id="rId9" Type="http://schemas.openxmlformats.org/officeDocument/2006/relationships/image" Target="../media/image13.jpeg"/></Relationships>
</file>

<file path=ppt/slides/_rels/slide20.xml.rels><?xml version="1.0" encoding="UTF-8" standalone="yes"?>
<Relationships xmlns="http://schemas.openxmlformats.org/package/2006/relationships"><Relationship Id="rId8" Type="http://schemas.openxmlformats.org/officeDocument/2006/relationships/tags" Target="../tags/tag176.xml"/><Relationship Id="rId13" Type="http://schemas.openxmlformats.org/officeDocument/2006/relationships/tags" Target="../tags/tag181.xml"/><Relationship Id="rId18" Type="http://schemas.openxmlformats.org/officeDocument/2006/relationships/image" Target="../media/image16.png"/><Relationship Id="rId3" Type="http://schemas.openxmlformats.org/officeDocument/2006/relationships/tags" Target="../tags/tag171.xml"/><Relationship Id="rId21" Type="http://schemas.openxmlformats.org/officeDocument/2006/relationships/image" Target="../media/image19.svg"/><Relationship Id="rId7" Type="http://schemas.openxmlformats.org/officeDocument/2006/relationships/tags" Target="../tags/tag175.xml"/><Relationship Id="rId12" Type="http://schemas.openxmlformats.org/officeDocument/2006/relationships/tags" Target="../tags/tag180.xml"/><Relationship Id="rId17" Type="http://schemas.openxmlformats.org/officeDocument/2006/relationships/image" Target="../media/image15.svg"/><Relationship Id="rId2" Type="http://schemas.openxmlformats.org/officeDocument/2006/relationships/tags" Target="../tags/tag170.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tags" Target="../tags/tag169.xml"/><Relationship Id="rId6" Type="http://schemas.openxmlformats.org/officeDocument/2006/relationships/tags" Target="../tags/tag174.xml"/><Relationship Id="rId11" Type="http://schemas.openxmlformats.org/officeDocument/2006/relationships/tags" Target="../tags/tag179.xml"/><Relationship Id="rId5" Type="http://schemas.openxmlformats.org/officeDocument/2006/relationships/tags" Target="../tags/tag173.xml"/><Relationship Id="rId15" Type="http://schemas.openxmlformats.org/officeDocument/2006/relationships/slideLayout" Target="../slideLayouts/slideLayout20.xml"/><Relationship Id="rId23" Type="http://schemas.openxmlformats.org/officeDocument/2006/relationships/image" Target="../media/image6.svg"/><Relationship Id="rId10" Type="http://schemas.openxmlformats.org/officeDocument/2006/relationships/tags" Target="../tags/tag178.xml"/><Relationship Id="rId19" Type="http://schemas.openxmlformats.org/officeDocument/2006/relationships/image" Target="../media/image17.svg"/><Relationship Id="rId4" Type="http://schemas.openxmlformats.org/officeDocument/2006/relationships/tags" Target="../tags/tag172.xml"/><Relationship Id="rId9" Type="http://schemas.openxmlformats.org/officeDocument/2006/relationships/tags" Target="../tags/tag177.xml"/><Relationship Id="rId14" Type="http://schemas.openxmlformats.org/officeDocument/2006/relationships/tags" Target="../tags/tag182.xml"/><Relationship Id="rId22" Type="http://schemas.openxmlformats.org/officeDocument/2006/relationships/image" Target="../media/image5.png"/></Relationships>
</file>

<file path=ppt/slides/_rels/slide21.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tags" Target="../tags/tag195.xml"/><Relationship Id="rId18" Type="http://schemas.openxmlformats.org/officeDocument/2006/relationships/image" Target="../media/image18.png"/><Relationship Id="rId3" Type="http://schemas.openxmlformats.org/officeDocument/2006/relationships/tags" Target="../tags/tag185.xml"/><Relationship Id="rId21" Type="http://schemas.openxmlformats.org/officeDocument/2006/relationships/image" Target="../media/image23.svg"/><Relationship Id="rId7" Type="http://schemas.openxmlformats.org/officeDocument/2006/relationships/tags" Target="../tags/tag189.xml"/><Relationship Id="rId12" Type="http://schemas.openxmlformats.org/officeDocument/2006/relationships/tags" Target="../tags/tag194.xml"/><Relationship Id="rId17" Type="http://schemas.openxmlformats.org/officeDocument/2006/relationships/image" Target="../media/image21.svg"/><Relationship Id="rId2" Type="http://schemas.openxmlformats.org/officeDocument/2006/relationships/tags" Target="../tags/tag184.xml"/><Relationship Id="rId16" Type="http://schemas.openxmlformats.org/officeDocument/2006/relationships/image" Target="../media/image20.png"/><Relationship Id="rId20" Type="http://schemas.openxmlformats.org/officeDocument/2006/relationships/image" Target="../media/image22.png"/><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tags" Target="../tags/tag193.xml"/><Relationship Id="rId5" Type="http://schemas.openxmlformats.org/officeDocument/2006/relationships/tags" Target="../tags/tag187.xml"/><Relationship Id="rId15" Type="http://schemas.openxmlformats.org/officeDocument/2006/relationships/slideLayout" Target="../slideLayouts/slideLayout21.xml"/><Relationship Id="rId23" Type="http://schemas.openxmlformats.org/officeDocument/2006/relationships/image" Target="../media/image6.svg"/><Relationship Id="rId10" Type="http://schemas.openxmlformats.org/officeDocument/2006/relationships/tags" Target="../tags/tag192.xml"/><Relationship Id="rId19" Type="http://schemas.openxmlformats.org/officeDocument/2006/relationships/image" Target="../media/image19.svg"/><Relationship Id="rId4" Type="http://schemas.openxmlformats.org/officeDocument/2006/relationships/tags" Target="../tags/tag186.xml"/><Relationship Id="rId9" Type="http://schemas.openxmlformats.org/officeDocument/2006/relationships/tags" Target="../tags/tag191.xml"/><Relationship Id="rId14" Type="http://schemas.openxmlformats.org/officeDocument/2006/relationships/tags" Target="../tags/tag196.xml"/><Relationship Id="rId22" Type="http://schemas.openxmlformats.org/officeDocument/2006/relationships/image" Target="../media/image5.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tags" Target="../tags/tag199.xml"/><Relationship Id="rId7" Type="http://schemas.openxmlformats.org/officeDocument/2006/relationships/tags" Target="../tags/tag203.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s>
</file>

<file path=ppt/slides/_rels/slide23.xml.rels><?xml version="1.0" encoding="UTF-8" standalone="yes"?>
<Relationships xmlns="http://schemas.openxmlformats.org/package/2006/relationships"><Relationship Id="rId8" Type="http://schemas.openxmlformats.org/officeDocument/2006/relationships/tags" Target="../tags/tag211.xml"/><Relationship Id="rId13" Type="http://schemas.openxmlformats.org/officeDocument/2006/relationships/tags" Target="../tags/tag216.xml"/><Relationship Id="rId18" Type="http://schemas.openxmlformats.org/officeDocument/2006/relationships/slideLayout" Target="../slideLayouts/slideLayout23.xml"/><Relationship Id="rId26" Type="http://schemas.openxmlformats.org/officeDocument/2006/relationships/image" Target="../media/image21.svg"/><Relationship Id="rId3" Type="http://schemas.openxmlformats.org/officeDocument/2006/relationships/tags" Target="../tags/tag206.xml"/><Relationship Id="rId21" Type="http://schemas.openxmlformats.org/officeDocument/2006/relationships/image" Target="../media/image24.png"/><Relationship Id="rId7" Type="http://schemas.openxmlformats.org/officeDocument/2006/relationships/tags" Target="../tags/tag210.xml"/><Relationship Id="rId12" Type="http://schemas.openxmlformats.org/officeDocument/2006/relationships/tags" Target="../tags/tag215.xml"/><Relationship Id="rId17" Type="http://schemas.openxmlformats.org/officeDocument/2006/relationships/tags" Target="../tags/tag220.xml"/><Relationship Id="rId25" Type="http://schemas.openxmlformats.org/officeDocument/2006/relationships/image" Target="../media/image20.png"/><Relationship Id="rId2" Type="http://schemas.openxmlformats.org/officeDocument/2006/relationships/tags" Target="../tags/tag205.xml"/><Relationship Id="rId16" Type="http://schemas.openxmlformats.org/officeDocument/2006/relationships/tags" Target="../tags/tag219.xml"/><Relationship Id="rId20" Type="http://schemas.openxmlformats.org/officeDocument/2006/relationships/image" Target="../media/image6.svg"/><Relationship Id="rId1" Type="http://schemas.openxmlformats.org/officeDocument/2006/relationships/tags" Target="../tags/tag204.xml"/><Relationship Id="rId6" Type="http://schemas.openxmlformats.org/officeDocument/2006/relationships/tags" Target="../tags/tag209.xml"/><Relationship Id="rId11" Type="http://schemas.openxmlformats.org/officeDocument/2006/relationships/tags" Target="../tags/tag214.xml"/><Relationship Id="rId24" Type="http://schemas.openxmlformats.org/officeDocument/2006/relationships/image" Target="../media/image27.svg"/><Relationship Id="rId5" Type="http://schemas.openxmlformats.org/officeDocument/2006/relationships/tags" Target="../tags/tag208.xml"/><Relationship Id="rId15" Type="http://schemas.openxmlformats.org/officeDocument/2006/relationships/tags" Target="../tags/tag218.xml"/><Relationship Id="rId23" Type="http://schemas.openxmlformats.org/officeDocument/2006/relationships/image" Target="../media/image26.png"/><Relationship Id="rId28" Type="http://schemas.openxmlformats.org/officeDocument/2006/relationships/image" Target="../media/image29.svg"/><Relationship Id="rId10" Type="http://schemas.openxmlformats.org/officeDocument/2006/relationships/tags" Target="../tags/tag213.xml"/><Relationship Id="rId19" Type="http://schemas.openxmlformats.org/officeDocument/2006/relationships/image" Target="../media/image5.png"/><Relationship Id="rId4" Type="http://schemas.openxmlformats.org/officeDocument/2006/relationships/tags" Target="../tags/tag207.xml"/><Relationship Id="rId9" Type="http://schemas.openxmlformats.org/officeDocument/2006/relationships/tags" Target="../tags/tag212.xml"/><Relationship Id="rId14" Type="http://schemas.openxmlformats.org/officeDocument/2006/relationships/tags" Target="../tags/tag217.xml"/><Relationship Id="rId22" Type="http://schemas.openxmlformats.org/officeDocument/2006/relationships/image" Target="../media/image25.svg"/><Relationship Id="rId27"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tags" Target="../tags/tag228.xml"/><Relationship Id="rId13" Type="http://schemas.openxmlformats.org/officeDocument/2006/relationships/tags" Target="../tags/tag233.xml"/><Relationship Id="rId18" Type="http://schemas.openxmlformats.org/officeDocument/2006/relationships/image" Target="../media/image32.png"/><Relationship Id="rId3" Type="http://schemas.openxmlformats.org/officeDocument/2006/relationships/tags" Target="../tags/tag223.xml"/><Relationship Id="rId21" Type="http://schemas.openxmlformats.org/officeDocument/2006/relationships/image" Target="../media/image35.svg"/><Relationship Id="rId7" Type="http://schemas.openxmlformats.org/officeDocument/2006/relationships/tags" Target="../tags/tag227.xml"/><Relationship Id="rId12" Type="http://schemas.openxmlformats.org/officeDocument/2006/relationships/tags" Target="../tags/tag232.xml"/><Relationship Id="rId17" Type="http://schemas.openxmlformats.org/officeDocument/2006/relationships/image" Target="../media/image31.svg"/><Relationship Id="rId2" Type="http://schemas.openxmlformats.org/officeDocument/2006/relationships/tags" Target="../tags/tag22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tags" Target="../tags/tag231.xml"/><Relationship Id="rId5" Type="http://schemas.openxmlformats.org/officeDocument/2006/relationships/tags" Target="../tags/tag225.xml"/><Relationship Id="rId15" Type="http://schemas.openxmlformats.org/officeDocument/2006/relationships/slideLayout" Target="../slideLayouts/slideLayout24.xml"/><Relationship Id="rId23" Type="http://schemas.openxmlformats.org/officeDocument/2006/relationships/image" Target="../media/image6.svg"/><Relationship Id="rId10" Type="http://schemas.openxmlformats.org/officeDocument/2006/relationships/tags" Target="../tags/tag230.xml"/><Relationship Id="rId19" Type="http://schemas.openxmlformats.org/officeDocument/2006/relationships/image" Target="../media/image33.svg"/><Relationship Id="rId4" Type="http://schemas.openxmlformats.org/officeDocument/2006/relationships/tags" Target="../tags/tag224.xml"/><Relationship Id="rId9" Type="http://schemas.openxmlformats.org/officeDocument/2006/relationships/tags" Target="../tags/tag229.xml"/><Relationship Id="rId14" Type="http://schemas.openxmlformats.org/officeDocument/2006/relationships/tags" Target="../tags/tag234.xml"/><Relationship Id="rId22"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slideLayout" Target="../slideLayouts/slideLayout25.xml"/><Relationship Id="rId5" Type="http://schemas.openxmlformats.org/officeDocument/2006/relationships/tags" Target="../tags/tag239.xml"/><Relationship Id="rId4" Type="http://schemas.openxmlformats.org/officeDocument/2006/relationships/tags" Target="../tags/tag238.xml"/></Relationships>
</file>

<file path=ppt/slides/_rels/slide26.xml.rels><?xml version="1.0" encoding="UTF-8" standalone="yes"?>
<Relationships xmlns="http://schemas.openxmlformats.org/package/2006/relationships"><Relationship Id="rId8" Type="http://schemas.openxmlformats.org/officeDocument/2006/relationships/tags" Target="../tags/tag247.xml"/><Relationship Id="rId13" Type="http://schemas.openxmlformats.org/officeDocument/2006/relationships/image" Target="../media/image6.svg"/><Relationship Id="rId3" Type="http://schemas.openxmlformats.org/officeDocument/2006/relationships/tags" Target="../tags/tag242.xml"/><Relationship Id="rId7" Type="http://schemas.openxmlformats.org/officeDocument/2006/relationships/tags" Target="../tags/tag246.xml"/><Relationship Id="rId12" Type="http://schemas.openxmlformats.org/officeDocument/2006/relationships/image" Target="../media/image5.png"/><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tags" Target="../tags/tag245.xml"/><Relationship Id="rId11" Type="http://schemas.openxmlformats.org/officeDocument/2006/relationships/notesSlide" Target="../notesSlides/notesSlide1.xml"/><Relationship Id="rId5" Type="http://schemas.openxmlformats.org/officeDocument/2006/relationships/tags" Target="../tags/tag244.xml"/><Relationship Id="rId10" Type="http://schemas.openxmlformats.org/officeDocument/2006/relationships/slideLayout" Target="../slideLayouts/slideLayout26.xml"/><Relationship Id="rId4" Type="http://schemas.openxmlformats.org/officeDocument/2006/relationships/tags" Target="../tags/tag243.xml"/><Relationship Id="rId9" Type="http://schemas.openxmlformats.org/officeDocument/2006/relationships/tags" Target="../tags/tag248.xml"/><Relationship Id="rId14" Type="http://schemas.openxmlformats.org/officeDocument/2006/relationships/chart" Target="../charts/chart1.xml"/></Relationships>
</file>

<file path=ppt/slides/_rels/slide27.xml.rels><?xml version="1.0" encoding="UTF-8" standalone="yes"?>
<Relationships xmlns="http://schemas.openxmlformats.org/package/2006/relationships"><Relationship Id="rId8" Type="http://schemas.openxmlformats.org/officeDocument/2006/relationships/tags" Target="../tags/tag256.xml"/><Relationship Id="rId13" Type="http://schemas.openxmlformats.org/officeDocument/2006/relationships/tags" Target="../tags/tag261.xml"/><Relationship Id="rId18" Type="http://schemas.openxmlformats.org/officeDocument/2006/relationships/image" Target="../media/image6.svg"/><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tags" Target="../tags/tag260.xml"/><Relationship Id="rId17" Type="http://schemas.openxmlformats.org/officeDocument/2006/relationships/image" Target="../media/image5.png"/><Relationship Id="rId2" Type="http://schemas.openxmlformats.org/officeDocument/2006/relationships/tags" Target="../tags/tag250.xml"/><Relationship Id="rId16" Type="http://schemas.openxmlformats.org/officeDocument/2006/relationships/slideLayout" Target="../slideLayouts/slideLayout27.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tags" Target="../tags/tag259.xml"/><Relationship Id="rId5" Type="http://schemas.openxmlformats.org/officeDocument/2006/relationships/tags" Target="../tags/tag253.xml"/><Relationship Id="rId15" Type="http://schemas.openxmlformats.org/officeDocument/2006/relationships/tags" Target="../tags/tag263.xml"/><Relationship Id="rId10" Type="http://schemas.openxmlformats.org/officeDocument/2006/relationships/tags" Target="../tags/tag258.xml"/><Relationship Id="rId4" Type="http://schemas.openxmlformats.org/officeDocument/2006/relationships/tags" Target="../tags/tag252.xml"/><Relationship Id="rId9" Type="http://schemas.openxmlformats.org/officeDocument/2006/relationships/tags" Target="../tags/tag257.xml"/><Relationship Id="rId14" Type="http://schemas.openxmlformats.org/officeDocument/2006/relationships/tags" Target="../tags/tag262.xml"/></Relationships>
</file>

<file path=ppt/slides/_rels/slide28.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image" Target="../media/image5.png"/><Relationship Id="rId3" Type="http://schemas.openxmlformats.org/officeDocument/2006/relationships/tags" Target="../tags/tag266.xml"/><Relationship Id="rId7" Type="http://schemas.openxmlformats.org/officeDocument/2006/relationships/tags" Target="../tags/tag270.xml"/><Relationship Id="rId12" Type="http://schemas.openxmlformats.org/officeDocument/2006/relationships/slideLayout" Target="../slideLayouts/slideLayout28.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5" Type="http://schemas.openxmlformats.org/officeDocument/2006/relationships/tags" Target="../tags/tag268.xml"/><Relationship Id="rId10" Type="http://schemas.openxmlformats.org/officeDocument/2006/relationships/tags" Target="../tags/tag273.xml"/><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image" Target="../media/image6.svg"/></Relationships>
</file>

<file path=ppt/slides/_rels/slide29.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tags" Target="../tags/tag277.xml"/><Relationship Id="rId7" Type="http://schemas.openxmlformats.org/officeDocument/2006/relationships/slideLayout" Target="../slideLayouts/slideLayout29.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tags" Target="../tags/tag278.xml"/></Relationships>
</file>

<file path=ppt/slides/_rels/slide30.xml.rels><?xml version="1.0" encoding="UTF-8" standalone="yes"?>
<Relationships xmlns="http://schemas.openxmlformats.org/package/2006/relationships"><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 Id="rId4"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 Id="rId5" Type="http://schemas.openxmlformats.org/officeDocument/2006/relationships/image" Target="../media/image37.png"/><Relationship Id="rId4"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 Id="rId5" Type="http://schemas.openxmlformats.org/officeDocument/2006/relationships/image" Target="../media/image38.png"/><Relationship Id="rId4"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419100" y="896981"/>
            <a:ext cx="5600700" cy="3046369"/>
          </a:xfrm>
        </p:spPr>
        <p:txBody>
          <a:bodyPr lIns="0" anchor="b">
            <a:normAutofit/>
          </a:bodyPr>
          <a:lstStyle/>
          <a:p>
            <a:pPr>
              <a:lnSpc>
                <a:spcPct val="80000"/>
              </a:lnSpc>
            </a:pPr>
            <a:r>
              <a:rPr lang="en-US" sz="4800" dirty="0"/>
              <a:t>Identity as a Service (IDaaS)</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a:xfrm>
            <a:off x="419100" y="6151881"/>
            <a:ext cx="5600700" cy="477519"/>
          </a:xfrm>
        </p:spPr>
        <p:txBody>
          <a:bodyPr lIns="0">
            <a:normAutofit/>
          </a:bodyPr>
          <a:lstStyle/>
          <a:p>
            <a:r>
              <a:rPr lang="en-US" sz="1800" dirty="0">
                <a:solidFill>
                  <a:schemeClr val="tx2"/>
                </a:solidFill>
              </a:rPr>
              <a:t>September 24, 2025</a:t>
            </a:r>
          </a:p>
        </p:txBody>
      </p:sp>
      <p:pic>
        <p:nvPicPr>
          <p:cNvPr id="6" name="Picture Placeholder 5">
            <a:extLst>
              <a:ext uri="{FF2B5EF4-FFF2-40B4-BE49-F238E27FC236}">
                <a16:creationId xmlns:a16="http://schemas.microsoft.com/office/drawing/2014/main" id="{0EC7E239-B87C-0950-545D-6BA9F67E08C5}"/>
              </a:ext>
            </a:extLst>
          </p:cNvPr>
          <p:cNvPicPr>
            <a:picLocks noGrp="1" noChangeAspect="1"/>
          </p:cNvPicPr>
          <p:nvPr>
            <p:ph type="pic" sz="quarter" idx="13"/>
            <p:custDataLst>
              <p:tags r:id="rId4"/>
            </p:custDataLst>
          </p:nvPr>
        </p:nvPicPr>
        <p:blipFill rotWithShape="1">
          <a:blip r:embed="rId8">
            <a:extLst>
              <a:ext uri="{96DAC541-7B7A-43D3-8B79-37D633B846F1}">
                <asvg:svgBlip xmlns:asvg="http://schemas.microsoft.com/office/drawing/2016/SVG/main" r:embed="rId9"/>
              </a:ext>
            </a:extLst>
          </a:blip>
          <a:srcRect r="-687774"/>
          <a:stretch>
            <a:fillRect/>
          </a:stretch>
        </p:blipFill>
        <p:spPr>
          <a:xfrm>
            <a:off x="419100" y="419100"/>
            <a:ext cx="3581400" cy="454657"/>
          </a:xfrm>
        </p:spPr>
      </p:pic>
      <p:sp>
        <p:nvSpPr>
          <p:cNvPr id="5" name="Subtitle 2">
            <a:extLst>
              <a:ext uri="{FF2B5EF4-FFF2-40B4-BE49-F238E27FC236}">
                <a16:creationId xmlns:a16="http://schemas.microsoft.com/office/drawing/2014/main" id="{B04F756F-14A4-3FC0-9BC1-A2E8DD458977}"/>
              </a:ext>
            </a:extLst>
          </p:cNvPr>
          <p:cNvSpPr txBox="1">
            <a:spLocks/>
          </p:cNvSpPr>
          <p:nvPr>
            <p:custDataLst>
              <p:tags r:id="rId5"/>
            </p:custDataLst>
          </p:nvPr>
        </p:nvSpPr>
        <p:spPr>
          <a:xfrm>
            <a:off x="419100" y="3943350"/>
            <a:ext cx="5600700" cy="9144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2400" kern="1200">
                <a:solidFill>
                  <a:schemeClr val="tx1"/>
                </a:solidFill>
                <a:latin typeface="+mn-lt"/>
                <a:ea typeface="+mn-ea"/>
                <a:cs typeface="Arial" panose="020B0604020202020204" pitchFamily="34" charset="0"/>
              </a:defRPr>
            </a:lvl1pPr>
            <a:lvl2pPr marL="457178" indent="0" algn="ctr" defTabSz="914354" rtl="0" eaLnBrk="1" latinLnBrk="0" hangingPunct="1">
              <a:lnSpc>
                <a:spcPct val="150000"/>
              </a:lnSpc>
              <a:spcBef>
                <a:spcPts val="1200"/>
              </a:spcBef>
              <a:buFont typeface="Arial" panose="020B0604020202020204" pitchFamily="34" charset="0"/>
              <a:buNone/>
              <a:tabLst/>
              <a:defRPr sz="2000" kern="1200">
                <a:solidFill>
                  <a:schemeClr val="tx1"/>
                </a:solidFill>
                <a:latin typeface="+mn-lt"/>
                <a:ea typeface="+mn-ea"/>
                <a:cs typeface="Arial" panose="020B0604020202020204" pitchFamily="34" charset="0"/>
              </a:defRPr>
            </a:lvl2pPr>
            <a:lvl3pPr marL="914354" indent="0" algn="ctr" defTabSz="914354" rtl="0" eaLnBrk="1" latinLnBrk="0" hangingPunct="1">
              <a:lnSpc>
                <a:spcPct val="150000"/>
              </a:lnSpc>
              <a:spcBef>
                <a:spcPts val="1200"/>
              </a:spcBef>
              <a:buFont typeface="Arial" panose="020B0604020202020204" pitchFamily="34" charset="0"/>
              <a:buNone/>
              <a:tabLst/>
              <a:defRPr sz="1800" kern="1200">
                <a:solidFill>
                  <a:schemeClr val="tx1"/>
                </a:solidFill>
                <a:latin typeface="+mn-lt"/>
                <a:ea typeface="+mn-ea"/>
                <a:cs typeface="Arial" panose="020B0604020202020204" pitchFamily="34" charset="0"/>
              </a:defRPr>
            </a:lvl3pPr>
            <a:lvl4pPr marL="1371532"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4pPr>
            <a:lvl5pPr marL="1828709"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5pPr>
            <a:lvl6pPr marL="2285886"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062"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240"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418"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800" dirty="0">
                <a:solidFill>
                  <a:schemeClr val="tx2"/>
                </a:solidFill>
              </a:rPr>
              <a:t>Modern Cloud-Native Identity Management for Engineering Teams</a:t>
            </a:r>
          </a:p>
        </p:txBody>
      </p:sp>
      <p:pic>
        <p:nvPicPr>
          <p:cNvPr id="7" name="Picture Placeholder 8">
            <a:extLst>
              <a:ext uri="{FF2B5EF4-FFF2-40B4-BE49-F238E27FC236}">
                <a16:creationId xmlns:a16="http://schemas.microsoft.com/office/drawing/2014/main" id="{78C8CE94-2CFD-E8CD-2F66-2A57B1AC3B08}"/>
              </a:ext>
            </a:extLst>
          </p:cNvPr>
          <p:cNvPicPr>
            <a:picLocks noChangeAspect="1"/>
          </p:cNvPicPr>
          <p:nvPr>
            <p:custDataLst>
              <p:tags r:id="rId6"/>
            </p:custDataLst>
          </p:nvPr>
        </p:nvPicPr>
        <p:blipFill rotWithShape="1">
          <a:blip r:embed="rId10" cstate="screen">
            <a:extLst>
              <a:ext uri="{28A0092B-C50C-407E-A947-70E740481C1C}">
                <a14:useLocalDpi xmlns:a14="http://schemas.microsoft.com/office/drawing/2010/main"/>
              </a:ext>
            </a:extLst>
          </a:blip>
          <a:srcRect l="4761" r="4761"/>
          <a:stretch>
            <a:fillRect/>
          </a:stretch>
        </p:blipFill>
        <p:spPr>
          <a:xfrm>
            <a:off x="6172200" y="228600"/>
            <a:ext cx="5791200" cy="6400800"/>
          </a:xfrm>
          <a:prstGeom prst="roundRect">
            <a:avLst>
              <a:gd name="adj" fmla="val 933"/>
            </a:avLst>
          </a:prstGeom>
        </p:spPr>
      </p:pic>
    </p:spTree>
    <p:custDataLst>
      <p:tags r:id="rId1"/>
    </p:custDataLst>
    <p:extLst>
      <p:ext uri="{BB962C8B-B14F-4D97-AF65-F5344CB8AC3E}">
        <p14:creationId xmlns:p14="http://schemas.microsoft.com/office/powerpoint/2010/main" val="342729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D0D03F5-F669-D9B8-3E49-356D593494EE}"/>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419100" y="419100"/>
            <a:ext cx="3657600" cy="838200"/>
          </a:xfrm>
        </p:spPr>
        <p:txBody>
          <a:bodyPr lIns="0">
            <a:normAutofit/>
          </a:bodyPr>
          <a:lstStyle/>
          <a:p>
            <a:r>
              <a:rPr lang="en-US" dirty="0"/>
              <a:t>Agenda</a:t>
            </a:r>
          </a:p>
        </p:txBody>
      </p:sp>
      <p:sp>
        <p:nvSpPr>
          <p:cNvPr id="5" name="Content Placeholder 4">
            <a:extLst>
              <a:ext uri="{FF2B5EF4-FFF2-40B4-BE49-F238E27FC236}">
                <a16:creationId xmlns:a16="http://schemas.microsoft.com/office/drawing/2014/main" id="{49567922-F16D-ADA1-AF4D-B5436EAC2F7F}"/>
              </a:ext>
            </a:extLst>
          </p:cNvPr>
          <p:cNvSpPr>
            <a:spLocks noGrp="1"/>
          </p:cNvSpPr>
          <p:nvPr>
            <p:ph idx="4294967295"/>
            <p:custDataLst>
              <p:tags r:id="rId2"/>
            </p:custDataLst>
          </p:nvPr>
        </p:nvSpPr>
        <p:spPr>
          <a:xfrm>
            <a:off x="4359964" y="419100"/>
            <a:ext cx="7412935" cy="5981700"/>
          </a:xfrm>
        </p:spPr>
        <p:txBody>
          <a:bodyPr numCol="2">
            <a:normAutofit/>
          </a:bodyPr>
          <a:lstStyle/>
          <a:p>
            <a:pPr marL="404813" indent="-395288">
              <a:lnSpc>
                <a:spcPct val="100000"/>
              </a:lnSpc>
              <a:buClr>
                <a:schemeClr val="accent1"/>
              </a:buClr>
              <a:buFont typeface="+mj-lt"/>
              <a:buAutoNum type="arabicPeriod"/>
            </a:pPr>
            <a:r>
              <a:rPr lang="en-US" sz="1800" dirty="0"/>
              <a:t>Introduction to IDaaS
Overview of OIDC (OpenID Connect)
Overview of LDAP
Integrating OIDC and LDAP
Reference Architecture for IDaaS
Login and Access Flow
Practical Implementation Guidance
CI/CD Pipeline and Deployment
Tenant Isolation Strategies
Security and Observability
Summary and Conclusion</a:t>
            </a:r>
          </a:p>
        </p:txBody>
      </p:sp>
      <p:sp>
        <p:nvSpPr>
          <p:cNvPr id="3" name="Rectangle 2">
            <a:extLst>
              <a:ext uri="{FF2B5EF4-FFF2-40B4-BE49-F238E27FC236}">
                <a16:creationId xmlns:a16="http://schemas.microsoft.com/office/drawing/2014/main" id="{39530926-5351-1AF7-15F4-9B8C34076032}"/>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7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FF05-78A1-EEAA-0A52-AD3FC99454CC}"/>
            </a:ext>
          </a:extLst>
        </p:cNvPr>
        <p:cNvGrpSpPr/>
        <p:nvPr/>
      </p:nvGrpSpPr>
      <p:grpSpPr>
        <a:xfrm>
          <a:off x="0" y="0"/>
          <a:ext cx="0" cy="0"/>
          <a:chOff x="0" y="0"/>
          <a:chExt cx="0" cy="0"/>
        </a:xfrm>
      </p:grpSpPr>
      <p:pic>
        <p:nvPicPr>
          <p:cNvPr id="8" name="Picture Placeholder 8">
            <a:extLst>
              <a:ext uri="{FF2B5EF4-FFF2-40B4-BE49-F238E27FC236}">
                <a16:creationId xmlns:a16="http://schemas.microsoft.com/office/drawing/2014/main" id="{CD0582AD-FD4C-334F-4A3F-2BACB7359096}"/>
              </a:ext>
            </a:extLst>
          </p:cNvPr>
          <p:cNvPicPr>
            <a:picLocks noChangeAspect="1"/>
          </p:cNvPicPr>
          <p:nvPr>
            <p:custDataLst>
              <p:tags r:id="rId2"/>
            </p:custDataLst>
          </p:nvPr>
        </p:nvPicPr>
        <p:blipFill rotWithShape="1">
          <a:blip r:embed="rId10" cstate="screen">
            <a:extLst>
              <a:ext uri="{28A0092B-C50C-407E-A947-70E740481C1C}">
                <a14:useLocalDpi xmlns:a14="http://schemas.microsoft.com/office/drawing/2010/main"/>
              </a:ext>
            </a:extLst>
          </a:blip>
          <a:srcRect l="8178" r="8178"/>
          <a:stretch/>
        </p:blipFill>
        <p:spPr>
          <a:xfrm>
            <a:off x="228599" y="228600"/>
            <a:ext cx="3771901" cy="6067425"/>
          </a:xfrm>
          <a:prstGeom prst="roundRect">
            <a:avLst>
              <a:gd name="adj" fmla="val 2476"/>
            </a:avLst>
          </a:prstGeom>
        </p:spPr>
      </p:pic>
      <p:sp>
        <p:nvSpPr>
          <p:cNvPr id="2" name="Title 1">
            <a:extLst>
              <a:ext uri="{FF2B5EF4-FFF2-40B4-BE49-F238E27FC236}">
                <a16:creationId xmlns:a16="http://schemas.microsoft.com/office/drawing/2014/main" id="{61E6301F-E0F8-8D5C-FAE0-A212E30E4110}"/>
              </a:ext>
            </a:extLst>
          </p:cNvPr>
          <p:cNvSpPr>
            <a:spLocks noGrp="1"/>
          </p:cNvSpPr>
          <p:nvPr>
            <p:ph type="title" idx="4294967295"/>
            <p:custDataLst>
              <p:tags r:id="rId3"/>
            </p:custDataLst>
          </p:nvPr>
        </p:nvSpPr>
        <p:spPr>
          <a:xfrm>
            <a:off x="4229100" y="629392"/>
            <a:ext cx="7543800" cy="762000"/>
          </a:xfrm>
        </p:spPr>
        <p:txBody>
          <a:bodyPr lIns="0">
            <a:normAutofit/>
          </a:bodyPr>
          <a:lstStyle/>
          <a:p>
            <a:r>
              <a:rPr lang="en-US" noProof="1"/>
              <a:t>Introduction to IDaaS</a:t>
            </a:r>
          </a:p>
        </p:txBody>
      </p:sp>
      <p:sp>
        <p:nvSpPr>
          <p:cNvPr id="3" name="Content Placeholder 2">
            <a:extLst>
              <a:ext uri="{FF2B5EF4-FFF2-40B4-BE49-F238E27FC236}">
                <a16:creationId xmlns:a16="http://schemas.microsoft.com/office/drawing/2014/main" id="{AEF27C81-EA41-94A4-CA1F-0B8A59AA9B33}"/>
              </a:ext>
            </a:extLst>
          </p:cNvPr>
          <p:cNvSpPr>
            <a:spLocks noGrp="1"/>
          </p:cNvSpPr>
          <p:nvPr>
            <p:ph idx="4294967295"/>
            <p:custDataLst>
              <p:tags r:id="rId4"/>
            </p:custDataLst>
          </p:nvPr>
        </p:nvSpPr>
        <p:spPr>
          <a:xfrm>
            <a:off x="4229100" y="1485900"/>
            <a:ext cx="7543800" cy="4799396"/>
          </a:xfrm>
        </p:spPr>
        <p:txBody>
          <a:bodyPr lIns="0" anchor="ctr">
            <a:normAutofit/>
          </a:bodyPr>
          <a:lstStyle/>
          <a:p>
            <a:pPr marL="407988" indent="-284163">
              <a:lnSpc>
                <a:spcPct val="114000"/>
              </a:lnSpc>
              <a:buClr>
                <a:schemeClr val="accent1"/>
              </a:buClr>
            </a:pPr>
            <a:r>
              <a:rPr lang="en-US" noProof="1"/>
              <a:t>IDaaS provides scalable, cloud-based identity and access management as a service.
It supports authentication, authorization, and user lifecycle management across diverse applications and platforms.
Modern engineering teams rely on IDaaS to unify identity across cloud, mobile, and on-premises systems.
IDaaS enhances security by centralizing identity controls, enabling MFA, and supporting zero trust architectures.
It reduces operational complexity by offloading identity infrastructure and enabling rapid integration with modern and legacy apps.</a:t>
            </a:r>
          </a:p>
        </p:txBody>
      </p:sp>
      <p:grpSp>
        <p:nvGrpSpPr>
          <p:cNvPr id="10" name="Group 9">
            <a:extLst>
              <a:ext uri="{FF2B5EF4-FFF2-40B4-BE49-F238E27FC236}">
                <a16:creationId xmlns:a16="http://schemas.microsoft.com/office/drawing/2014/main" id="{A4DF7D72-C2AE-8BF4-1700-D4C4F95BEE7A}"/>
              </a:ext>
            </a:extLst>
          </p:cNvPr>
          <p:cNvGrpSpPr/>
          <p:nvPr>
            <p:custDataLst>
              <p:tags r:id="rId5"/>
            </p:custDataLst>
          </p:nvPr>
        </p:nvGrpSpPr>
        <p:grpSpPr>
          <a:xfrm>
            <a:off x="243214" y="189474"/>
            <a:ext cx="2576145" cy="1301528"/>
            <a:chOff x="5326996" y="628184"/>
            <a:chExt cx="2576145" cy="1301528"/>
          </a:xfrm>
        </p:grpSpPr>
        <p:sp>
          <p:nvSpPr>
            <p:cNvPr id="11" name="Rounded Rectangle 10">
              <a:extLst>
                <a:ext uri="{FF2B5EF4-FFF2-40B4-BE49-F238E27FC236}">
                  <a16:creationId xmlns:a16="http://schemas.microsoft.com/office/drawing/2014/main" id="{9A3EC87F-4030-2E58-B14E-A74D7CC86E60}"/>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2" name="Graphic 11">
              <a:extLst>
                <a:ext uri="{FF2B5EF4-FFF2-40B4-BE49-F238E27FC236}">
                  <a16:creationId xmlns:a16="http://schemas.microsoft.com/office/drawing/2014/main" id="{38BD594F-4CAD-CF55-1EC2-0807744FD34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40548" y="734271"/>
              <a:ext cx="219238" cy="219238"/>
            </a:xfrm>
            <a:prstGeom prst="rect">
              <a:avLst/>
            </a:prstGeom>
          </p:spPr>
        </p:pic>
        <p:sp>
          <p:nvSpPr>
            <p:cNvPr id="13" name="Freeform 12">
              <a:extLst>
                <a:ext uri="{FF2B5EF4-FFF2-40B4-BE49-F238E27FC236}">
                  <a16:creationId xmlns:a16="http://schemas.microsoft.com/office/drawing/2014/main" id="{9E500877-4109-6E7D-DE46-8E8F6FB2D47A}"/>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4" name="TextBox 13">
            <a:extLst>
              <a:ext uri="{FF2B5EF4-FFF2-40B4-BE49-F238E27FC236}">
                <a16:creationId xmlns:a16="http://schemas.microsoft.com/office/drawing/2014/main" id="{B7FCB20F-1FDF-EF27-0598-1CE35F39B100}"/>
              </a:ext>
            </a:extLst>
          </p:cNvPr>
          <p:cNvSpPr txBox="1"/>
          <p:nvPr>
            <p:custDataLst>
              <p:tags r:id="rId6"/>
            </p:custDataLst>
          </p:nvPr>
        </p:nvSpPr>
        <p:spPr>
          <a:xfrm>
            <a:off x="355200" y="569726"/>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Include examples of how your team's current projects could benefit from centralized identity management to make the content relatable.</a:t>
            </a:r>
          </a:p>
        </p:txBody>
      </p:sp>
      <p:sp>
        <p:nvSpPr>
          <p:cNvPr id="5" name="TextBox 4">
            <a:extLst>
              <a:ext uri="{FF2B5EF4-FFF2-40B4-BE49-F238E27FC236}">
                <a16:creationId xmlns:a16="http://schemas.microsoft.com/office/drawing/2014/main" id="{50D05913-94AB-4E5C-B3E1-70DADFEFAD90}"/>
              </a:ext>
            </a:extLst>
          </p:cNvPr>
          <p:cNvSpPr txBox="1"/>
          <p:nvPr>
            <p:custDataLst>
              <p:tags r:id="rId7"/>
            </p:custDataLst>
          </p:nvPr>
        </p:nvSpPr>
        <p:spPr>
          <a:xfrm>
            <a:off x="4229100" y="265211"/>
            <a:ext cx="3657600" cy="304800"/>
          </a:xfrm>
          <a:prstGeom prst="rect">
            <a:avLst/>
          </a:prstGeom>
          <a:noFill/>
        </p:spPr>
        <p:txBody>
          <a:bodyPr wrap="square" lIns="0">
            <a:normAutofit/>
          </a:bodyPr>
          <a:lstStyle/>
          <a:p>
            <a:r>
              <a:rPr lang="en-US" sz="1400" noProof="1">
                <a:solidFill>
                  <a:schemeClr val="tx2"/>
                </a:solidFill>
              </a:rPr>
              <a:t>Introduction</a:t>
            </a:r>
          </a:p>
        </p:txBody>
      </p:sp>
      <p:sp>
        <p:nvSpPr>
          <p:cNvPr id="6" name="Rectangle 5">
            <a:extLst>
              <a:ext uri="{FF2B5EF4-FFF2-40B4-BE49-F238E27FC236}">
                <a16:creationId xmlns:a16="http://schemas.microsoft.com/office/drawing/2014/main" id="{B4D42A8C-22A1-36B1-7FC3-BAE28DAD00A8}"/>
              </a:ext>
            </a:extLst>
          </p:cNvPr>
          <p:cNvSpPr/>
          <p:nvPr>
            <p:custDataLst>
              <p:tags r:id="rId8"/>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25844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05C6E7-F0FC-3795-2E85-0380A73F65DB}"/>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OIDC</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r>
              <a:rPr lang="en-US" noProof="1"/>
              <a:t>What is OIDC?</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419103" y="2545080"/>
            <a:ext cx="3581398" cy="3746500"/>
          </a:xfrm>
        </p:spPr>
        <p:txBody>
          <a:bodyPr vert="horz" lIns="0" tIns="45720" rIns="91440" bIns="45720" rtlCol="0">
            <a:normAutofit/>
          </a:bodyPr>
          <a:lstStyle/>
          <a:p>
            <a:pPr marL="11113" indent="0">
              <a:lnSpc>
                <a:spcPct val="114000"/>
              </a:lnSpc>
              <a:buNone/>
            </a:pPr>
            <a:r>
              <a:rPr lang="en-US" noProof="1"/>
              <a:t>OIDC is a simple identity layer built on top of the OAuth2 authorization framework. It provides a standard way to authenticate users and obtain profile information through JSON Web Tokens (JWTs).</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4305303" y="2545080"/>
            <a:ext cx="3581398" cy="3746500"/>
          </a:xfrm>
        </p:spPr>
        <p:txBody>
          <a:bodyPr vert="horz" lIns="0" tIns="45720" rIns="91440" bIns="45720" rtlCol="0">
            <a:normAutofit/>
          </a:bodyPr>
          <a:lstStyle/>
          <a:p>
            <a:pPr marL="11113" indent="0">
              <a:lnSpc>
                <a:spcPct val="114000"/>
              </a:lnSpc>
              <a:buNone/>
            </a:pPr>
            <a:r>
              <a:rPr lang="en-US" noProof="1"/>
              <a:t>OIDC is the preferred authentication protocol for SaaS applications, APIs, and modern mobile or single-page applications (SPAs), supporting Single Sign-On (SSO) and delegated authorization.</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5"/>
            </p:custDataLst>
          </p:nvPr>
        </p:nvSpPr>
        <p:spPr>
          <a:xfrm>
            <a:off x="8191502" y="2545080"/>
            <a:ext cx="3581398" cy="3746500"/>
          </a:xfrm>
        </p:spPr>
        <p:txBody>
          <a:bodyPr vert="horz" lIns="0" tIns="45720" rIns="91440" bIns="45720" rtlCol="0">
            <a:normAutofit/>
          </a:bodyPr>
          <a:lstStyle/>
          <a:p>
            <a:pPr marL="11113" indent="0">
              <a:lnSpc>
                <a:spcPct val="114000"/>
              </a:lnSpc>
              <a:buNone/>
            </a:pPr>
            <a:r>
              <a:rPr lang="en-US" noProof="1"/>
              <a:t>It enables secure user authentication with minimal friction, supports scopes for fine-grained access control, issues interoperable JWT tokens, and simplifies integration across diverse web and mobile platforms.</a:t>
            </a:r>
          </a:p>
        </p:txBody>
      </p:sp>
      <p:sp>
        <p:nvSpPr>
          <p:cNvPr id="20" name="Text Placeholder 19">
            <a:extLst>
              <a:ext uri="{FF2B5EF4-FFF2-40B4-BE49-F238E27FC236}">
                <a16:creationId xmlns:a16="http://schemas.microsoft.com/office/drawing/2014/main" id="{77079A3D-6F12-1C02-B417-AE815CFABFDF}"/>
              </a:ext>
            </a:extLst>
          </p:cNvPr>
          <p:cNvSpPr>
            <a:spLocks noGrp="1"/>
          </p:cNvSpPr>
          <p:nvPr>
            <p:ph type="body" idx="14"/>
            <p:custDataLst>
              <p:tags r:id="rId6"/>
            </p:custDataLst>
          </p:nvPr>
        </p:nvSpPr>
        <p:spPr>
          <a:xfrm>
            <a:off x="419100" y="1905000"/>
            <a:ext cx="3581398" cy="635000"/>
          </a:xfrm>
        </p:spPr>
        <p:txBody>
          <a:bodyPr lIns="0" anchor="t">
            <a:normAutofit/>
          </a:bodyPr>
          <a:lstStyle/>
          <a:p>
            <a:r>
              <a:rPr lang="en-US" sz="1800" noProof="1">
                <a:latin typeface="+mj-lt"/>
              </a:rPr>
              <a:t>OpenID Connect (OIDC) Defined</a:t>
            </a:r>
          </a:p>
        </p:txBody>
      </p:sp>
      <p:sp>
        <p:nvSpPr>
          <p:cNvPr id="18" name="Text Placeholder 17">
            <a:extLst>
              <a:ext uri="{FF2B5EF4-FFF2-40B4-BE49-F238E27FC236}">
                <a16:creationId xmlns:a16="http://schemas.microsoft.com/office/drawing/2014/main" id="{444BD0B7-77D1-C502-C24F-E0457FD904DB}"/>
              </a:ext>
            </a:extLst>
          </p:cNvPr>
          <p:cNvSpPr>
            <a:spLocks noGrp="1"/>
          </p:cNvSpPr>
          <p:nvPr>
            <p:ph type="body" idx="15"/>
            <p:custDataLst>
              <p:tags r:id="rId7"/>
            </p:custDataLst>
          </p:nvPr>
        </p:nvSpPr>
        <p:spPr>
          <a:xfrm>
            <a:off x="4305301" y="1905000"/>
            <a:ext cx="3581398" cy="635000"/>
          </a:xfrm>
        </p:spPr>
        <p:txBody>
          <a:bodyPr lIns="0" anchor="t">
            <a:normAutofit/>
          </a:bodyPr>
          <a:lstStyle/>
          <a:p>
            <a:r>
              <a:rPr lang="en-US" sz="1800" noProof="1">
                <a:latin typeface="+mj-lt"/>
              </a:rPr>
              <a:t>Role in Modern Applications</a:t>
            </a:r>
          </a:p>
        </p:txBody>
      </p:sp>
      <p:sp>
        <p:nvSpPr>
          <p:cNvPr id="16" name="Text Placeholder 15">
            <a:extLst>
              <a:ext uri="{FF2B5EF4-FFF2-40B4-BE49-F238E27FC236}">
                <a16:creationId xmlns:a16="http://schemas.microsoft.com/office/drawing/2014/main" id="{52A21A83-D876-9C72-4780-3581E1B5B658}"/>
              </a:ext>
            </a:extLst>
          </p:cNvPr>
          <p:cNvSpPr>
            <a:spLocks noGrp="1"/>
          </p:cNvSpPr>
          <p:nvPr>
            <p:ph type="body" idx="16"/>
            <p:custDataLst>
              <p:tags r:id="rId8"/>
            </p:custDataLst>
          </p:nvPr>
        </p:nvSpPr>
        <p:spPr>
          <a:xfrm>
            <a:off x="8191502" y="1905000"/>
            <a:ext cx="3581398" cy="635000"/>
          </a:xfrm>
        </p:spPr>
        <p:txBody>
          <a:bodyPr lIns="0" anchor="t">
            <a:normAutofit/>
          </a:bodyPr>
          <a:lstStyle/>
          <a:p>
            <a:r>
              <a:rPr lang="en-US" sz="1800" noProof="1">
                <a:latin typeface="+mj-lt"/>
              </a:rPr>
              <a:t>Key Benefits of OIDC</a:t>
            </a:r>
          </a:p>
        </p:txBody>
      </p:sp>
      <p:sp>
        <p:nvSpPr>
          <p:cNvPr id="2" name="Rectangle 1">
            <a:extLst>
              <a:ext uri="{FF2B5EF4-FFF2-40B4-BE49-F238E27FC236}">
                <a16:creationId xmlns:a16="http://schemas.microsoft.com/office/drawing/2014/main" id="{65D50419-C0A5-2DAB-F1D2-B1C23FF0C523}"/>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8" name="Group 7">
            <a:extLst>
              <a:ext uri="{FF2B5EF4-FFF2-40B4-BE49-F238E27FC236}">
                <a16:creationId xmlns:a16="http://schemas.microsoft.com/office/drawing/2014/main" id="{78D50A90-F2BF-1CA7-7B4D-150ACD99DE5F}"/>
              </a:ext>
            </a:extLst>
          </p:cNvPr>
          <p:cNvGrpSpPr/>
          <p:nvPr>
            <p:custDataLst>
              <p:tags r:id="rId10"/>
            </p:custDataLst>
          </p:nvPr>
        </p:nvGrpSpPr>
        <p:grpSpPr>
          <a:xfrm>
            <a:off x="9440602" y="162617"/>
            <a:ext cx="2576145" cy="1301528"/>
            <a:chOff x="5326996" y="628184"/>
            <a:chExt cx="2576145" cy="1301528"/>
          </a:xfrm>
        </p:grpSpPr>
        <p:sp>
          <p:nvSpPr>
            <p:cNvPr id="13" name="Rounded Rectangle 12">
              <a:extLst>
                <a:ext uri="{FF2B5EF4-FFF2-40B4-BE49-F238E27FC236}">
                  <a16:creationId xmlns:a16="http://schemas.microsoft.com/office/drawing/2014/main" id="{1C0135B4-023C-95B1-31BA-2FA0BFFB97AE}"/>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4" name="Graphic 13">
              <a:extLst>
                <a:ext uri="{FF2B5EF4-FFF2-40B4-BE49-F238E27FC236}">
                  <a16:creationId xmlns:a16="http://schemas.microsoft.com/office/drawing/2014/main" id="{63087EB3-AC1C-0CA8-8557-A073B4E1515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40548" y="734271"/>
              <a:ext cx="219238" cy="219238"/>
            </a:xfrm>
            <a:prstGeom prst="rect">
              <a:avLst/>
            </a:prstGeom>
          </p:spPr>
        </p:pic>
        <p:sp>
          <p:nvSpPr>
            <p:cNvPr id="15" name="Freeform 14">
              <a:extLst>
                <a:ext uri="{FF2B5EF4-FFF2-40B4-BE49-F238E27FC236}">
                  <a16:creationId xmlns:a16="http://schemas.microsoft.com/office/drawing/2014/main" id="{EDA7D4C8-02E0-A73C-DEDD-BAE6F0C1CE66}"/>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7" name="TextBox 16">
            <a:extLst>
              <a:ext uri="{FF2B5EF4-FFF2-40B4-BE49-F238E27FC236}">
                <a16:creationId xmlns:a16="http://schemas.microsoft.com/office/drawing/2014/main" id="{162C5B02-E9B7-0153-E169-49D4C6161C9F}"/>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Tailor the examples of modern apps using OIDC to your organization's technology stack for better audience engagement.</a:t>
            </a:r>
          </a:p>
        </p:txBody>
      </p:sp>
      <p:sp>
        <p:nvSpPr>
          <p:cNvPr id="4" name="TextBox 3">
            <a:extLst>
              <a:ext uri="{FF2B5EF4-FFF2-40B4-BE49-F238E27FC236}">
                <a16:creationId xmlns:a16="http://schemas.microsoft.com/office/drawing/2014/main" id="{1147348F-4C63-9910-CDB0-9169A353728F}"/>
              </a:ext>
            </a:extLst>
          </p:cNvPr>
          <p:cNvSpPr txBox="1"/>
          <p:nvPr/>
        </p:nvSpPr>
        <p:spPr>
          <a:xfrm>
            <a:off x="419099" y="1485900"/>
            <a:ext cx="842353" cy="400110"/>
          </a:xfrm>
          <a:prstGeom prst="rect">
            <a:avLst/>
          </a:prstGeom>
          <a:noFill/>
        </p:spPr>
        <p:txBody>
          <a:bodyPr wrap="square" lIns="0" rtlCol="0">
            <a:spAutoFit/>
          </a:bodyPr>
          <a:lstStyle/>
          <a:p>
            <a:r>
              <a:rPr lang="en-US" sz="2000" b="1" noProof="1">
                <a:solidFill>
                  <a:schemeClr val="accent1"/>
                </a:solidFill>
              </a:rPr>
              <a:t>01</a:t>
            </a:r>
          </a:p>
        </p:txBody>
      </p:sp>
      <p:sp>
        <p:nvSpPr>
          <p:cNvPr id="5" name="TextBox 4">
            <a:extLst>
              <a:ext uri="{FF2B5EF4-FFF2-40B4-BE49-F238E27FC236}">
                <a16:creationId xmlns:a16="http://schemas.microsoft.com/office/drawing/2014/main" id="{3C737089-A9D4-3C36-A417-E088EEFC41D3}"/>
              </a:ext>
            </a:extLst>
          </p:cNvPr>
          <p:cNvSpPr txBox="1"/>
          <p:nvPr/>
        </p:nvSpPr>
        <p:spPr>
          <a:xfrm>
            <a:off x="4305301" y="1485900"/>
            <a:ext cx="842353" cy="400110"/>
          </a:xfrm>
          <a:prstGeom prst="rect">
            <a:avLst/>
          </a:prstGeom>
          <a:noFill/>
        </p:spPr>
        <p:txBody>
          <a:bodyPr wrap="square" lIns="0" rtlCol="0">
            <a:spAutoFit/>
          </a:bodyPr>
          <a:lstStyle/>
          <a:p>
            <a:r>
              <a:rPr lang="en-US" sz="2000" b="1" noProof="1">
                <a:solidFill>
                  <a:schemeClr val="accent1"/>
                </a:solidFill>
              </a:rPr>
              <a:t>02</a:t>
            </a:r>
          </a:p>
        </p:txBody>
      </p:sp>
      <p:sp>
        <p:nvSpPr>
          <p:cNvPr id="6" name="TextBox 5">
            <a:extLst>
              <a:ext uri="{FF2B5EF4-FFF2-40B4-BE49-F238E27FC236}">
                <a16:creationId xmlns:a16="http://schemas.microsoft.com/office/drawing/2014/main" id="{B5DCB58D-6E9E-D96E-26F5-3C3AB5FD0404}"/>
              </a:ext>
            </a:extLst>
          </p:cNvPr>
          <p:cNvSpPr txBox="1"/>
          <p:nvPr/>
        </p:nvSpPr>
        <p:spPr>
          <a:xfrm>
            <a:off x="8191502" y="1485900"/>
            <a:ext cx="842353" cy="400110"/>
          </a:xfrm>
          <a:prstGeom prst="rect">
            <a:avLst/>
          </a:prstGeom>
          <a:noFill/>
        </p:spPr>
        <p:txBody>
          <a:bodyPr wrap="square" lIns="0" rtlCol="0">
            <a:spAutoFit/>
          </a:bodyPr>
          <a:lstStyle/>
          <a:p>
            <a:r>
              <a:rPr lang="en-US" sz="2000" b="1" noProof="1">
                <a:solidFill>
                  <a:schemeClr val="accent1"/>
                </a:solidFill>
              </a:rPr>
              <a:t>03</a:t>
            </a:r>
          </a:p>
        </p:txBody>
      </p:sp>
    </p:spTree>
    <p:extLst>
      <p:ext uri="{BB962C8B-B14F-4D97-AF65-F5344CB8AC3E}">
        <p14:creationId xmlns:p14="http://schemas.microsoft.com/office/powerpoint/2010/main" val="184729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66DC6E8B-3BFF-262A-9B2F-6ECD5A053EB3}"/>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sp>
        <p:nvSpPr>
          <p:cNvPr id="3" name="TextBox 2">
            <a:extLst>
              <a:ext uri="{FF2B5EF4-FFF2-40B4-BE49-F238E27FC236}">
                <a16:creationId xmlns:a16="http://schemas.microsoft.com/office/drawing/2014/main" id="{9CDA48C6-AA9A-1D09-0830-E327473D9E41}"/>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LDAP</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pPr>
              <a:lnSpc>
                <a:spcPct val="90000"/>
              </a:lnSpc>
            </a:pPr>
            <a:r>
              <a:rPr lang="en-US" noProof="1"/>
              <a:t>What is LDAP?</a:t>
            </a:r>
          </a:p>
        </p:txBody>
      </p:sp>
      <p:sp>
        <p:nvSpPr>
          <p:cNvPr id="26" name="Content Placeholder 25">
            <a:extLst>
              <a:ext uri="{FF2B5EF4-FFF2-40B4-BE49-F238E27FC236}">
                <a16:creationId xmlns:a16="http://schemas.microsoft.com/office/drawing/2014/main" id="{E788DD44-AE73-33B6-4635-9B8D5137E607}"/>
              </a:ext>
            </a:extLst>
          </p:cNvPr>
          <p:cNvSpPr>
            <a:spLocks noGrp="1"/>
          </p:cNvSpPr>
          <p:nvPr>
            <p:ph idx="1"/>
            <p:custDataLst>
              <p:tags r:id="rId3"/>
            </p:custDataLst>
          </p:nvPr>
        </p:nvSpPr>
        <p:spPr>
          <a:xfrm>
            <a:off x="6667500" y="419100"/>
            <a:ext cx="5105400" cy="1866901"/>
          </a:xfrm>
        </p:spPr>
        <p:txBody>
          <a:bodyPr vert="horz" lIns="91440" tIns="45720" rIns="91440" bIns="45720" rtlCol="0">
            <a:normAutofit/>
          </a:bodyPr>
          <a:lstStyle/>
          <a:p>
            <a:pPr marL="11113" indent="0">
              <a:lnSpc>
                <a:spcPct val="114000"/>
              </a:lnSpc>
              <a:spcBef>
                <a:spcPts val="1000"/>
              </a:spcBef>
              <a:buNone/>
            </a:pPr>
            <a:r>
              <a:rPr lang="en-US" sz="1400" noProof="1"/>
              <a:t>LDAP (Lightweight Directory Access Protocol) is a mature, widely used protocol for accessing and maintaining distributed directory information services, especially in legacy and enterprise environments.</a:t>
            </a:r>
          </a:p>
        </p:txBody>
      </p:sp>
      <p:sp>
        <p:nvSpPr>
          <p:cNvPr id="28" name="Content Placeholder 27">
            <a:extLst>
              <a:ext uri="{FF2B5EF4-FFF2-40B4-BE49-F238E27FC236}">
                <a16:creationId xmlns:a16="http://schemas.microsoft.com/office/drawing/2014/main" id="{F595EC02-957F-FE81-2C9F-5A8C787B445F}"/>
              </a:ext>
            </a:extLst>
          </p:cNvPr>
          <p:cNvSpPr>
            <a:spLocks noGrp="1"/>
          </p:cNvSpPr>
          <p:nvPr>
            <p:ph sz="half" idx="4294967295"/>
            <p:custDataLst>
              <p:tags r:id="rId4"/>
            </p:custDataLst>
          </p:nvPr>
        </p:nvSpPr>
        <p:spPr>
          <a:xfrm>
            <a:off x="6667500" y="2481262"/>
            <a:ext cx="5105400" cy="1866901"/>
          </a:xfrm>
        </p:spPr>
        <p:txBody>
          <a:bodyPr vert="horz" lIns="91440" tIns="45720" rIns="91440" bIns="45720" rtlCol="0">
            <a:normAutofit/>
          </a:bodyPr>
          <a:lstStyle/>
          <a:p>
            <a:pPr marL="11113" indent="0">
              <a:lnSpc>
                <a:spcPct val="114000"/>
              </a:lnSpc>
              <a:spcBef>
                <a:spcPts val="1000"/>
              </a:spcBef>
              <a:buNone/>
            </a:pPr>
            <a:r>
              <a:rPr lang="en-US" sz="1400" noProof="1"/>
              <a:t>Commonly used for authenticating legacy applications, POSIX/Linux system logins, and network devices that rely on directory-based user and group information.</a:t>
            </a:r>
          </a:p>
        </p:txBody>
      </p:sp>
      <p:sp>
        <p:nvSpPr>
          <p:cNvPr id="30" name="Content Placeholder 29">
            <a:extLst>
              <a:ext uri="{FF2B5EF4-FFF2-40B4-BE49-F238E27FC236}">
                <a16:creationId xmlns:a16="http://schemas.microsoft.com/office/drawing/2014/main" id="{262DC19F-B03F-FD9C-64D4-837E89CE392B}"/>
              </a:ext>
            </a:extLst>
          </p:cNvPr>
          <p:cNvSpPr>
            <a:spLocks noGrp="1"/>
          </p:cNvSpPr>
          <p:nvPr>
            <p:ph sz="half" idx="4294967295"/>
            <p:custDataLst>
              <p:tags r:id="rId5"/>
            </p:custDataLst>
          </p:nvPr>
        </p:nvSpPr>
        <p:spPr>
          <a:xfrm>
            <a:off x="6667500" y="4543425"/>
            <a:ext cx="5105400" cy="1866901"/>
          </a:xfrm>
        </p:spPr>
        <p:txBody>
          <a:bodyPr vert="horz" lIns="91440" tIns="45720" rIns="91440" bIns="45720" rtlCol="0">
            <a:normAutofit/>
          </a:bodyPr>
          <a:lstStyle/>
          <a:p>
            <a:pPr marL="11113" indent="0">
              <a:lnSpc>
                <a:spcPct val="114000"/>
              </a:lnSpc>
              <a:spcBef>
                <a:spcPts val="1000"/>
              </a:spcBef>
              <a:buNone/>
            </a:pPr>
            <a:r>
              <a:rPr lang="en-US" sz="1400" noProof="1"/>
              <a:t>LDAP is essential if you have legacy apps that require LDAP bind authentication, need Unix/Linux group-based access controls, or must interoperate with existing enterprise directories like Active Directory.</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4294967295"/>
            <p:custDataLst>
              <p:tags r:id="rId6"/>
            </p:custDataLst>
          </p:nvPr>
        </p:nvSpPr>
        <p:spPr>
          <a:xfrm>
            <a:off x="4772722" y="419099"/>
            <a:ext cx="1773852" cy="1866901"/>
          </a:xfrm>
        </p:spPr>
        <p:txBody>
          <a:bodyPr vert="horz" lIns="91440" tIns="45720" rIns="91440" bIns="45720" rtlCol="0" anchor="t">
            <a:normAutofit/>
          </a:bodyPr>
          <a:lstStyle/>
          <a:p>
            <a:pPr marL="0" indent="0">
              <a:lnSpc>
                <a:spcPct val="100000"/>
              </a:lnSpc>
              <a:spcBef>
                <a:spcPts val="1000"/>
              </a:spcBef>
              <a:buNone/>
            </a:pPr>
            <a:r>
              <a:rPr lang="en-US" b="1" noProof="1">
                <a:latin typeface="+mj-lt"/>
              </a:rPr>
              <a:t>Legacy Directory Protocol</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4294967295"/>
            <p:custDataLst>
              <p:tags r:id="rId7"/>
            </p:custDataLst>
          </p:nvPr>
        </p:nvSpPr>
        <p:spPr>
          <a:xfrm>
            <a:off x="4772722" y="2481262"/>
            <a:ext cx="1773852" cy="1866901"/>
          </a:xfrm>
        </p:spPr>
        <p:txBody>
          <a:bodyPr vert="horz" lIns="91440" tIns="45720" rIns="91440" bIns="45720" rtlCol="0" anchor="t">
            <a:normAutofit/>
          </a:bodyPr>
          <a:lstStyle/>
          <a:p>
            <a:pPr marL="0" indent="0">
              <a:lnSpc>
                <a:spcPct val="100000"/>
              </a:lnSpc>
              <a:spcBef>
                <a:spcPts val="1000"/>
              </a:spcBef>
              <a:buNone/>
            </a:pPr>
            <a:r>
              <a:rPr lang="en-US" b="1" noProof="1">
                <a:latin typeface="+mj-lt"/>
              </a:rPr>
              <a:t>Use Cases for LDAP</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4294967295"/>
            <p:custDataLst>
              <p:tags r:id="rId8"/>
            </p:custDataLst>
          </p:nvPr>
        </p:nvSpPr>
        <p:spPr>
          <a:xfrm>
            <a:off x="4772722" y="4543425"/>
            <a:ext cx="1773852" cy="1866901"/>
          </a:xfrm>
        </p:spPr>
        <p:txBody>
          <a:bodyPr vert="horz" lIns="91440" tIns="45720" rIns="91440" bIns="45720" rtlCol="0" anchor="t">
            <a:normAutofit/>
          </a:bodyPr>
          <a:lstStyle/>
          <a:p>
            <a:pPr marL="0" indent="0">
              <a:lnSpc>
                <a:spcPct val="100000"/>
              </a:lnSpc>
              <a:spcBef>
                <a:spcPts val="1000"/>
              </a:spcBef>
              <a:buNone/>
            </a:pPr>
            <a:r>
              <a:rPr lang="en-US" b="1" noProof="1">
                <a:latin typeface="+mj-lt"/>
              </a:rPr>
              <a:t>When LDAP Support is Useful</a:t>
            </a:r>
          </a:p>
        </p:txBody>
      </p:sp>
      <p:sp>
        <p:nvSpPr>
          <p:cNvPr id="2" name="Rectangle 1">
            <a:extLst>
              <a:ext uri="{FF2B5EF4-FFF2-40B4-BE49-F238E27FC236}">
                <a16:creationId xmlns:a16="http://schemas.microsoft.com/office/drawing/2014/main" id="{7664DFC7-C861-C967-C0CE-7990949D9E4F}"/>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12" name="Group 11">
            <a:extLst>
              <a:ext uri="{FF2B5EF4-FFF2-40B4-BE49-F238E27FC236}">
                <a16:creationId xmlns:a16="http://schemas.microsoft.com/office/drawing/2014/main" id="{76848C57-C43F-8453-59A4-CAC7B39311A4}"/>
              </a:ext>
            </a:extLst>
          </p:cNvPr>
          <p:cNvGrpSpPr/>
          <p:nvPr>
            <p:custDataLst>
              <p:tags r:id="rId10"/>
            </p:custDataLst>
          </p:nvPr>
        </p:nvGrpSpPr>
        <p:grpSpPr>
          <a:xfrm>
            <a:off x="9440602" y="162617"/>
            <a:ext cx="2576145" cy="1301528"/>
            <a:chOff x="5326996" y="628184"/>
            <a:chExt cx="2576145" cy="1301528"/>
          </a:xfrm>
        </p:grpSpPr>
        <p:sp>
          <p:nvSpPr>
            <p:cNvPr id="16" name="Rounded Rectangle 15">
              <a:extLst>
                <a:ext uri="{FF2B5EF4-FFF2-40B4-BE49-F238E27FC236}">
                  <a16:creationId xmlns:a16="http://schemas.microsoft.com/office/drawing/2014/main" id="{8BF658A7-9C6B-44BC-2BE2-DF0FBDB15702}"/>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7" name="Graphic 16">
              <a:extLst>
                <a:ext uri="{FF2B5EF4-FFF2-40B4-BE49-F238E27FC236}">
                  <a16:creationId xmlns:a16="http://schemas.microsoft.com/office/drawing/2014/main" id="{ACD01DFB-A8E5-C617-4B06-20ADEC190E5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BAEB4731-4590-ABAB-1DA4-B31B2C793A7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9" name="TextBox 18">
            <a:extLst>
              <a:ext uri="{FF2B5EF4-FFF2-40B4-BE49-F238E27FC236}">
                <a16:creationId xmlns:a16="http://schemas.microsoft.com/office/drawing/2014/main" id="{E79047F7-ED2B-96A3-5923-AA361F732DFC}"/>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Customize this slide by adding examples of legacy applications or network equipment specific to your organization's environment to increase relevance for the engineering team.</a:t>
            </a:r>
          </a:p>
        </p:txBody>
      </p:sp>
      <p:sp>
        <p:nvSpPr>
          <p:cNvPr id="8" name="TextBox 7">
            <a:extLst>
              <a:ext uri="{FF2B5EF4-FFF2-40B4-BE49-F238E27FC236}">
                <a16:creationId xmlns:a16="http://schemas.microsoft.com/office/drawing/2014/main" id="{90A50666-EF2A-25FF-33FB-7652A907C850}"/>
              </a:ext>
            </a:extLst>
          </p:cNvPr>
          <p:cNvSpPr txBox="1"/>
          <p:nvPr/>
        </p:nvSpPr>
        <p:spPr>
          <a:xfrm>
            <a:off x="4217307" y="419099"/>
            <a:ext cx="548640" cy="369332"/>
          </a:xfrm>
          <a:prstGeom prst="rect">
            <a:avLst/>
          </a:prstGeom>
          <a:noFill/>
        </p:spPr>
        <p:txBody>
          <a:bodyPr wrap="square" rtlCol="0">
            <a:normAutofit/>
          </a:bodyPr>
          <a:lstStyle/>
          <a:p>
            <a:pPr algn="r"/>
            <a:r>
              <a:rPr lang="en-US" sz="1600" b="1" noProof="1">
                <a:solidFill>
                  <a:schemeClr val="accent1"/>
                </a:solidFill>
              </a:rPr>
              <a:t>01</a:t>
            </a:r>
          </a:p>
        </p:txBody>
      </p:sp>
      <p:sp>
        <p:nvSpPr>
          <p:cNvPr id="10" name="TextBox 9">
            <a:extLst>
              <a:ext uri="{FF2B5EF4-FFF2-40B4-BE49-F238E27FC236}">
                <a16:creationId xmlns:a16="http://schemas.microsoft.com/office/drawing/2014/main" id="{A9EFBC15-F158-6986-2CDF-05CDE56DD4FB}"/>
              </a:ext>
            </a:extLst>
          </p:cNvPr>
          <p:cNvSpPr txBox="1"/>
          <p:nvPr/>
        </p:nvSpPr>
        <p:spPr>
          <a:xfrm>
            <a:off x="4217307" y="2481262"/>
            <a:ext cx="548640" cy="338554"/>
          </a:xfrm>
          <a:prstGeom prst="rect">
            <a:avLst/>
          </a:prstGeom>
          <a:noFill/>
        </p:spPr>
        <p:txBody>
          <a:bodyPr wrap="square" rtlCol="0">
            <a:spAutoFit/>
          </a:bodyPr>
          <a:lstStyle/>
          <a:p>
            <a:pPr algn="r"/>
            <a:r>
              <a:rPr lang="en-US" sz="1600" b="1" noProof="1">
                <a:solidFill>
                  <a:schemeClr val="accent1"/>
                </a:solidFill>
              </a:rPr>
              <a:t>02</a:t>
            </a:r>
          </a:p>
        </p:txBody>
      </p:sp>
      <p:sp>
        <p:nvSpPr>
          <p:cNvPr id="11" name="TextBox 10">
            <a:extLst>
              <a:ext uri="{FF2B5EF4-FFF2-40B4-BE49-F238E27FC236}">
                <a16:creationId xmlns:a16="http://schemas.microsoft.com/office/drawing/2014/main" id="{28BE883E-9DCA-2FEA-ED38-A301BADB1863}"/>
              </a:ext>
            </a:extLst>
          </p:cNvPr>
          <p:cNvSpPr txBox="1"/>
          <p:nvPr/>
        </p:nvSpPr>
        <p:spPr>
          <a:xfrm>
            <a:off x="4217307" y="4543425"/>
            <a:ext cx="548640" cy="338554"/>
          </a:xfrm>
          <a:prstGeom prst="rect">
            <a:avLst/>
          </a:prstGeom>
          <a:noFill/>
        </p:spPr>
        <p:txBody>
          <a:bodyPr wrap="square" rtlCol="0">
            <a:spAutoFit/>
          </a:bodyPr>
          <a:lstStyle/>
          <a:p>
            <a:pPr algn="r"/>
            <a:r>
              <a:rPr lang="en-US" sz="1600" b="1" noProof="1">
                <a:solidFill>
                  <a:schemeClr val="accent1"/>
                </a:solidFill>
              </a:rPr>
              <a:t>03</a:t>
            </a:r>
          </a:p>
        </p:txBody>
      </p:sp>
    </p:spTree>
    <p:extLst>
      <p:ext uri="{BB962C8B-B14F-4D97-AF65-F5344CB8AC3E}">
        <p14:creationId xmlns:p14="http://schemas.microsoft.com/office/powerpoint/2010/main" val="1113072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FF05-78A1-EEAA-0A52-AD3FC99454CC}"/>
            </a:ext>
          </a:extLst>
        </p:cNvPr>
        <p:cNvGrpSpPr/>
        <p:nvPr/>
      </p:nvGrpSpPr>
      <p:grpSpPr>
        <a:xfrm>
          <a:off x="0" y="0"/>
          <a:ext cx="0" cy="0"/>
          <a:chOff x="0" y="0"/>
          <a:chExt cx="0" cy="0"/>
        </a:xfrm>
      </p:grpSpPr>
      <p:pic>
        <p:nvPicPr>
          <p:cNvPr id="8" name="Picture Placeholder 8">
            <a:extLst>
              <a:ext uri="{FF2B5EF4-FFF2-40B4-BE49-F238E27FC236}">
                <a16:creationId xmlns:a16="http://schemas.microsoft.com/office/drawing/2014/main" id="{CD0582AD-FD4C-334F-4A3F-2BACB7359096}"/>
              </a:ext>
            </a:extLst>
          </p:cNvPr>
          <p:cNvPicPr>
            <a:picLocks noChangeAspect="1"/>
          </p:cNvPicPr>
          <p:nvPr>
            <p:custDataLst>
              <p:tags r:id="rId2"/>
            </p:custDataLst>
          </p:nvPr>
        </p:nvPicPr>
        <p:blipFill rotWithShape="1">
          <a:blip r:embed="rId8" cstate="screen">
            <a:extLst>
              <a:ext uri="{28A0092B-C50C-407E-A947-70E740481C1C}">
                <a14:useLocalDpi xmlns:a14="http://schemas.microsoft.com/office/drawing/2010/main"/>
              </a:ext>
            </a:extLst>
          </a:blip>
          <a:srcRect l="8178" r="8178"/>
          <a:stretch/>
        </p:blipFill>
        <p:spPr>
          <a:xfrm>
            <a:off x="228599" y="228600"/>
            <a:ext cx="3771901" cy="6067425"/>
          </a:xfrm>
          <a:prstGeom prst="roundRect">
            <a:avLst>
              <a:gd name="adj" fmla="val 2476"/>
            </a:avLst>
          </a:prstGeom>
        </p:spPr>
      </p:pic>
      <p:sp>
        <p:nvSpPr>
          <p:cNvPr id="2" name="Title 1">
            <a:extLst>
              <a:ext uri="{FF2B5EF4-FFF2-40B4-BE49-F238E27FC236}">
                <a16:creationId xmlns:a16="http://schemas.microsoft.com/office/drawing/2014/main" id="{61E6301F-E0F8-8D5C-FAE0-A212E30E4110}"/>
              </a:ext>
            </a:extLst>
          </p:cNvPr>
          <p:cNvSpPr>
            <a:spLocks noGrp="1"/>
          </p:cNvSpPr>
          <p:nvPr>
            <p:ph type="title" idx="4294967295"/>
            <p:custDataLst>
              <p:tags r:id="rId3"/>
            </p:custDataLst>
          </p:nvPr>
        </p:nvSpPr>
        <p:spPr>
          <a:xfrm>
            <a:off x="4229100" y="629392"/>
            <a:ext cx="7543800" cy="762000"/>
          </a:xfrm>
        </p:spPr>
        <p:txBody>
          <a:bodyPr lIns="0">
            <a:normAutofit/>
          </a:bodyPr>
          <a:lstStyle/>
          <a:p>
            <a:r>
              <a:rPr lang="en-US" noProof="1"/>
              <a:t>Why Use OIDC?</a:t>
            </a:r>
          </a:p>
        </p:txBody>
      </p:sp>
      <p:sp>
        <p:nvSpPr>
          <p:cNvPr id="3" name="Content Placeholder 2">
            <a:extLst>
              <a:ext uri="{FF2B5EF4-FFF2-40B4-BE49-F238E27FC236}">
                <a16:creationId xmlns:a16="http://schemas.microsoft.com/office/drawing/2014/main" id="{AEF27C81-EA41-94A4-CA1F-0B8A59AA9B33}"/>
              </a:ext>
            </a:extLst>
          </p:cNvPr>
          <p:cNvSpPr>
            <a:spLocks noGrp="1"/>
          </p:cNvSpPr>
          <p:nvPr>
            <p:ph idx="4294967295"/>
            <p:custDataLst>
              <p:tags r:id="rId4"/>
            </p:custDataLst>
          </p:nvPr>
        </p:nvSpPr>
        <p:spPr>
          <a:xfrm>
            <a:off x="4229100" y="1485900"/>
            <a:ext cx="7543800" cy="4799396"/>
          </a:xfrm>
        </p:spPr>
        <p:txBody>
          <a:bodyPr lIns="0" anchor="ctr">
            <a:normAutofit/>
          </a:bodyPr>
          <a:lstStyle/>
          <a:p>
            <a:pPr marL="407988" indent="-284163">
              <a:lnSpc>
                <a:spcPct val="114000"/>
              </a:lnSpc>
              <a:buClr>
                <a:schemeClr val="accent1"/>
              </a:buClr>
            </a:pPr>
            <a:r>
              <a:rPr lang="en-US" noProof="1"/>
              <a:t>OIDC is built on OAuth2, enabling secure delegated authorization and authentication for modern web and mobile apps.
Supports JSON Web Tokens (JWTs) for compact, self-contained identity tokens that are easy to validate and pass between services.
Enables single sign-on (SSO) across diverse SaaS applications and APIs with standardized scopes and claims.
Designed for cloud-native, multi-tenant environments, making it scalable and adaptable to complex identity needs.
Widely supported and expected by modern front-end frameworks, mobile apps, and APIs, ensuring interoperability and future-proofing.</a:t>
            </a:r>
          </a:p>
        </p:txBody>
      </p:sp>
      <p:sp>
        <p:nvSpPr>
          <p:cNvPr id="5" name="TextBox 4">
            <a:extLst>
              <a:ext uri="{FF2B5EF4-FFF2-40B4-BE49-F238E27FC236}">
                <a16:creationId xmlns:a16="http://schemas.microsoft.com/office/drawing/2014/main" id="{50D05913-94AB-4E5C-B3E1-70DADFEFAD90}"/>
              </a:ext>
            </a:extLst>
          </p:cNvPr>
          <p:cNvSpPr txBox="1"/>
          <p:nvPr>
            <p:custDataLst>
              <p:tags r:id="rId5"/>
            </p:custDataLst>
          </p:nvPr>
        </p:nvSpPr>
        <p:spPr>
          <a:xfrm>
            <a:off x="4229100" y="265211"/>
            <a:ext cx="3657600" cy="304800"/>
          </a:xfrm>
          <a:prstGeom prst="rect">
            <a:avLst/>
          </a:prstGeom>
          <a:noFill/>
        </p:spPr>
        <p:txBody>
          <a:bodyPr wrap="square" lIns="0">
            <a:normAutofit/>
          </a:bodyPr>
          <a:lstStyle/>
          <a:p>
            <a:r>
              <a:rPr lang="en-US" sz="1400" noProof="1">
                <a:solidFill>
                  <a:schemeClr val="tx2"/>
                </a:solidFill>
              </a:rPr>
              <a:t>OIDC</a:t>
            </a:r>
          </a:p>
        </p:txBody>
      </p:sp>
      <p:sp>
        <p:nvSpPr>
          <p:cNvPr id="6" name="Rectangle 5">
            <a:extLst>
              <a:ext uri="{FF2B5EF4-FFF2-40B4-BE49-F238E27FC236}">
                <a16:creationId xmlns:a16="http://schemas.microsoft.com/office/drawing/2014/main" id="{B4D42A8C-22A1-36B1-7FC3-BAE28DAD00A8}"/>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258441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20490EE-4B50-7583-5CAB-D89A2E2FE958}"/>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419099" y="629392"/>
            <a:ext cx="3581401" cy="5771408"/>
          </a:xfrm>
        </p:spPr>
        <p:txBody>
          <a:bodyPr lIns="0" anchor="t">
            <a:normAutofit/>
          </a:bodyPr>
          <a:lstStyle/>
          <a:p>
            <a:pPr>
              <a:lnSpc>
                <a:spcPct val="90000"/>
              </a:lnSpc>
            </a:pPr>
            <a:r>
              <a:rPr lang="en-US" noProof="1"/>
              <a:t>When to Add LDAP?</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4343399" y="419100"/>
            <a:ext cx="7429501" cy="5981700"/>
          </a:xfrm>
        </p:spPr>
        <p:txBody>
          <a:bodyPr vert="horz" lIns="91440" tIns="45720" rIns="91440" bIns="45720" rtlCol="0" anchor="ctr">
            <a:normAutofit/>
          </a:bodyPr>
          <a:lstStyle/>
          <a:p>
            <a:pPr marL="407988" indent="-284163">
              <a:lnSpc>
                <a:spcPct val="114000"/>
              </a:lnSpc>
              <a:buClr>
                <a:schemeClr val="accent1"/>
              </a:buClr>
            </a:pPr>
            <a:r>
              <a:rPr lang="en-US" sz="1600" noProof="1"/>
              <a:t>You have legacy applications that only support LDAP bind authentication or expect POSIX groups for access control.
You need to support UNIX/Linux authentication via PAM or SSH against directory groups with MFA integration.
Your environment requires interoperability with customer or partner Active Directory (AD) or LDAP directories without forcing modernization.
You must maintain support for legacy network devices or infrastructure components that rely on LDAP for user authentication.
LDAP enables bridging between traditional enterprise identity systems and modern OIDC-based services ensuring smoother migration paths.</a:t>
            </a:r>
          </a:p>
        </p:txBody>
      </p:sp>
      <p:grpSp>
        <p:nvGrpSpPr>
          <p:cNvPr id="10" name="Group 9">
            <a:extLst>
              <a:ext uri="{FF2B5EF4-FFF2-40B4-BE49-F238E27FC236}">
                <a16:creationId xmlns:a16="http://schemas.microsoft.com/office/drawing/2014/main" id="{700D3A5D-E409-D5C1-E099-26711DE5A961}"/>
              </a:ext>
            </a:extLst>
          </p:cNvPr>
          <p:cNvGrpSpPr/>
          <p:nvPr>
            <p:custDataLst>
              <p:tags r:id="rId4"/>
            </p:custDataLst>
          </p:nvPr>
        </p:nvGrpSpPr>
        <p:grpSpPr>
          <a:xfrm>
            <a:off x="9440602" y="162617"/>
            <a:ext cx="2576145" cy="1301528"/>
            <a:chOff x="5326996" y="628184"/>
            <a:chExt cx="2576145" cy="1301528"/>
          </a:xfrm>
        </p:grpSpPr>
        <p:sp>
          <p:nvSpPr>
            <p:cNvPr id="11" name="Rounded Rectangle 10">
              <a:extLst>
                <a:ext uri="{FF2B5EF4-FFF2-40B4-BE49-F238E27FC236}">
                  <a16:creationId xmlns:a16="http://schemas.microsoft.com/office/drawing/2014/main" id="{8CEED4D5-D4FC-3368-8135-966759AF4C60}"/>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2" name="Graphic 11">
              <a:extLst>
                <a:ext uri="{FF2B5EF4-FFF2-40B4-BE49-F238E27FC236}">
                  <a16:creationId xmlns:a16="http://schemas.microsoft.com/office/drawing/2014/main" id="{9747DA84-B293-F5A1-8676-B6376F53D5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40548" y="734271"/>
              <a:ext cx="219238" cy="219238"/>
            </a:xfrm>
            <a:prstGeom prst="rect">
              <a:avLst/>
            </a:prstGeom>
          </p:spPr>
        </p:pic>
        <p:sp>
          <p:nvSpPr>
            <p:cNvPr id="13" name="Freeform 12">
              <a:extLst>
                <a:ext uri="{FF2B5EF4-FFF2-40B4-BE49-F238E27FC236}">
                  <a16:creationId xmlns:a16="http://schemas.microsoft.com/office/drawing/2014/main" id="{20240504-3465-429B-1D15-4506B317999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4" name="TextBox 13">
            <a:extLst>
              <a:ext uri="{FF2B5EF4-FFF2-40B4-BE49-F238E27FC236}">
                <a16:creationId xmlns:a16="http://schemas.microsoft.com/office/drawing/2014/main" id="{FE84978B-98C8-7A5F-8541-25CB3DBD435A}"/>
              </a:ext>
            </a:extLst>
          </p:cNvPr>
          <p:cNvSpPr txBox="1"/>
          <p:nvPr>
            <p:custDataLst>
              <p:tags r:id="rId5"/>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Highlight specific legacy systems or Linux PAM/SSH use cases in your organization to justify LDAP inclusion.</a:t>
            </a:r>
          </a:p>
        </p:txBody>
      </p:sp>
      <p:sp>
        <p:nvSpPr>
          <p:cNvPr id="5" name="TextBox 4">
            <a:extLst>
              <a:ext uri="{FF2B5EF4-FFF2-40B4-BE49-F238E27FC236}">
                <a16:creationId xmlns:a16="http://schemas.microsoft.com/office/drawing/2014/main" id="{343D758A-379D-3839-15DB-554B84577D0A}"/>
              </a:ext>
            </a:extLst>
          </p:cNvPr>
          <p:cNvSpPr txBox="1"/>
          <p:nvPr>
            <p:custDataLst>
              <p:tags r:id="rId6"/>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LDAP</a:t>
            </a:r>
          </a:p>
        </p:txBody>
      </p:sp>
      <p:sp>
        <p:nvSpPr>
          <p:cNvPr id="7" name="Rectangle 6">
            <a:extLst>
              <a:ext uri="{FF2B5EF4-FFF2-40B4-BE49-F238E27FC236}">
                <a16:creationId xmlns:a16="http://schemas.microsoft.com/office/drawing/2014/main" id="{E8980B1E-BBA0-DBA3-3985-119902D60EE2}"/>
              </a:ext>
            </a:extLst>
          </p:cNvPr>
          <p:cNvSpPr/>
          <p:nvPr>
            <p:custDataLst>
              <p:tags r:id="rId7"/>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07420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843227D-A99A-1B24-55F1-6BA30229D7CE}"/>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Integration</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r>
              <a:rPr lang="en-US" noProof="1"/>
              <a:t>Benefits of Adding LDAP to OIDC</a:t>
            </a:r>
          </a:p>
        </p:txBody>
      </p:sp>
      <p:sp>
        <p:nvSpPr>
          <p:cNvPr id="16" name="Rectangle 15">
            <a:extLst>
              <a:ext uri="{FF2B5EF4-FFF2-40B4-BE49-F238E27FC236}">
                <a16:creationId xmlns:a16="http://schemas.microsoft.com/office/drawing/2014/main" id="{7A488D9B-0500-1091-C315-820D176A15B7}"/>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
        <p:nvSpPr>
          <p:cNvPr id="26" name="Content Placeholder 9">
            <a:extLst>
              <a:ext uri="{FF2B5EF4-FFF2-40B4-BE49-F238E27FC236}">
                <a16:creationId xmlns:a16="http://schemas.microsoft.com/office/drawing/2014/main" id="{E25C85D8-6B1D-8938-0E2A-3ABE8FC1C6D7}"/>
              </a:ext>
            </a:extLst>
          </p:cNvPr>
          <p:cNvSpPr txBox="1">
            <a:spLocks/>
          </p:cNvSpPr>
          <p:nvPr>
            <p:custDataLst>
              <p:tags r:id="rId4"/>
            </p:custDataLst>
          </p:nvPr>
        </p:nvSpPr>
        <p:spPr>
          <a:xfrm>
            <a:off x="419100" y="2545079"/>
            <a:ext cx="274320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1">
                <a:ln>
                  <a:noFill/>
                </a:ln>
                <a:effectLst/>
                <a:uLnTx/>
                <a:uFillTx/>
                <a:ea typeface="+mn-ea"/>
                <a:cs typeface="Arial" panose="020B0604020202020204" pitchFamily="34" charset="0"/>
              </a:rPr>
              <a:t>Adding LDAP allows legacy applications that rely on LDAP bind authentication to continue functioning seamlessly while newer applications use OIDC/OAuth2, enabling coexistence and gradual modernization.</a:t>
            </a:r>
          </a:p>
        </p:txBody>
      </p:sp>
      <p:sp>
        <p:nvSpPr>
          <p:cNvPr id="27" name="Content Placeholder 10">
            <a:extLst>
              <a:ext uri="{FF2B5EF4-FFF2-40B4-BE49-F238E27FC236}">
                <a16:creationId xmlns:a16="http://schemas.microsoft.com/office/drawing/2014/main" id="{A543FC7F-8658-0CC7-A17A-661DB4F692F8}"/>
              </a:ext>
            </a:extLst>
          </p:cNvPr>
          <p:cNvSpPr txBox="1">
            <a:spLocks/>
          </p:cNvSpPr>
          <p:nvPr>
            <p:custDataLst>
              <p:tags r:id="rId5"/>
            </p:custDataLst>
          </p:nvPr>
        </p:nvSpPr>
        <p:spPr>
          <a:xfrm>
            <a:off x="3289300" y="2545079"/>
            <a:ext cx="274320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1">
                <a:ln>
                  <a:noFill/>
                </a:ln>
                <a:effectLst/>
                <a:uLnTx/>
                <a:uFillTx/>
                <a:ea typeface="+mn-ea"/>
                <a:cs typeface="Arial" panose="020B0604020202020204" pitchFamily="34" charset="0"/>
              </a:rPr>
              <a:t>Keycloak acts as a centralized identity provider that federates or syncs with external LDAP directories and exposes LDAP views, providing a unified identity source across modern and legacy clients.</a:t>
            </a:r>
          </a:p>
        </p:txBody>
      </p:sp>
      <p:sp>
        <p:nvSpPr>
          <p:cNvPr id="28" name="Text Placeholder 12">
            <a:extLst>
              <a:ext uri="{FF2B5EF4-FFF2-40B4-BE49-F238E27FC236}">
                <a16:creationId xmlns:a16="http://schemas.microsoft.com/office/drawing/2014/main" id="{EF953502-9227-0F08-85A9-CB4F78F6ACED}"/>
              </a:ext>
            </a:extLst>
          </p:cNvPr>
          <p:cNvSpPr txBox="1">
            <a:spLocks/>
          </p:cNvSpPr>
          <p:nvPr>
            <p:custDataLst>
              <p:tags r:id="rId6"/>
            </p:custDataLst>
          </p:nvPr>
        </p:nvSpPr>
        <p:spPr>
          <a:xfrm>
            <a:off x="419100" y="1905000"/>
            <a:ext cx="274320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800" b="1" i="0" u="none" strike="noStrike" kern="1200" cap="none" spc="0" normalizeH="0" baseline="0" noProof="1">
                <a:ln>
                  <a:noFill/>
                </a:ln>
                <a:solidFill>
                  <a:schemeClr val="accent1"/>
                </a:solidFill>
                <a:effectLst/>
                <a:uLnTx/>
                <a:uFillTx/>
                <a:ea typeface="+mn-ea"/>
                <a:cs typeface="Arial" panose="020B0604020202020204" pitchFamily="34" charset="0"/>
              </a:rPr>
              <a:t>Bridge Old and New Systems</a:t>
            </a:r>
          </a:p>
        </p:txBody>
      </p:sp>
      <p:sp>
        <p:nvSpPr>
          <p:cNvPr id="29" name="Text Placeholder 13">
            <a:extLst>
              <a:ext uri="{FF2B5EF4-FFF2-40B4-BE49-F238E27FC236}">
                <a16:creationId xmlns:a16="http://schemas.microsoft.com/office/drawing/2014/main" id="{3522D0CB-3A35-EB5B-EBB7-33A241295CE0}"/>
              </a:ext>
            </a:extLst>
          </p:cNvPr>
          <p:cNvSpPr txBox="1">
            <a:spLocks/>
          </p:cNvSpPr>
          <p:nvPr>
            <p:custDataLst>
              <p:tags r:id="rId7"/>
            </p:custDataLst>
          </p:nvPr>
        </p:nvSpPr>
        <p:spPr>
          <a:xfrm>
            <a:off x="3289300" y="1905000"/>
            <a:ext cx="274320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800" b="1" i="0" u="none" strike="noStrike" kern="1200" cap="none" spc="0" normalizeH="0" baseline="0" noProof="1">
                <a:ln>
                  <a:noFill/>
                </a:ln>
                <a:solidFill>
                  <a:schemeClr val="accent1"/>
                </a:solidFill>
                <a:effectLst/>
                <a:uLnTx/>
                <a:uFillTx/>
                <a:ea typeface="+mn-ea"/>
                <a:cs typeface="Arial" panose="020B0604020202020204" pitchFamily="34" charset="0"/>
              </a:rPr>
              <a:t>Centralized Identity Management</a:t>
            </a:r>
          </a:p>
        </p:txBody>
      </p:sp>
      <p:sp>
        <p:nvSpPr>
          <p:cNvPr id="30" name="Content Placeholder 11">
            <a:extLst>
              <a:ext uri="{FF2B5EF4-FFF2-40B4-BE49-F238E27FC236}">
                <a16:creationId xmlns:a16="http://schemas.microsoft.com/office/drawing/2014/main" id="{C1470F97-93EE-9309-2A5F-1B1A8FC52F52}"/>
              </a:ext>
            </a:extLst>
          </p:cNvPr>
          <p:cNvSpPr txBox="1">
            <a:spLocks/>
          </p:cNvSpPr>
          <p:nvPr>
            <p:custDataLst>
              <p:tags r:id="rId8"/>
            </p:custDataLst>
          </p:nvPr>
        </p:nvSpPr>
        <p:spPr>
          <a:xfrm>
            <a:off x="6159500" y="2545079"/>
            <a:ext cx="274320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1">
                <a:ln>
                  <a:noFill/>
                </a:ln>
                <a:effectLst/>
                <a:uLnTx/>
                <a:uFillTx/>
                <a:ea typeface="+mn-ea"/>
                <a:cs typeface="Arial" panose="020B0604020202020204" pitchFamily="34" charset="0"/>
              </a:rPr>
              <a:t>A single policy framework in Keycloak governs both OIDC tokens and LDAP groups/attributes, reducing complexity and ensuring consistent access control across diverse authentication methods.</a:t>
            </a:r>
          </a:p>
        </p:txBody>
      </p:sp>
      <p:sp>
        <p:nvSpPr>
          <p:cNvPr id="31" name="Content Placeholder 1">
            <a:extLst>
              <a:ext uri="{FF2B5EF4-FFF2-40B4-BE49-F238E27FC236}">
                <a16:creationId xmlns:a16="http://schemas.microsoft.com/office/drawing/2014/main" id="{085BD51A-085F-5595-832B-6B3E2357DC66}"/>
              </a:ext>
            </a:extLst>
          </p:cNvPr>
          <p:cNvSpPr txBox="1">
            <a:spLocks/>
          </p:cNvSpPr>
          <p:nvPr>
            <p:custDataLst>
              <p:tags r:id="rId9"/>
            </p:custDataLst>
          </p:nvPr>
        </p:nvSpPr>
        <p:spPr>
          <a:xfrm>
            <a:off x="9029700" y="2545079"/>
            <a:ext cx="274320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1">
                <a:ln>
                  <a:noFill/>
                </a:ln>
                <a:effectLst/>
                <a:uLnTx/>
                <a:uFillTx/>
                <a:ea typeface="+mn-ea"/>
                <a:cs typeface="Arial" panose="020B0604020202020204" pitchFamily="34" charset="0"/>
              </a:rPr>
              <a:t>Implementing LDAP alongside OIDC requires synchronization mechanisms such as SCIM or LDAP sync, schema mapping for attribute consistency, and a globally replicated database to support multi-tenant scale.</a:t>
            </a:r>
          </a:p>
        </p:txBody>
      </p:sp>
      <p:sp>
        <p:nvSpPr>
          <p:cNvPr id="32" name="Text Placeholder 14">
            <a:extLst>
              <a:ext uri="{FF2B5EF4-FFF2-40B4-BE49-F238E27FC236}">
                <a16:creationId xmlns:a16="http://schemas.microsoft.com/office/drawing/2014/main" id="{43F85A50-8B47-86E2-1A50-B83C340D47B4}"/>
              </a:ext>
            </a:extLst>
          </p:cNvPr>
          <p:cNvSpPr txBox="1">
            <a:spLocks/>
          </p:cNvSpPr>
          <p:nvPr>
            <p:custDataLst>
              <p:tags r:id="rId10"/>
            </p:custDataLst>
          </p:nvPr>
        </p:nvSpPr>
        <p:spPr>
          <a:xfrm>
            <a:off x="6159500" y="1905000"/>
            <a:ext cx="274320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800" b="1" i="0" u="none" strike="noStrike" kern="1200" cap="none" spc="0" normalizeH="0" baseline="0" noProof="1">
                <a:ln>
                  <a:noFill/>
                </a:ln>
                <a:solidFill>
                  <a:schemeClr val="accent1"/>
                </a:solidFill>
                <a:effectLst/>
                <a:uLnTx/>
                <a:uFillTx/>
                <a:ea typeface="+mn-ea"/>
                <a:cs typeface="Arial" panose="020B0604020202020204" pitchFamily="34" charset="0"/>
              </a:rPr>
              <a:t>Simplified Policy Enforcement</a:t>
            </a:r>
          </a:p>
        </p:txBody>
      </p:sp>
      <p:sp>
        <p:nvSpPr>
          <p:cNvPr id="33" name="Text Placeholder 2">
            <a:extLst>
              <a:ext uri="{FF2B5EF4-FFF2-40B4-BE49-F238E27FC236}">
                <a16:creationId xmlns:a16="http://schemas.microsoft.com/office/drawing/2014/main" id="{2F963484-1FD8-36CE-283B-0918D3A9B962}"/>
              </a:ext>
            </a:extLst>
          </p:cNvPr>
          <p:cNvSpPr txBox="1">
            <a:spLocks/>
          </p:cNvSpPr>
          <p:nvPr>
            <p:custDataLst>
              <p:tags r:id="rId11"/>
            </p:custDataLst>
          </p:nvPr>
        </p:nvSpPr>
        <p:spPr>
          <a:xfrm>
            <a:off x="9029700" y="1905000"/>
            <a:ext cx="274320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800" b="1" i="0" u="none" strike="noStrike" kern="1200" cap="none" spc="0" normalizeH="0" baseline="0" noProof="1">
                <a:ln>
                  <a:noFill/>
                </a:ln>
                <a:solidFill>
                  <a:schemeClr val="accent1"/>
                </a:solidFill>
                <a:effectLst/>
                <a:uLnTx/>
                <a:uFillTx/>
                <a:ea typeface="+mn-ea"/>
                <a:cs typeface="Arial" panose="020B0604020202020204" pitchFamily="34" charset="0"/>
              </a:rPr>
              <a:t>Operational Considerations</a:t>
            </a:r>
          </a:p>
        </p:txBody>
      </p:sp>
    </p:spTree>
    <p:extLst>
      <p:ext uri="{BB962C8B-B14F-4D97-AF65-F5344CB8AC3E}">
        <p14:creationId xmlns:p14="http://schemas.microsoft.com/office/powerpoint/2010/main" val="419484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20490EE-4B50-7583-5CAB-D89A2E2FE958}"/>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419099" y="629392"/>
            <a:ext cx="3581401" cy="5771408"/>
          </a:xfrm>
        </p:spPr>
        <p:txBody>
          <a:bodyPr lIns="0" anchor="t">
            <a:normAutofit/>
          </a:bodyPr>
          <a:lstStyle/>
          <a:p>
            <a:pPr>
              <a:lnSpc>
                <a:spcPct val="90000"/>
              </a:lnSpc>
            </a:pPr>
            <a:r>
              <a:rPr lang="en-US" noProof="1"/>
              <a:t>IDaaS Reference Architecture Overview</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4343399" y="419100"/>
            <a:ext cx="7429501" cy="5981700"/>
          </a:xfrm>
        </p:spPr>
        <p:txBody>
          <a:bodyPr vert="horz" lIns="91440" tIns="45720" rIns="91440" bIns="45720" rtlCol="0" anchor="ctr">
            <a:normAutofit/>
          </a:bodyPr>
          <a:lstStyle/>
          <a:p>
            <a:pPr marL="407988" indent="-284163">
              <a:lnSpc>
                <a:spcPct val="114000"/>
              </a:lnSpc>
              <a:buClr>
                <a:schemeClr val="accent1"/>
              </a:buClr>
            </a:pPr>
            <a:r>
              <a:rPr lang="en-US" sz="1600" noProof="1"/>
              <a:t>Keycloak is the core multi-tenant Identity Provider managing realms, users, and authentication.
Cloudflare Zero Trust provides global edge security, access control, and zero-trust network access (ZTNA).
YugabyteDB serves as a globally replicated SQL database for identities, sessions, and consent data.
OIDC handles modern app authentication with SSO, JWT tokens, and delegated authorization.
LDAP supports legacy apps and UNIX auth via Keycloak federation or LDAP storage provider.</a:t>
            </a:r>
          </a:p>
        </p:txBody>
      </p:sp>
      <p:grpSp>
        <p:nvGrpSpPr>
          <p:cNvPr id="10" name="Group 9">
            <a:extLst>
              <a:ext uri="{FF2B5EF4-FFF2-40B4-BE49-F238E27FC236}">
                <a16:creationId xmlns:a16="http://schemas.microsoft.com/office/drawing/2014/main" id="{700D3A5D-E409-D5C1-E099-26711DE5A961}"/>
              </a:ext>
            </a:extLst>
          </p:cNvPr>
          <p:cNvGrpSpPr/>
          <p:nvPr>
            <p:custDataLst>
              <p:tags r:id="rId4"/>
            </p:custDataLst>
          </p:nvPr>
        </p:nvGrpSpPr>
        <p:grpSpPr>
          <a:xfrm>
            <a:off x="9440602" y="162617"/>
            <a:ext cx="2576145" cy="1301528"/>
            <a:chOff x="5326996" y="628184"/>
            <a:chExt cx="2576145" cy="1301528"/>
          </a:xfrm>
        </p:grpSpPr>
        <p:sp>
          <p:nvSpPr>
            <p:cNvPr id="11" name="Rounded Rectangle 10">
              <a:extLst>
                <a:ext uri="{FF2B5EF4-FFF2-40B4-BE49-F238E27FC236}">
                  <a16:creationId xmlns:a16="http://schemas.microsoft.com/office/drawing/2014/main" id="{8CEED4D5-D4FC-3368-8135-966759AF4C60}"/>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2" name="Graphic 11">
              <a:extLst>
                <a:ext uri="{FF2B5EF4-FFF2-40B4-BE49-F238E27FC236}">
                  <a16:creationId xmlns:a16="http://schemas.microsoft.com/office/drawing/2014/main" id="{9747DA84-B293-F5A1-8676-B6376F53D5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40548" y="734271"/>
              <a:ext cx="219238" cy="219238"/>
            </a:xfrm>
            <a:prstGeom prst="rect">
              <a:avLst/>
            </a:prstGeom>
          </p:spPr>
        </p:pic>
        <p:sp>
          <p:nvSpPr>
            <p:cNvPr id="13" name="Freeform 12">
              <a:extLst>
                <a:ext uri="{FF2B5EF4-FFF2-40B4-BE49-F238E27FC236}">
                  <a16:creationId xmlns:a16="http://schemas.microsoft.com/office/drawing/2014/main" id="{20240504-3465-429B-1D15-4506B317999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4" name="TextBox 13">
            <a:extLst>
              <a:ext uri="{FF2B5EF4-FFF2-40B4-BE49-F238E27FC236}">
                <a16:creationId xmlns:a16="http://schemas.microsoft.com/office/drawing/2014/main" id="{FE84978B-98C8-7A5F-8541-25CB3DBD435A}"/>
              </a:ext>
            </a:extLst>
          </p:cNvPr>
          <p:cNvSpPr txBox="1"/>
          <p:nvPr>
            <p:custDataLst>
              <p:tags r:id="rId5"/>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Add specific examples of your organization's regional deployments and identity protocols to make the architecture more relatable to your engineering team.</a:t>
            </a:r>
          </a:p>
        </p:txBody>
      </p:sp>
      <p:sp>
        <p:nvSpPr>
          <p:cNvPr id="5" name="TextBox 4">
            <a:extLst>
              <a:ext uri="{FF2B5EF4-FFF2-40B4-BE49-F238E27FC236}">
                <a16:creationId xmlns:a16="http://schemas.microsoft.com/office/drawing/2014/main" id="{343D758A-379D-3839-15DB-554B84577D0A}"/>
              </a:ext>
            </a:extLst>
          </p:cNvPr>
          <p:cNvSpPr txBox="1"/>
          <p:nvPr>
            <p:custDataLst>
              <p:tags r:id="rId6"/>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Architecture</a:t>
            </a:r>
          </a:p>
        </p:txBody>
      </p:sp>
      <p:sp>
        <p:nvSpPr>
          <p:cNvPr id="7" name="Rectangle 6">
            <a:extLst>
              <a:ext uri="{FF2B5EF4-FFF2-40B4-BE49-F238E27FC236}">
                <a16:creationId xmlns:a16="http://schemas.microsoft.com/office/drawing/2014/main" id="{E8980B1E-BBA0-DBA3-3985-119902D60EE2}"/>
              </a:ext>
            </a:extLst>
          </p:cNvPr>
          <p:cNvSpPr/>
          <p:nvPr>
            <p:custDataLst>
              <p:tags r:id="rId7"/>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07420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1DDF8FE-2311-8FBF-F78E-6FD50FB94EA7}"/>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Architecture</a:t>
            </a:r>
          </a:p>
        </p:txBody>
      </p:sp>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2"/>
            </p:custDataLst>
          </p:nvPr>
        </p:nvSpPr>
        <p:spPr/>
        <p:txBody>
          <a:bodyPr lIns="0"/>
          <a:lstStyle/>
          <a:p>
            <a:r>
              <a:rPr lang="en-US" noProof="1"/>
              <a:t>IDaaS Architecture Diagram</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4294967295"/>
            <p:custDataLst>
              <p:tags r:id="rId3"/>
            </p:custDataLst>
          </p:nvPr>
        </p:nvSpPr>
        <p:spPr>
          <a:xfrm>
            <a:off x="419100" y="4644574"/>
            <a:ext cx="5600700" cy="365760"/>
          </a:xfrm>
        </p:spPr>
        <p:txBody>
          <a:bodyPr vert="horz" lIns="0" tIns="45720" rIns="91440" bIns="45720" rtlCol="0" anchor="t">
            <a:normAutofit/>
          </a:bodyPr>
          <a:lstStyle/>
          <a:p>
            <a:pPr marL="0" indent="0">
              <a:lnSpc>
                <a:spcPct val="100000"/>
              </a:lnSpc>
              <a:buNone/>
            </a:pPr>
            <a:r>
              <a:rPr lang="en-US" b="1" noProof="1">
                <a:solidFill>
                  <a:schemeClr val="accent1"/>
                </a:solidFill>
                <a:latin typeface="+mj-lt"/>
              </a:rPr>
              <a:t>Global Edge &amp; Multi-Region Kubernetes</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sz="half" idx="4294967295"/>
            <p:custDataLst>
              <p:tags r:id="rId4"/>
            </p:custDataLst>
          </p:nvPr>
        </p:nvSpPr>
        <p:spPr>
          <a:xfrm>
            <a:off x="419100" y="5015061"/>
            <a:ext cx="5600700" cy="1283876"/>
          </a:xfrm>
        </p:spPr>
        <p:txBody>
          <a:bodyPr vert="horz" lIns="0" tIns="60960" rIns="91440" bIns="60960" rtlCol="0">
            <a:normAutofit/>
          </a:bodyPr>
          <a:lstStyle/>
          <a:p>
            <a:pPr marL="11113" indent="0">
              <a:lnSpc>
                <a:spcPct val="114000"/>
              </a:lnSpc>
              <a:spcBef>
                <a:spcPts val="1000"/>
              </a:spcBef>
              <a:buNone/>
            </a:pPr>
            <a:r>
              <a:rPr lang="en-US" sz="1400" noProof="1"/>
              <a:t>Cloudflare Zero Trust provides global edge security and Anycast DNS/LB routes traffic to regional Kubernetes clusters running Keycloak for tenant-scoped identity management and API gateways for ingress.</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sz="quarter" idx="4294967295"/>
            <p:custDataLst>
              <p:tags r:id="rId5"/>
            </p:custDataLst>
          </p:nvPr>
        </p:nvSpPr>
        <p:spPr>
          <a:xfrm>
            <a:off x="6172199" y="4644574"/>
            <a:ext cx="5600700" cy="365760"/>
          </a:xfrm>
        </p:spPr>
        <p:txBody>
          <a:bodyPr vert="horz" lIns="0" tIns="45720" rIns="91440" bIns="45720" rtlCol="0" anchor="t">
            <a:normAutofit/>
          </a:bodyPr>
          <a:lstStyle/>
          <a:p>
            <a:pPr marL="0" indent="0">
              <a:lnSpc>
                <a:spcPct val="100000"/>
              </a:lnSpc>
              <a:buNone/>
            </a:pPr>
            <a:r>
              <a:rPr lang="en-US" b="1" noProof="1">
                <a:solidFill>
                  <a:schemeClr val="accent1"/>
                </a:solidFill>
                <a:latin typeface="+mj-lt"/>
              </a:rPr>
              <a:t>Core Services &amp; Directory Integration</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quarter" idx="4294967295"/>
            <p:custDataLst>
              <p:tags r:id="rId6"/>
            </p:custDataLst>
          </p:nvPr>
        </p:nvSpPr>
        <p:spPr>
          <a:xfrm>
            <a:off x="6172199" y="5015061"/>
            <a:ext cx="5600700" cy="1283876"/>
          </a:xfrm>
        </p:spPr>
        <p:txBody>
          <a:bodyPr vert="horz" lIns="0" tIns="60960" rIns="91440" bIns="60960" rtlCol="0">
            <a:normAutofit/>
          </a:bodyPr>
          <a:lstStyle/>
          <a:p>
            <a:pPr marL="11113" indent="0">
              <a:lnSpc>
                <a:spcPct val="114000"/>
              </a:lnSpc>
              <a:spcBef>
                <a:spcPts val="1000"/>
              </a:spcBef>
              <a:buNone/>
            </a:pPr>
            <a:r>
              <a:rPr lang="en-US" sz="1400" noProof="1"/>
              <a:t>Keycloak clusters connect to a globally replicated YugabyteDB for identity data, integrate with LDAP for legacy directory support, and use SCIM for provisioning to SaaS apps, secured with HSM-backed keys and fine-grained authorization.</a:t>
            </a:r>
          </a:p>
        </p:txBody>
      </p:sp>
      <p:pic>
        <p:nvPicPr>
          <p:cNvPr id="7" name="Picture Placeholder 9">
            <a:extLst>
              <a:ext uri="{FF2B5EF4-FFF2-40B4-BE49-F238E27FC236}">
                <a16:creationId xmlns:a16="http://schemas.microsoft.com/office/drawing/2014/main" id="{229F79EC-D0B2-7964-E312-BF60C4AB9362}"/>
              </a:ext>
            </a:extLst>
          </p:cNvPr>
          <p:cNvPicPr>
            <a:picLocks noChangeAspect="1"/>
          </p:cNvPicPr>
          <p:nvPr>
            <p:custDataLst>
              <p:tags r:id="rId7"/>
            </p:custDataLst>
          </p:nvPr>
        </p:nvPicPr>
        <p:blipFill rotWithShape="1">
          <a:blip r:embed="rId13" cstate="screen">
            <a:extLst>
              <a:ext uri="{28A0092B-C50C-407E-A947-70E740481C1C}">
                <a14:useLocalDpi xmlns:a14="http://schemas.microsoft.com/office/drawing/2010/main"/>
              </a:ext>
            </a:extLst>
          </a:blip>
          <a:srcRect t="9102" b="9102"/>
          <a:stretch/>
        </p:blipFill>
        <p:spPr>
          <a:xfrm>
            <a:off x="419100" y="1485900"/>
            <a:ext cx="5600700" cy="3054044"/>
          </a:xfrm>
          <a:prstGeom prst="roundRect">
            <a:avLst>
              <a:gd name="adj" fmla="val 1421"/>
            </a:avLst>
          </a:prstGeom>
        </p:spPr>
      </p:pic>
      <p:pic>
        <p:nvPicPr>
          <p:cNvPr id="8" name="Picture Placeholder 11">
            <a:extLst>
              <a:ext uri="{FF2B5EF4-FFF2-40B4-BE49-F238E27FC236}">
                <a16:creationId xmlns:a16="http://schemas.microsoft.com/office/drawing/2014/main" id="{77F3AAC0-1520-3E85-10B3-28D8A1F894C9}"/>
              </a:ext>
            </a:extLst>
          </p:cNvPr>
          <p:cNvPicPr>
            <a:picLocks/>
          </p:cNvPicPr>
          <p:nvPr>
            <p:custDataLst>
              <p:tags r:id="rId8"/>
            </p:custDataLst>
          </p:nvPr>
        </p:nvPicPr>
        <p:blipFill rotWithShape="1">
          <a:blip r:embed="rId14" cstate="screen">
            <a:extLst>
              <a:ext uri="{28A0092B-C50C-407E-A947-70E740481C1C}">
                <a14:useLocalDpi xmlns:a14="http://schemas.microsoft.com/office/drawing/2010/main"/>
              </a:ext>
            </a:extLst>
          </a:blip>
          <a:srcRect t="9102" b="9102"/>
          <a:stretch/>
        </p:blipFill>
        <p:spPr>
          <a:xfrm>
            <a:off x="6172200" y="1485900"/>
            <a:ext cx="5600700" cy="3054044"/>
          </a:xfrm>
          <a:prstGeom prst="roundRect">
            <a:avLst>
              <a:gd name="adj" fmla="val 1421"/>
            </a:avLst>
          </a:prstGeom>
        </p:spPr>
      </p:pic>
      <p:sp>
        <p:nvSpPr>
          <p:cNvPr id="9" name="Rectangle 8">
            <a:extLst>
              <a:ext uri="{FF2B5EF4-FFF2-40B4-BE49-F238E27FC236}">
                <a16:creationId xmlns:a16="http://schemas.microsoft.com/office/drawing/2014/main" id="{BE2E756F-952E-165D-4A8B-4740E522EA97}"/>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grpSp>
        <p:nvGrpSpPr>
          <p:cNvPr id="20" name="Group 19">
            <a:extLst>
              <a:ext uri="{FF2B5EF4-FFF2-40B4-BE49-F238E27FC236}">
                <a16:creationId xmlns:a16="http://schemas.microsoft.com/office/drawing/2014/main" id="{4B13A2EC-AF97-7F7D-5E96-D5B8F83C3763}"/>
              </a:ext>
            </a:extLst>
          </p:cNvPr>
          <p:cNvGrpSpPr/>
          <p:nvPr>
            <p:custDataLst>
              <p:tags r:id="rId10"/>
            </p:custDataLst>
          </p:nvPr>
        </p:nvGrpSpPr>
        <p:grpSpPr>
          <a:xfrm>
            <a:off x="9440602" y="162617"/>
            <a:ext cx="2576145" cy="1301528"/>
            <a:chOff x="5326996" y="628184"/>
            <a:chExt cx="2576145" cy="1301528"/>
          </a:xfrm>
        </p:grpSpPr>
        <p:sp>
          <p:nvSpPr>
            <p:cNvPr id="21" name="Rounded Rectangle 20">
              <a:extLst>
                <a:ext uri="{FF2B5EF4-FFF2-40B4-BE49-F238E27FC236}">
                  <a16:creationId xmlns:a16="http://schemas.microsoft.com/office/drawing/2014/main" id="{2E1ED2FE-5E98-7E97-FDAA-D6A5129D6213}"/>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22" name="Graphic 21">
              <a:extLst>
                <a:ext uri="{FF2B5EF4-FFF2-40B4-BE49-F238E27FC236}">
                  <a16:creationId xmlns:a16="http://schemas.microsoft.com/office/drawing/2014/main" id="{12007BEF-58A1-3423-8718-CBA6717E86A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40548" y="734271"/>
              <a:ext cx="219238" cy="219238"/>
            </a:xfrm>
            <a:prstGeom prst="rect">
              <a:avLst/>
            </a:prstGeom>
          </p:spPr>
        </p:pic>
        <p:sp>
          <p:nvSpPr>
            <p:cNvPr id="23" name="Freeform 22">
              <a:extLst>
                <a:ext uri="{FF2B5EF4-FFF2-40B4-BE49-F238E27FC236}">
                  <a16:creationId xmlns:a16="http://schemas.microsoft.com/office/drawing/2014/main" id="{8612DF95-BAC3-2D09-CEFF-B4A164E1E09B}"/>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24" name="TextBox 23">
            <a:extLst>
              <a:ext uri="{FF2B5EF4-FFF2-40B4-BE49-F238E27FC236}">
                <a16:creationId xmlns:a16="http://schemas.microsoft.com/office/drawing/2014/main" id="{0B077681-8C13-A9F8-E3F6-9B1959F18738}"/>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Use this slide to visually explain the comprehensive IDaaS architecture, emphasizing the integration of modern identity protocols and legacy directory support across global infrastructure.</a:t>
            </a:r>
          </a:p>
        </p:txBody>
      </p:sp>
    </p:spTree>
    <p:extLst>
      <p:ext uri="{BB962C8B-B14F-4D97-AF65-F5344CB8AC3E}">
        <p14:creationId xmlns:p14="http://schemas.microsoft.com/office/powerpoint/2010/main" val="1103696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p:txBody>
          <a:bodyPr lIns="0"/>
          <a:lstStyle/>
          <a:p>
            <a:r>
              <a:rPr lang="en-US" noProof="1"/>
              <a:t>OIDC and SAML Authentication Path</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2"/>
            </p:custDataLst>
          </p:nvPr>
        </p:nvSpPr>
        <p:spPr>
          <a:xfrm>
            <a:off x="419099" y="1485900"/>
            <a:ext cx="5600700" cy="640080"/>
          </a:xfrm>
        </p:spPr>
        <p:txBody>
          <a:bodyPr vert="horz" lIns="0" tIns="45720" rIns="91440" bIns="45720" rtlCol="0">
            <a:normAutofit/>
          </a:bodyPr>
          <a:lstStyle/>
          <a:p>
            <a:pPr marL="11111" indent="0">
              <a:buNone/>
            </a:pPr>
            <a:r>
              <a:rPr lang="en-US" sz="2000" b="1" noProof="1">
                <a:solidFill>
                  <a:schemeClr val="accent1"/>
                </a:solidFill>
                <a:latin typeface="+mj-lt"/>
              </a:rPr>
              <a:t>OIDC Authentication Flow</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4294967295"/>
            <p:custDataLst>
              <p:tags r:id="rId3"/>
            </p:custDataLst>
          </p:nvPr>
        </p:nvSpPr>
        <p:spPr>
          <a:xfrm>
            <a:off x="419099" y="2171700"/>
            <a:ext cx="5600700" cy="4121150"/>
          </a:xfrm>
        </p:spPr>
        <p:txBody>
          <a:bodyPr vert="horz" lIns="0" tIns="45720" rIns="91440" bIns="45720" rtlCol="0" anchor="t">
            <a:normAutofit/>
          </a:bodyPr>
          <a:lstStyle/>
          <a:p>
            <a:pPr marL="407988" indent="-284163">
              <a:lnSpc>
                <a:spcPct val="114000"/>
              </a:lnSpc>
              <a:buClr>
                <a:schemeClr val="accent1"/>
              </a:buClr>
            </a:pPr>
            <a:r>
              <a:rPr lang="en-US" noProof="1"/>
              <a:t>Modern web, mobile, and SPA apps use OpenID Connect (OIDC) for single sign-on (SSO).
Clients redirect users to Keycloak for authentication within tenant-specific realms.
Keycloak issues JWT tokens (ID, Access, Refresh) after successful login and MFA.
API gateways validate tokens before granting app access, enforcing scopes and claims.
Cloudflare Zero Trust enforces access policies and device posture before allowing entry.</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4"/>
            </p:custDataLst>
          </p:nvPr>
        </p:nvSpPr>
        <p:spPr>
          <a:xfrm>
            <a:off x="6172202" y="1485900"/>
            <a:ext cx="5600700" cy="640080"/>
          </a:xfrm>
        </p:spPr>
        <p:txBody>
          <a:bodyPr vert="horz" lIns="0" tIns="45720" rIns="91440" bIns="45720" rtlCol="0">
            <a:normAutofit/>
          </a:bodyPr>
          <a:lstStyle/>
          <a:p>
            <a:pPr marL="11111" indent="0">
              <a:buNone/>
            </a:pPr>
            <a:r>
              <a:rPr lang="en-US" sz="2000" b="1" noProof="1">
                <a:solidFill>
                  <a:schemeClr val="accent1"/>
                </a:solidFill>
                <a:latin typeface="+mj-lt"/>
              </a:rPr>
              <a:t>SAML Authentication Flow</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5"/>
            </p:custDataLst>
          </p:nvPr>
        </p:nvSpPr>
        <p:spPr>
          <a:xfrm>
            <a:off x="6172201" y="2171882"/>
            <a:ext cx="5600699" cy="4117794"/>
          </a:xfrm>
        </p:spPr>
        <p:txBody>
          <a:bodyPr vert="horz" lIns="0" tIns="45720" rIns="91440" bIns="45720" rtlCol="0" anchor="t">
            <a:normAutofit/>
          </a:bodyPr>
          <a:lstStyle/>
          <a:p>
            <a:pPr marL="407988" indent="-284163">
              <a:lnSpc>
                <a:spcPct val="114000"/>
              </a:lnSpc>
              <a:buClr>
                <a:schemeClr val="accent1"/>
              </a:buClr>
            </a:pPr>
            <a:r>
              <a:rPr lang="en-US" noProof="1"/>
              <a:t>Legacy or enterprise applications often use SAML for federated authentication.
SAML requests are routed to Keycloak through API gateways acting as service providers.
Keycloak acts as Identity Provider (IdP), authenticates users and issues SAML assertions.
App gateways validate SAML assertions to establish user sessions securely.
Cloudflare Zero Trust integrates with SAML flows to enforce security and access policies.</a:t>
            </a:r>
          </a:p>
        </p:txBody>
      </p:sp>
      <p:sp>
        <p:nvSpPr>
          <p:cNvPr id="5" name="Rectangle 4">
            <a:extLst>
              <a:ext uri="{FF2B5EF4-FFF2-40B4-BE49-F238E27FC236}">
                <a16:creationId xmlns:a16="http://schemas.microsoft.com/office/drawing/2014/main" id="{054A1649-838B-F2D3-A35B-7C6DB8137E70}"/>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10" name="Group 9">
            <a:extLst>
              <a:ext uri="{FF2B5EF4-FFF2-40B4-BE49-F238E27FC236}">
                <a16:creationId xmlns:a16="http://schemas.microsoft.com/office/drawing/2014/main" id="{F5471F1B-E458-1A03-4AC8-CBAF6EBD592E}"/>
              </a:ext>
            </a:extLst>
          </p:cNvPr>
          <p:cNvGrpSpPr/>
          <p:nvPr>
            <p:custDataLst>
              <p:tags r:id="rId7"/>
            </p:custDataLst>
          </p:nvPr>
        </p:nvGrpSpPr>
        <p:grpSpPr>
          <a:xfrm>
            <a:off x="9440602" y="162617"/>
            <a:ext cx="2576145" cy="1301528"/>
            <a:chOff x="5326996" y="628184"/>
            <a:chExt cx="2576145" cy="1301528"/>
          </a:xfrm>
        </p:grpSpPr>
        <p:sp>
          <p:nvSpPr>
            <p:cNvPr id="11" name="Rounded Rectangle 10">
              <a:extLst>
                <a:ext uri="{FF2B5EF4-FFF2-40B4-BE49-F238E27FC236}">
                  <a16:creationId xmlns:a16="http://schemas.microsoft.com/office/drawing/2014/main" id="{7768745A-2933-F4CF-B4E4-CF4CF3FB9E23}"/>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2" name="Graphic 11">
              <a:extLst>
                <a:ext uri="{FF2B5EF4-FFF2-40B4-BE49-F238E27FC236}">
                  <a16:creationId xmlns:a16="http://schemas.microsoft.com/office/drawing/2014/main" id="{09243A0B-9EF8-7AD6-A111-76078227E79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FDFB52A7-C8F6-78D1-8CE4-83A5BAB4CB27}"/>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9" name="TextBox 18">
            <a:extLst>
              <a:ext uri="{FF2B5EF4-FFF2-40B4-BE49-F238E27FC236}">
                <a16:creationId xmlns:a16="http://schemas.microsoft.com/office/drawing/2014/main" id="{DFCC771B-5C27-7ECE-7C1B-779976A67ED2}"/>
              </a:ext>
            </a:extLst>
          </p:cNvPr>
          <p:cNvSpPr txBox="1"/>
          <p:nvPr>
            <p:custDataLst>
              <p:tags r:id="rId8"/>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Customize this slide by adding specific examples of applications or services your team will integrate using OIDC or SAML to make it more relevant.</a:t>
            </a:r>
          </a:p>
        </p:txBody>
      </p:sp>
      <p:sp>
        <p:nvSpPr>
          <p:cNvPr id="6" name="TextBox 5">
            <a:extLst>
              <a:ext uri="{FF2B5EF4-FFF2-40B4-BE49-F238E27FC236}">
                <a16:creationId xmlns:a16="http://schemas.microsoft.com/office/drawing/2014/main" id="{D90B9BA6-3C2D-AC93-3A48-4724EE100410}"/>
              </a:ext>
            </a:extLst>
          </p:cNvPr>
          <p:cNvSpPr txBox="1"/>
          <p:nvPr>
            <p:custDataLst>
              <p:tags r:id="rId9"/>
            </p:custDataLst>
          </p:nvPr>
        </p:nvSpPr>
        <p:spPr>
          <a:xfrm>
            <a:off x="419100" y="250788"/>
            <a:ext cx="3581400" cy="414150"/>
          </a:xfrm>
          <a:prstGeom prst="rect">
            <a:avLst/>
          </a:prstGeom>
          <a:noFill/>
        </p:spPr>
        <p:txBody>
          <a:bodyPr wrap="square" lIns="0">
            <a:spAutoFit/>
          </a:bodyPr>
          <a:lstStyle/>
          <a:p>
            <a:r>
              <a:rPr lang="en-US" sz="1400" noProof="1">
                <a:solidFill>
                  <a:schemeClr val="tx2"/>
                </a:solidFill>
              </a:rPr>
              <a:t>Authentication</a:t>
            </a:r>
          </a:p>
        </p:txBody>
      </p:sp>
    </p:spTree>
    <p:extLst>
      <p:ext uri="{BB962C8B-B14F-4D97-AF65-F5344CB8AC3E}">
        <p14:creationId xmlns:p14="http://schemas.microsoft.com/office/powerpoint/2010/main" val="1391649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p:txBody>
          <a:bodyPr lIns="0"/>
          <a:lstStyle/>
          <a:p>
            <a:r>
              <a:rPr lang="en-US" noProof="1"/>
              <a:t>ZTNA Access Model</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2"/>
            </p:custDataLst>
          </p:nvPr>
        </p:nvSpPr>
        <p:spPr>
          <a:xfrm>
            <a:off x="419097" y="1886011"/>
            <a:ext cx="5600700" cy="548640"/>
          </a:xfrm>
        </p:spPr>
        <p:txBody>
          <a:bodyPr lIns="0" anchor="ctr">
            <a:normAutofit/>
          </a:bodyPr>
          <a:lstStyle/>
          <a:p>
            <a:pPr marL="11111" indent="0">
              <a:lnSpc>
                <a:spcPct val="100000"/>
              </a:lnSpc>
              <a:buNone/>
            </a:pPr>
            <a:r>
              <a:rPr lang="en-US" sz="2000" b="1" noProof="1">
                <a:latin typeface="+mj-lt"/>
              </a:rPr>
              <a:t>Cloudflare Access Role</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4294967295"/>
            <p:custDataLst>
              <p:tags r:id="rId3"/>
            </p:custDataLst>
          </p:nvPr>
        </p:nvSpPr>
        <p:spPr>
          <a:xfrm>
            <a:off x="419098" y="2425700"/>
            <a:ext cx="5600700" cy="3848100"/>
          </a:xfrm>
        </p:spPr>
        <p:txBody>
          <a:bodyPr vert="horz" lIns="0" tIns="45720" rIns="91440" bIns="45720" rtlCol="0" anchor="t">
            <a:normAutofit/>
          </a:bodyPr>
          <a:lstStyle/>
          <a:p>
            <a:pPr marL="407988" indent="-284163">
              <a:lnSpc>
                <a:spcPct val="114000"/>
              </a:lnSpc>
              <a:buClr>
                <a:schemeClr val="accent1"/>
              </a:buClr>
            </a:pPr>
            <a:r>
              <a:rPr lang="en-US" noProof="1"/>
              <a:t>Enforces user identity and device posture policies before granting access.
Replaces traditional VPN with identity-aware, zero-trust network access.
Integrates WAF and DDoS protection at the global edge for secure access.
Routes traffic through Cloudflare’s global Anycast network for performance and reliability.</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4"/>
            </p:custDataLst>
          </p:nvPr>
        </p:nvSpPr>
        <p:spPr>
          <a:xfrm>
            <a:off x="6172201" y="1886011"/>
            <a:ext cx="5600700" cy="548640"/>
          </a:xfrm>
        </p:spPr>
        <p:txBody>
          <a:bodyPr lIns="0" anchor="ctr">
            <a:normAutofit/>
          </a:bodyPr>
          <a:lstStyle/>
          <a:p>
            <a:pPr marL="11111" indent="0">
              <a:lnSpc>
                <a:spcPct val="100000"/>
              </a:lnSpc>
              <a:buNone/>
            </a:pPr>
            <a:r>
              <a:rPr lang="en-US" sz="2000" b="1" noProof="1">
                <a:latin typeface="+mj-lt"/>
              </a:rPr>
              <a:t>Keycloak as Identity Provider</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5"/>
            </p:custDataLst>
          </p:nvPr>
        </p:nvSpPr>
        <p:spPr>
          <a:xfrm>
            <a:off x="6172201" y="2425700"/>
            <a:ext cx="5600699" cy="3848100"/>
          </a:xfrm>
        </p:spPr>
        <p:txBody>
          <a:bodyPr vert="horz" lIns="0" tIns="45720" rIns="91440" bIns="45720" rtlCol="0" anchor="t">
            <a:normAutofit/>
          </a:bodyPr>
          <a:lstStyle/>
          <a:p>
            <a:pPr marL="407988" indent="-284163">
              <a:lnSpc>
                <a:spcPct val="114000"/>
              </a:lnSpc>
              <a:buClr>
                <a:schemeClr val="accent1"/>
              </a:buClr>
            </a:pPr>
            <a:r>
              <a:rPr lang="en-US" noProof="1"/>
              <a:t>Provides tenant-specific realms for multi-tenant identity management.
Handles authentication with OIDC, supporting MFA and WebAuthn.
Issues tokens that represent user identity and access rights.
Enables seamless integration with Cloudflare Access for policy enforcement.</a:t>
            </a:r>
          </a:p>
        </p:txBody>
      </p:sp>
      <p:sp>
        <p:nvSpPr>
          <p:cNvPr id="9" name="Rectangle 8">
            <a:extLst>
              <a:ext uri="{FF2B5EF4-FFF2-40B4-BE49-F238E27FC236}">
                <a16:creationId xmlns:a16="http://schemas.microsoft.com/office/drawing/2014/main" id="{5C9B4219-52FB-9E5E-4BA5-21DD097D59D4}"/>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15" name="Group 14">
            <a:extLst>
              <a:ext uri="{FF2B5EF4-FFF2-40B4-BE49-F238E27FC236}">
                <a16:creationId xmlns:a16="http://schemas.microsoft.com/office/drawing/2014/main" id="{5B961B33-0161-38F9-FCAC-CFBED24BA41A}"/>
              </a:ext>
            </a:extLst>
          </p:cNvPr>
          <p:cNvGrpSpPr/>
          <p:nvPr>
            <p:custDataLst>
              <p:tags r:id="rId7"/>
            </p:custDataLst>
          </p:nvPr>
        </p:nvGrpSpPr>
        <p:grpSpPr>
          <a:xfrm>
            <a:off x="9440602" y="162617"/>
            <a:ext cx="2576145" cy="1301528"/>
            <a:chOff x="5326996" y="628184"/>
            <a:chExt cx="2576145" cy="1301528"/>
          </a:xfrm>
        </p:grpSpPr>
        <p:sp>
          <p:nvSpPr>
            <p:cNvPr id="16" name="Rounded Rectangle 15">
              <a:extLst>
                <a:ext uri="{FF2B5EF4-FFF2-40B4-BE49-F238E27FC236}">
                  <a16:creationId xmlns:a16="http://schemas.microsoft.com/office/drawing/2014/main" id="{70467CA2-846D-3284-8F41-B19FEAF7DF9B}"/>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7" name="Graphic 16">
              <a:extLst>
                <a:ext uri="{FF2B5EF4-FFF2-40B4-BE49-F238E27FC236}">
                  <a16:creationId xmlns:a16="http://schemas.microsoft.com/office/drawing/2014/main" id="{1C025F06-46C1-4B07-F403-64796432F6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C14A4AFB-DB88-0DDB-B74B-46B2D61E5547}"/>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9" name="TextBox 18">
            <a:extLst>
              <a:ext uri="{FF2B5EF4-FFF2-40B4-BE49-F238E27FC236}">
                <a16:creationId xmlns:a16="http://schemas.microsoft.com/office/drawing/2014/main" id="{4620A8C4-95CA-DDDA-AE78-6DD61264149F}"/>
              </a:ext>
            </a:extLst>
          </p:cNvPr>
          <p:cNvSpPr txBox="1"/>
          <p:nvPr>
            <p:custDataLst>
              <p:tags r:id="rId8"/>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Customize this slide by highlighting specific device posture checks your organization enforces through Cloudflare Access for enhanced security.</a:t>
            </a:r>
          </a:p>
        </p:txBody>
      </p:sp>
      <p:sp>
        <p:nvSpPr>
          <p:cNvPr id="10" name="TextBox 9">
            <a:extLst>
              <a:ext uri="{FF2B5EF4-FFF2-40B4-BE49-F238E27FC236}">
                <a16:creationId xmlns:a16="http://schemas.microsoft.com/office/drawing/2014/main" id="{E81F9835-5037-CA81-CFC2-990E765B5847}"/>
              </a:ext>
            </a:extLst>
          </p:cNvPr>
          <p:cNvSpPr txBox="1"/>
          <p:nvPr>
            <p:custDataLst>
              <p:tags r:id="rId9"/>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ZTNA</a:t>
            </a:r>
          </a:p>
        </p:txBody>
      </p:sp>
      <p:sp>
        <p:nvSpPr>
          <p:cNvPr id="11" name="TextBox 10">
            <a:extLst>
              <a:ext uri="{FF2B5EF4-FFF2-40B4-BE49-F238E27FC236}">
                <a16:creationId xmlns:a16="http://schemas.microsoft.com/office/drawing/2014/main" id="{3E1D510F-4795-A7E4-5248-292427F46B62}"/>
              </a:ext>
            </a:extLst>
          </p:cNvPr>
          <p:cNvSpPr txBox="1"/>
          <p:nvPr/>
        </p:nvSpPr>
        <p:spPr>
          <a:xfrm>
            <a:off x="419096" y="1485900"/>
            <a:ext cx="842353" cy="369332"/>
          </a:xfrm>
          <a:prstGeom prst="rect">
            <a:avLst/>
          </a:prstGeom>
          <a:noFill/>
        </p:spPr>
        <p:txBody>
          <a:bodyPr wrap="square" lIns="0" rtlCol="0">
            <a:spAutoFit/>
          </a:bodyPr>
          <a:lstStyle/>
          <a:p>
            <a:r>
              <a:rPr lang="en-US" b="1" noProof="1">
                <a:solidFill>
                  <a:schemeClr val="accent1"/>
                </a:solidFill>
              </a:rPr>
              <a:t>01</a:t>
            </a:r>
          </a:p>
        </p:txBody>
      </p:sp>
      <p:sp>
        <p:nvSpPr>
          <p:cNvPr id="12" name="TextBox 11">
            <a:extLst>
              <a:ext uri="{FF2B5EF4-FFF2-40B4-BE49-F238E27FC236}">
                <a16:creationId xmlns:a16="http://schemas.microsoft.com/office/drawing/2014/main" id="{AC14B40C-92A8-CC3A-82F0-EA3582D882AE}"/>
              </a:ext>
            </a:extLst>
          </p:cNvPr>
          <p:cNvSpPr txBox="1"/>
          <p:nvPr/>
        </p:nvSpPr>
        <p:spPr>
          <a:xfrm>
            <a:off x="6172200" y="1485900"/>
            <a:ext cx="823784" cy="369332"/>
          </a:xfrm>
          <a:prstGeom prst="rect">
            <a:avLst/>
          </a:prstGeom>
          <a:noFill/>
        </p:spPr>
        <p:txBody>
          <a:bodyPr wrap="square" lIns="0" rtlCol="0">
            <a:spAutoFit/>
          </a:bodyPr>
          <a:lstStyle/>
          <a:p>
            <a:r>
              <a:rPr lang="en-US" b="1" noProof="1">
                <a:solidFill>
                  <a:schemeClr val="accent1"/>
                </a:solidFill>
              </a:rPr>
              <a:t>02</a:t>
            </a:r>
          </a:p>
        </p:txBody>
      </p:sp>
    </p:spTree>
    <p:extLst>
      <p:ext uri="{BB962C8B-B14F-4D97-AF65-F5344CB8AC3E}">
        <p14:creationId xmlns:p14="http://schemas.microsoft.com/office/powerpoint/2010/main" val="89318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0F66F7-FD75-399E-EAB8-E45E4C17A141}"/>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Integration</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r>
              <a:rPr lang="en-US" noProof="1"/>
              <a:t>LDAP Integration in IDaaS</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419101" y="2545080"/>
            <a:ext cx="3581399" cy="3749040"/>
          </a:xfrm>
        </p:spPr>
        <p:txBody>
          <a:bodyPr lIns="0">
            <a:normAutofit/>
          </a:bodyPr>
          <a:lstStyle/>
          <a:p>
            <a:pPr marL="11113" indent="0">
              <a:lnSpc>
                <a:spcPct val="114000"/>
              </a:lnSpc>
              <a:buNone/>
            </a:pPr>
            <a:r>
              <a:rPr lang="en-US" noProof="1"/>
              <a:t>Legacy applications and infrastructure use LDAP bind authentication for user access, relying on directory protocols to validate credentials and retrieve group memberships, essential for POSIX/Linux logins and traditional enterprise apps.</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4305301" y="2545080"/>
            <a:ext cx="3581399" cy="3749040"/>
          </a:xfrm>
        </p:spPr>
        <p:txBody>
          <a:bodyPr lIns="0">
            <a:normAutofit/>
          </a:bodyPr>
          <a:lstStyle/>
          <a:p>
            <a:pPr marL="11113" indent="0">
              <a:lnSpc>
                <a:spcPct val="114000"/>
              </a:lnSpc>
              <a:buNone/>
            </a:pPr>
            <a:r>
              <a:rPr lang="en-US" noProof="1"/>
              <a:t>Keycloak acts as both an LDAP federation source, syncing identities from external LDAP or Active Directory, and as an LDAP storage provider, exposing its user and group data to legacy clients through LDAP protocol.</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5"/>
            </p:custDataLst>
          </p:nvPr>
        </p:nvSpPr>
        <p:spPr>
          <a:xfrm>
            <a:off x="8191500" y="2545080"/>
            <a:ext cx="3581399" cy="3749040"/>
          </a:xfrm>
        </p:spPr>
        <p:txBody>
          <a:bodyPr lIns="0">
            <a:normAutofit/>
          </a:bodyPr>
          <a:lstStyle/>
          <a:p>
            <a:pPr marL="11113" indent="0">
              <a:lnSpc>
                <a:spcPct val="114000"/>
              </a:lnSpc>
              <a:buNone/>
            </a:pPr>
            <a:r>
              <a:rPr lang="en-US" noProof="1"/>
              <a:t>For multi-tenant environments, LDAP directory trees can be segmented per tenant using distinct organizational units (OUs), allowing tenant isolation and tailored access controls within a shared LDAP infrastructure.</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6"/>
            </p:custDataLst>
          </p:nvPr>
        </p:nvSpPr>
        <p:spPr>
          <a:xfrm>
            <a:off x="419099" y="1905000"/>
            <a:ext cx="3581399" cy="640080"/>
          </a:xfrm>
        </p:spPr>
        <p:txBody>
          <a:bodyPr lIns="0" anchor="t">
            <a:normAutofit/>
          </a:bodyPr>
          <a:lstStyle/>
          <a:p>
            <a:r>
              <a:rPr lang="en-US" sz="1800" noProof="1">
                <a:solidFill>
                  <a:schemeClr val="accent1"/>
                </a:solidFill>
                <a:latin typeface="+mj-lt"/>
              </a:rPr>
              <a:t>Legacy Apps &amp; LDAP Bind</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7"/>
            </p:custDataLst>
          </p:nvPr>
        </p:nvSpPr>
        <p:spPr>
          <a:xfrm>
            <a:off x="4305300" y="1905000"/>
            <a:ext cx="3581399" cy="640080"/>
          </a:xfrm>
        </p:spPr>
        <p:txBody>
          <a:bodyPr lIns="0" anchor="t">
            <a:normAutofit/>
          </a:bodyPr>
          <a:lstStyle/>
          <a:p>
            <a:r>
              <a:rPr lang="en-US" sz="1800" noProof="1">
                <a:solidFill>
                  <a:schemeClr val="accent1"/>
                </a:solidFill>
                <a:latin typeface="+mj-lt"/>
              </a:rPr>
              <a:t>Keycloak’s LDAP Roles</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8"/>
            </p:custDataLst>
          </p:nvPr>
        </p:nvSpPr>
        <p:spPr>
          <a:xfrm>
            <a:off x="8191500" y="1905000"/>
            <a:ext cx="3581399" cy="640080"/>
          </a:xfrm>
        </p:spPr>
        <p:txBody>
          <a:bodyPr lIns="0" anchor="t">
            <a:normAutofit/>
          </a:bodyPr>
          <a:lstStyle/>
          <a:p>
            <a:r>
              <a:rPr lang="en-US" sz="1800" noProof="1">
                <a:solidFill>
                  <a:schemeClr val="accent1"/>
                </a:solidFill>
                <a:latin typeface="+mj-lt"/>
              </a:rPr>
              <a:t>Multi-Tenancy with LDAP Trees</a:t>
            </a:r>
          </a:p>
        </p:txBody>
      </p:sp>
      <p:sp>
        <p:nvSpPr>
          <p:cNvPr id="2" name="Rectangle 1">
            <a:extLst>
              <a:ext uri="{FF2B5EF4-FFF2-40B4-BE49-F238E27FC236}">
                <a16:creationId xmlns:a16="http://schemas.microsoft.com/office/drawing/2014/main" id="{24D452BE-849A-132F-C49B-B04323F71F56}"/>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1855347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59D63B4A-EA6F-9D4F-6A6A-36CF24B67A36}"/>
              </a:ext>
            </a:extLst>
          </p:cNvPr>
          <p:cNvPicPr>
            <a:picLocks noChangeAspect="1"/>
          </p:cNvPicPr>
          <p:nvPr>
            <p:custDataLst>
              <p:tags r:id="rId2"/>
            </p:custDataLst>
          </p:nvPr>
        </p:nvPicPr>
        <p:blipFill rotWithShape="1">
          <a:blip r:embed="rId8" cstate="screen">
            <a:extLst>
              <a:ext uri="{28A0092B-C50C-407E-A947-70E740481C1C}">
                <a14:useLocalDpi xmlns:a14="http://schemas.microsoft.com/office/drawing/2010/main"/>
              </a:ext>
            </a:extLst>
          </a:blip>
          <a:srcRect l="10357" r="10357"/>
          <a:stretch/>
        </p:blipFill>
        <p:spPr>
          <a:xfrm>
            <a:off x="8191500" y="228600"/>
            <a:ext cx="3771900" cy="6400800"/>
          </a:xfrm>
          <a:prstGeom prst="roundRect">
            <a:avLst>
              <a:gd name="adj" fmla="val 2476"/>
            </a:avLst>
          </a:prstGeom>
        </p:spPr>
      </p:pic>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3"/>
            </p:custDataLst>
          </p:nvPr>
        </p:nvSpPr>
        <p:spPr>
          <a:xfrm>
            <a:off x="419100" y="629392"/>
            <a:ext cx="7543800" cy="622300"/>
          </a:xfrm>
        </p:spPr>
        <p:txBody>
          <a:bodyPr lIns="0">
            <a:normAutofit/>
          </a:bodyPr>
          <a:lstStyle/>
          <a:p>
            <a:r>
              <a:rPr lang="en-US" noProof="1"/>
              <a:t>SCIM Provisioning Role</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4294967295"/>
            <p:custDataLst>
              <p:tags r:id="rId4"/>
            </p:custDataLst>
          </p:nvPr>
        </p:nvSpPr>
        <p:spPr>
          <a:xfrm>
            <a:off x="419100" y="1485900"/>
            <a:ext cx="7543800" cy="4673600"/>
          </a:xfrm>
        </p:spPr>
        <p:txBody>
          <a:bodyPr vert="horz" lIns="0" tIns="45720" rIns="91440" bIns="45720" rtlCol="0" anchor="ctr">
            <a:normAutofit/>
          </a:bodyPr>
          <a:lstStyle/>
          <a:p>
            <a:pPr marL="407988" indent="-284163">
              <a:lnSpc>
                <a:spcPct val="114000"/>
              </a:lnSpc>
              <a:buClr>
                <a:schemeClr val="accent1"/>
              </a:buClr>
            </a:pPr>
            <a:r>
              <a:rPr lang="en-US" noProof="1"/>
              <a:t>SCIM (System for Cross-domain Identity Management) standardizes identity provisioning and updates across multiple platforms.
It automates user account creation, modification, and deactivation in downstream SaaS and internal applications.
SCIM ensures roles, groups, and user attributes are consistently synchronized, reducing manual errors and administrative overhead.
By integrating SCIM with Keycloak, identity changes propagate seamlessly, maintaining up-to-date access controls across services.
SCIM supports multi-tenant environments by handling provisioning per tenant, enabling scalable user management in IDaaS.</a:t>
            </a:r>
          </a:p>
        </p:txBody>
      </p:sp>
      <p:sp>
        <p:nvSpPr>
          <p:cNvPr id="4" name="Rectangle 3">
            <a:extLst>
              <a:ext uri="{FF2B5EF4-FFF2-40B4-BE49-F238E27FC236}">
                <a16:creationId xmlns:a16="http://schemas.microsoft.com/office/drawing/2014/main" id="{B07A31EC-F793-06D6-CAF0-4FAE7A3DAC6D}"/>
              </a:ext>
            </a:extLst>
          </p:cNvPr>
          <p:cNvSpPr>
            <a:spLocks noChangeAspect="1"/>
          </p:cNvSpPr>
          <p:nvPr>
            <p:custDataLst>
              <p:tags r:id="rId5"/>
            </p:custDataLst>
          </p:nvPr>
        </p:nvSpPr>
        <p:spPr>
          <a:xfrm>
            <a:off x="419100" y="6400800"/>
            <a:ext cx="2341184"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5" name="TextBox 4">
            <a:extLst>
              <a:ext uri="{FF2B5EF4-FFF2-40B4-BE49-F238E27FC236}">
                <a16:creationId xmlns:a16="http://schemas.microsoft.com/office/drawing/2014/main" id="{1187E573-10C8-E2C1-C604-E682A9143EDD}"/>
              </a:ext>
            </a:extLst>
          </p:cNvPr>
          <p:cNvSpPr txBox="1"/>
          <p:nvPr>
            <p:custDataLst>
              <p:tags r:id="rId6"/>
            </p:custDataLst>
          </p:nvPr>
        </p:nvSpPr>
        <p:spPr>
          <a:xfrm>
            <a:off x="419100" y="265211"/>
            <a:ext cx="3581400" cy="304800"/>
          </a:xfrm>
          <a:prstGeom prst="rect">
            <a:avLst/>
          </a:prstGeom>
          <a:noFill/>
        </p:spPr>
        <p:txBody>
          <a:bodyPr wrap="square" lIns="0">
            <a:normAutofit/>
          </a:bodyPr>
          <a:lstStyle/>
          <a:p>
            <a:r>
              <a:rPr lang="en-US" sz="1400" noProof="1">
                <a:solidFill>
                  <a:schemeClr val="tx2"/>
                </a:solidFill>
              </a:rPr>
              <a:t>Provisioning</a:t>
            </a:r>
          </a:p>
        </p:txBody>
      </p:sp>
    </p:spTree>
    <p:custDataLst>
      <p:tags r:id="rId1"/>
    </p:custDataLst>
    <p:extLst>
      <p:ext uri="{BB962C8B-B14F-4D97-AF65-F5344CB8AC3E}">
        <p14:creationId xmlns:p14="http://schemas.microsoft.com/office/powerpoint/2010/main" val="3069274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20490EE-4B50-7583-5CAB-D89A2E2FE958}"/>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419099" y="629392"/>
            <a:ext cx="3581401" cy="5771408"/>
          </a:xfrm>
        </p:spPr>
        <p:txBody>
          <a:bodyPr lIns="0" anchor="t">
            <a:normAutofit/>
          </a:bodyPr>
          <a:lstStyle/>
          <a:p>
            <a:pPr>
              <a:lnSpc>
                <a:spcPct val="90000"/>
              </a:lnSpc>
            </a:pPr>
            <a:r>
              <a:rPr lang="en-US" noProof="1"/>
              <a:t>Security Components in IDaaS</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4343399" y="419100"/>
            <a:ext cx="7429501" cy="5981700"/>
          </a:xfrm>
        </p:spPr>
        <p:txBody>
          <a:bodyPr vert="horz" lIns="91440" tIns="45720" rIns="91440" bIns="45720" rtlCol="0" anchor="ctr">
            <a:normAutofit/>
          </a:bodyPr>
          <a:lstStyle/>
          <a:p>
            <a:pPr marL="407988" indent="-284163">
              <a:lnSpc>
                <a:spcPct val="114000"/>
              </a:lnSpc>
              <a:buClr>
                <a:schemeClr val="accent1"/>
              </a:buClr>
            </a:pPr>
            <a:r>
              <a:rPr lang="en-US" sz="1600" noProof="1"/>
              <a:t>WebAuthn and MFA provide phishing-resistant, passwordless or multi-factor authentication to enhance user security.
JWKS (JSON Web Key Sets) enable secure token signing and verification, ensuring integrity and trust in OIDC tokens.
Keys for signing and encryption are securely stored and managed using Hardware Security Modules (HSM) or Key Management Services (KMS) with automated key rotation.
Fine-grained authorization is enforced using Keycloak’s policy engine combined with external tools like OPA or ORY Keto for complex access control scenarios.
Mutual TLS (mTLS) and internal Certificate Authorities (CAs) safeguard service-to-service communication within the IDaaS ecosystem.</a:t>
            </a:r>
          </a:p>
        </p:txBody>
      </p:sp>
      <p:sp>
        <p:nvSpPr>
          <p:cNvPr id="5" name="TextBox 4">
            <a:extLst>
              <a:ext uri="{FF2B5EF4-FFF2-40B4-BE49-F238E27FC236}">
                <a16:creationId xmlns:a16="http://schemas.microsoft.com/office/drawing/2014/main" id="{343D758A-379D-3839-15DB-554B84577D0A}"/>
              </a:ext>
            </a:extLst>
          </p:cNvPr>
          <p:cNvSpPr txBox="1"/>
          <p:nvPr>
            <p:custDataLst>
              <p:tags r:id="rId4"/>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Security</a:t>
            </a:r>
          </a:p>
        </p:txBody>
      </p:sp>
      <p:sp>
        <p:nvSpPr>
          <p:cNvPr id="7" name="Rectangle 6">
            <a:extLst>
              <a:ext uri="{FF2B5EF4-FFF2-40B4-BE49-F238E27FC236}">
                <a16:creationId xmlns:a16="http://schemas.microsoft.com/office/drawing/2014/main" id="{E8980B1E-BBA0-DBA3-3985-119902D60EE2}"/>
              </a:ext>
            </a:extLst>
          </p:cNvPr>
          <p:cNvSpPr/>
          <p:nvPr>
            <p:custDataLst>
              <p:tags r:id="rId5"/>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07420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20490EE-4B50-7583-5CAB-D89A2E2FE958}"/>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419099" y="629392"/>
            <a:ext cx="3581401" cy="5771408"/>
          </a:xfrm>
        </p:spPr>
        <p:txBody>
          <a:bodyPr lIns="0" anchor="t">
            <a:normAutofit/>
          </a:bodyPr>
          <a:lstStyle/>
          <a:p>
            <a:pPr>
              <a:lnSpc>
                <a:spcPct val="90000"/>
              </a:lnSpc>
            </a:pPr>
            <a:r>
              <a:rPr lang="en-US" noProof="1"/>
              <a:t>Observability and Audit Trail</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4343399" y="419100"/>
            <a:ext cx="7429501" cy="5981700"/>
          </a:xfrm>
        </p:spPr>
        <p:txBody>
          <a:bodyPr vert="horz" lIns="91440" tIns="45720" rIns="91440" bIns="45720" rtlCol="0" anchor="ctr">
            <a:normAutofit/>
          </a:bodyPr>
          <a:lstStyle/>
          <a:p>
            <a:pPr marL="407988" indent="-284163">
              <a:lnSpc>
                <a:spcPct val="114000"/>
              </a:lnSpc>
              <a:buClr>
                <a:schemeClr val="accent1"/>
              </a:buClr>
            </a:pPr>
            <a:r>
              <a:rPr lang="en-US" sz="1600" noProof="1"/>
              <a:t>Use OpenTelemetry (OTEL) to collect telemetry data (logs, metrics, traces) from Keycloak clusters, SCIM sync service, and ZTNA components.
Aggregate and store logs centrally using Loki or an EFK (Elasticsearch, Fluentd, Kibana) stack for efficient query and analysis.
Integrate observability data into SIEM (Security Information and Event Management) systems for real-time alerting and incident response.
Maintain detailed audit trails for OIDC authentication events, administrative actions, and Cloudflare Zero Trust access logs to ensure compliance and forensic capabilities.
Leverage observability data to monitor system health, detect anomalies, and support security investigations and compliance audits.</a:t>
            </a:r>
          </a:p>
        </p:txBody>
      </p:sp>
      <p:grpSp>
        <p:nvGrpSpPr>
          <p:cNvPr id="10" name="Group 9">
            <a:extLst>
              <a:ext uri="{FF2B5EF4-FFF2-40B4-BE49-F238E27FC236}">
                <a16:creationId xmlns:a16="http://schemas.microsoft.com/office/drawing/2014/main" id="{700D3A5D-E409-D5C1-E099-26711DE5A961}"/>
              </a:ext>
            </a:extLst>
          </p:cNvPr>
          <p:cNvGrpSpPr/>
          <p:nvPr>
            <p:custDataLst>
              <p:tags r:id="rId4"/>
            </p:custDataLst>
          </p:nvPr>
        </p:nvGrpSpPr>
        <p:grpSpPr>
          <a:xfrm>
            <a:off x="9440602" y="162617"/>
            <a:ext cx="2576145" cy="1301528"/>
            <a:chOff x="5326996" y="628184"/>
            <a:chExt cx="2576145" cy="1301528"/>
          </a:xfrm>
        </p:grpSpPr>
        <p:sp>
          <p:nvSpPr>
            <p:cNvPr id="11" name="Rounded Rectangle 10">
              <a:extLst>
                <a:ext uri="{FF2B5EF4-FFF2-40B4-BE49-F238E27FC236}">
                  <a16:creationId xmlns:a16="http://schemas.microsoft.com/office/drawing/2014/main" id="{8CEED4D5-D4FC-3368-8135-966759AF4C60}"/>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2" name="Graphic 11">
              <a:extLst>
                <a:ext uri="{FF2B5EF4-FFF2-40B4-BE49-F238E27FC236}">
                  <a16:creationId xmlns:a16="http://schemas.microsoft.com/office/drawing/2014/main" id="{9747DA84-B293-F5A1-8676-B6376F53D5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40548" y="734271"/>
              <a:ext cx="219238" cy="219238"/>
            </a:xfrm>
            <a:prstGeom prst="rect">
              <a:avLst/>
            </a:prstGeom>
          </p:spPr>
        </p:pic>
        <p:sp>
          <p:nvSpPr>
            <p:cNvPr id="13" name="Freeform 12">
              <a:extLst>
                <a:ext uri="{FF2B5EF4-FFF2-40B4-BE49-F238E27FC236}">
                  <a16:creationId xmlns:a16="http://schemas.microsoft.com/office/drawing/2014/main" id="{20240504-3465-429B-1D15-4506B317999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4" name="TextBox 13">
            <a:extLst>
              <a:ext uri="{FF2B5EF4-FFF2-40B4-BE49-F238E27FC236}">
                <a16:creationId xmlns:a16="http://schemas.microsoft.com/office/drawing/2014/main" id="{FE84978B-98C8-7A5F-8541-25CB3DBD435A}"/>
              </a:ext>
            </a:extLst>
          </p:cNvPr>
          <p:cNvSpPr txBox="1"/>
          <p:nvPr>
            <p:custDataLst>
              <p:tags r:id="rId5"/>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Include specific examples of observability tools and configurations your team uses or plans to use for better contextual relevance.</a:t>
            </a:r>
          </a:p>
        </p:txBody>
      </p:sp>
      <p:sp>
        <p:nvSpPr>
          <p:cNvPr id="5" name="TextBox 4">
            <a:extLst>
              <a:ext uri="{FF2B5EF4-FFF2-40B4-BE49-F238E27FC236}">
                <a16:creationId xmlns:a16="http://schemas.microsoft.com/office/drawing/2014/main" id="{343D758A-379D-3839-15DB-554B84577D0A}"/>
              </a:ext>
            </a:extLst>
          </p:cNvPr>
          <p:cNvSpPr txBox="1"/>
          <p:nvPr>
            <p:custDataLst>
              <p:tags r:id="rId6"/>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Observability</a:t>
            </a:r>
          </a:p>
        </p:txBody>
      </p:sp>
      <p:sp>
        <p:nvSpPr>
          <p:cNvPr id="7" name="Rectangle 6">
            <a:extLst>
              <a:ext uri="{FF2B5EF4-FFF2-40B4-BE49-F238E27FC236}">
                <a16:creationId xmlns:a16="http://schemas.microsoft.com/office/drawing/2014/main" id="{E8980B1E-BBA0-DBA3-3985-119902D60EE2}"/>
              </a:ext>
            </a:extLst>
          </p:cNvPr>
          <p:cNvSpPr/>
          <p:nvPr>
            <p:custDataLst>
              <p:tags r:id="rId7"/>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07420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1DDF8FE-2311-8FBF-F78E-6FD50FB94EA7}"/>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Login Flow</a:t>
            </a:r>
          </a:p>
        </p:txBody>
      </p:sp>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2"/>
            </p:custDataLst>
          </p:nvPr>
        </p:nvSpPr>
        <p:spPr/>
        <p:txBody>
          <a:bodyPr lIns="0"/>
          <a:lstStyle/>
          <a:p>
            <a:r>
              <a:rPr lang="en-US" noProof="1"/>
              <a:t>Login &amp; Access Flow Diagram</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4294967295"/>
            <p:custDataLst>
              <p:tags r:id="rId3"/>
            </p:custDataLst>
          </p:nvPr>
        </p:nvSpPr>
        <p:spPr>
          <a:xfrm>
            <a:off x="419100" y="4644574"/>
            <a:ext cx="5600700" cy="365760"/>
          </a:xfrm>
        </p:spPr>
        <p:txBody>
          <a:bodyPr vert="horz" lIns="0" tIns="45720" rIns="91440" bIns="45720" rtlCol="0" anchor="t">
            <a:normAutofit/>
          </a:bodyPr>
          <a:lstStyle/>
          <a:p>
            <a:pPr marL="0" indent="0">
              <a:lnSpc>
                <a:spcPct val="100000"/>
              </a:lnSpc>
              <a:buNone/>
            </a:pPr>
            <a:r>
              <a:rPr lang="en-US" b="1" noProof="1">
                <a:solidFill>
                  <a:schemeClr val="accent1"/>
                </a:solidFill>
                <a:latin typeface="+mj-lt"/>
              </a:rPr>
              <a:t>Login &amp; Access Sequence</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sz="half" idx="4294967295"/>
            <p:custDataLst>
              <p:tags r:id="rId4"/>
            </p:custDataLst>
          </p:nvPr>
        </p:nvSpPr>
        <p:spPr>
          <a:xfrm>
            <a:off x="419100" y="5015061"/>
            <a:ext cx="5600700" cy="1283876"/>
          </a:xfrm>
        </p:spPr>
        <p:txBody>
          <a:bodyPr vert="horz" lIns="0" tIns="60960" rIns="91440" bIns="60960" rtlCol="0">
            <a:normAutofit/>
          </a:bodyPr>
          <a:lstStyle/>
          <a:p>
            <a:pPr marL="11113" indent="0">
              <a:lnSpc>
                <a:spcPct val="114000"/>
              </a:lnSpc>
              <a:spcBef>
                <a:spcPts val="1000"/>
              </a:spcBef>
              <a:buNone/>
            </a:pPr>
            <a:r>
              <a:rPr lang="en-US" sz="1400" noProof="1"/>
              <a:t>Users request access to an app via Cloudflare Zero Trust, are redirected to Keycloak for tenant-specific OIDC authentication with MFA, receive tokens, and then access the app with identity-aware ZTNA enforcement.</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sz="quarter" idx="4294967295"/>
            <p:custDataLst>
              <p:tags r:id="rId5"/>
            </p:custDataLst>
          </p:nvPr>
        </p:nvSpPr>
        <p:spPr>
          <a:xfrm>
            <a:off x="6172199" y="4644574"/>
            <a:ext cx="5600700" cy="365760"/>
          </a:xfrm>
        </p:spPr>
        <p:txBody>
          <a:bodyPr vert="horz" lIns="0" tIns="45720" rIns="91440" bIns="45720" rtlCol="0" anchor="t">
            <a:normAutofit/>
          </a:bodyPr>
          <a:lstStyle/>
          <a:p>
            <a:pPr marL="0" indent="0">
              <a:lnSpc>
                <a:spcPct val="100000"/>
              </a:lnSpc>
              <a:buNone/>
            </a:pPr>
            <a:r>
              <a:rPr lang="en-US" b="1" noProof="1">
                <a:solidFill>
                  <a:schemeClr val="accent1"/>
                </a:solidFill>
                <a:latin typeface="+mj-lt"/>
              </a:rPr>
              <a:t>Key Components in Flow</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quarter" idx="4294967295"/>
            <p:custDataLst>
              <p:tags r:id="rId6"/>
            </p:custDataLst>
          </p:nvPr>
        </p:nvSpPr>
        <p:spPr>
          <a:xfrm>
            <a:off x="6172199" y="5015061"/>
            <a:ext cx="5600700" cy="1283876"/>
          </a:xfrm>
        </p:spPr>
        <p:txBody>
          <a:bodyPr vert="horz" lIns="0" tIns="60960" rIns="91440" bIns="60960" rtlCol="0">
            <a:normAutofit/>
          </a:bodyPr>
          <a:lstStyle/>
          <a:p>
            <a:pPr marL="11113" indent="0">
              <a:lnSpc>
                <a:spcPct val="114000"/>
              </a:lnSpc>
              <a:spcBef>
                <a:spcPts val="1000"/>
              </a:spcBef>
              <a:buNone/>
            </a:pPr>
            <a:r>
              <a:rPr lang="en-US" sz="1400" noProof="1"/>
              <a:t>Key components include the User Browser/Device, Cloudflare Zero Trust gateway, Regional API Gateway, Keycloak identity provider, YugabyteDB global database, and the Private App endpoint enforcing access policies.</a:t>
            </a:r>
          </a:p>
        </p:txBody>
      </p:sp>
      <p:pic>
        <p:nvPicPr>
          <p:cNvPr id="7" name="Picture Placeholder 9">
            <a:extLst>
              <a:ext uri="{FF2B5EF4-FFF2-40B4-BE49-F238E27FC236}">
                <a16:creationId xmlns:a16="http://schemas.microsoft.com/office/drawing/2014/main" id="{229F79EC-D0B2-7964-E312-BF60C4AB9362}"/>
              </a:ext>
            </a:extLst>
          </p:cNvPr>
          <p:cNvPicPr>
            <a:picLocks noChangeAspect="1"/>
          </p:cNvPicPr>
          <p:nvPr>
            <p:custDataLst>
              <p:tags r:id="rId7"/>
            </p:custDataLst>
          </p:nvPr>
        </p:nvPicPr>
        <p:blipFill rotWithShape="1">
          <a:blip r:embed="rId13" cstate="screen">
            <a:extLst>
              <a:ext uri="{28A0092B-C50C-407E-A947-70E740481C1C}">
                <a14:useLocalDpi xmlns:a14="http://schemas.microsoft.com/office/drawing/2010/main"/>
              </a:ext>
            </a:extLst>
          </a:blip>
          <a:srcRect t="9102" b="9102"/>
          <a:stretch/>
        </p:blipFill>
        <p:spPr>
          <a:xfrm>
            <a:off x="419100" y="1485900"/>
            <a:ext cx="5600700" cy="3054044"/>
          </a:xfrm>
          <a:prstGeom prst="roundRect">
            <a:avLst>
              <a:gd name="adj" fmla="val 1421"/>
            </a:avLst>
          </a:prstGeom>
        </p:spPr>
      </p:pic>
      <p:pic>
        <p:nvPicPr>
          <p:cNvPr id="8" name="Picture Placeholder 11">
            <a:extLst>
              <a:ext uri="{FF2B5EF4-FFF2-40B4-BE49-F238E27FC236}">
                <a16:creationId xmlns:a16="http://schemas.microsoft.com/office/drawing/2014/main" id="{77F3AAC0-1520-3E85-10B3-28D8A1F894C9}"/>
              </a:ext>
            </a:extLst>
          </p:cNvPr>
          <p:cNvPicPr>
            <a:picLocks/>
          </p:cNvPicPr>
          <p:nvPr>
            <p:custDataLst>
              <p:tags r:id="rId8"/>
            </p:custDataLst>
          </p:nvPr>
        </p:nvPicPr>
        <p:blipFill rotWithShape="1">
          <a:blip r:embed="rId14" cstate="screen">
            <a:extLst>
              <a:ext uri="{28A0092B-C50C-407E-A947-70E740481C1C}">
                <a14:useLocalDpi xmlns:a14="http://schemas.microsoft.com/office/drawing/2010/main"/>
              </a:ext>
            </a:extLst>
          </a:blip>
          <a:srcRect t="9102" b="9102"/>
          <a:stretch/>
        </p:blipFill>
        <p:spPr>
          <a:xfrm>
            <a:off x="6172200" y="1485900"/>
            <a:ext cx="5600700" cy="3054044"/>
          </a:xfrm>
          <a:prstGeom prst="roundRect">
            <a:avLst>
              <a:gd name="adj" fmla="val 1421"/>
            </a:avLst>
          </a:prstGeom>
        </p:spPr>
      </p:pic>
      <p:sp>
        <p:nvSpPr>
          <p:cNvPr id="9" name="Rectangle 8">
            <a:extLst>
              <a:ext uri="{FF2B5EF4-FFF2-40B4-BE49-F238E27FC236}">
                <a16:creationId xmlns:a16="http://schemas.microsoft.com/office/drawing/2014/main" id="{BE2E756F-952E-165D-4A8B-4740E522EA97}"/>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grpSp>
        <p:nvGrpSpPr>
          <p:cNvPr id="20" name="Group 19">
            <a:extLst>
              <a:ext uri="{FF2B5EF4-FFF2-40B4-BE49-F238E27FC236}">
                <a16:creationId xmlns:a16="http://schemas.microsoft.com/office/drawing/2014/main" id="{4B13A2EC-AF97-7F7D-5E96-D5B8F83C3763}"/>
              </a:ext>
            </a:extLst>
          </p:cNvPr>
          <p:cNvGrpSpPr/>
          <p:nvPr>
            <p:custDataLst>
              <p:tags r:id="rId10"/>
            </p:custDataLst>
          </p:nvPr>
        </p:nvGrpSpPr>
        <p:grpSpPr>
          <a:xfrm>
            <a:off x="9440602" y="162617"/>
            <a:ext cx="2576145" cy="1301528"/>
            <a:chOff x="5326996" y="628184"/>
            <a:chExt cx="2576145" cy="1301528"/>
          </a:xfrm>
        </p:grpSpPr>
        <p:sp>
          <p:nvSpPr>
            <p:cNvPr id="21" name="Rounded Rectangle 20">
              <a:extLst>
                <a:ext uri="{FF2B5EF4-FFF2-40B4-BE49-F238E27FC236}">
                  <a16:creationId xmlns:a16="http://schemas.microsoft.com/office/drawing/2014/main" id="{2E1ED2FE-5E98-7E97-FDAA-D6A5129D6213}"/>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22" name="Graphic 21">
              <a:extLst>
                <a:ext uri="{FF2B5EF4-FFF2-40B4-BE49-F238E27FC236}">
                  <a16:creationId xmlns:a16="http://schemas.microsoft.com/office/drawing/2014/main" id="{12007BEF-58A1-3423-8718-CBA6717E86A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40548" y="734271"/>
              <a:ext cx="219238" cy="219238"/>
            </a:xfrm>
            <a:prstGeom prst="rect">
              <a:avLst/>
            </a:prstGeom>
          </p:spPr>
        </p:pic>
        <p:sp>
          <p:nvSpPr>
            <p:cNvPr id="23" name="Freeform 22">
              <a:extLst>
                <a:ext uri="{FF2B5EF4-FFF2-40B4-BE49-F238E27FC236}">
                  <a16:creationId xmlns:a16="http://schemas.microsoft.com/office/drawing/2014/main" id="{8612DF95-BAC3-2D09-CEFF-B4A164E1E09B}"/>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24" name="TextBox 23">
            <a:extLst>
              <a:ext uri="{FF2B5EF4-FFF2-40B4-BE49-F238E27FC236}">
                <a16:creationId xmlns:a16="http://schemas.microsoft.com/office/drawing/2014/main" id="{0B077681-8C13-A9F8-E3F6-9B1959F18738}"/>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Use this slide to visually explain the secure authentication and authorization flow to engineering teams for clarity on OIDC and ZTNA integration.</a:t>
            </a:r>
          </a:p>
        </p:txBody>
      </p:sp>
    </p:spTree>
    <p:extLst>
      <p:ext uri="{BB962C8B-B14F-4D97-AF65-F5344CB8AC3E}">
        <p14:creationId xmlns:p14="http://schemas.microsoft.com/office/powerpoint/2010/main" val="1103696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73EB3-11D9-EF35-0AE3-269560ADADD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B3F1AA6-68BB-6AB5-D856-146CF78DCB38}"/>
              </a:ext>
            </a:extLst>
          </p:cNvPr>
          <p:cNvSpPr>
            <a:spLocks noGrp="1"/>
          </p:cNvSpPr>
          <p:nvPr>
            <p:ph type="title"/>
            <p:custDataLst>
              <p:tags r:id="rId1"/>
            </p:custDataLst>
          </p:nvPr>
        </p:nvSpPr>
        <p:spPr/>
        <p:txBody>
          <a:bodyPr lIns="0">
            <a:normAutofit/>
          </a:bodyPr>
          <a:lstStyle/>
          <a:p>
            <a:r>
              <a:rPr lang="en-US" noProof="1"/>
              <a:t>Login &amp; Access Flow Explained</a:t>
            </a:r>
          </a:p>
        </p:txBody>
      </p:sp>
      <p:sp>
        <p:nvSpPr>
          <p:cNvPr id="8" name="Rectangle 7">
            <a:extLst>
              <a:ext uri="{FF2B5EF4-FFF2-40B4-BE49-F238E27FC236}">
                <a16:creationId xmlns:a16="http://schemas.microsoft.com/office/drawing/2014/main" id="{591B8498-DD81-6DF2-7125-E9CF7807E6C8}"/>
              </a:ext>
            </a:extLst>
          </p:cNvPr>
          <p:cNvSpPr/>
          <p:nvPr>
            <p:custDataLst>
              <p:tags r:id="rId2"/>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grpSp>
        <p:nvGrpSpPr>
          <p:cNvPr id="19" name="Group 18">
            <a:extLst>
              <a:ext uri="{FF2B5EF4-FFF2-40B4-BE49-F238E27FC236}">
                <a16:creationId xmlns:a16="http://schemas.microsoft.com/office/drawing/2014/main" id="{1A2032B8-4C4B-9083-7778-2AD50E2C0962}"/>
              </a:ext>
            </a:extLst>
          </p:cNvPr>
          <p:cNvGrpSpPr/>
          <p:nvPr>
            <p:custDataLst>
              <p:tags r:id="rId3"/>
            </p:custDataLst>
          </p:nvPr>
        </p:nvGrpSpPr>
        <p:grpSpPr>
          <a:xfrm>
            <a:off x="9440602" y="162617"/>
            <a:ext cx="2576145" cy="1301528"/>
            <a:chOff x="5326996" y="628184"/>
            <a:chExt cx="2576145" cy="1301528"/>
          </a:xfrm>
        </p:grpSpPr>
        <p:sp>
          <p:nvSpPr>
            <p:cNvPr id="32" name="Rounded Rectangle 31">
              <a:extLst>
                <a:ext uri="{FF2B5EF4-FFF2-40B4-BE49-F238E27FC236}">
                  <a16:creationId xmlns:a16="http://schemas.microsoft.com/office/drawing/2014/main" id="{966C3DDD-7FA1-6693-F053-15F87A8B7AF1}"/>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33" name="Graphic 32">
              <a:extLst>
                <a:ext uri="{FF2B5EF4-FFF2-40B4-BE49-F238E27FC236}">
                  <a16:creationId xmlns:a16="http://schemas.microsoft.com/office/drawing/2014/main" id="{D6B10BD2-A023-2687-34D3-34C0C08A8C42}"/>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440548" y="734271"/>
              <a:ext cx="219238" cy="219238"/>
            </a:xfrm>
            <a:prstGeom prst="rect">
              <a:avLst/>
            </a:prstGeom>
          </p:spPr>
        </p:pic>
        <p:sp>
          <p:nvSpPr>
            <p:cNvPr id="34" name="Freeform 33">
              <a:extLst>
                <a:ext uri="{FF2B5EF4-FFF2-40B4-BE49-F238E27FC236}">
                  <a16:creationId xmlns:a16="http://schemas.microsoft.com/office/drawing/2014/main" id="{8393A11C-8813-C1E5-CB8D-22C3AA4CE866}"/>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35" name="TextBox 34">
            <a:extLst>
              <a:ext uri="{FF2B5EF4-FFF2-40B4-BE49-F238E27FC236}">
                <a16:creationId xmlns:a16="http://schemas.microsoft.com/office/drawing/2014/main" id="{77E02323-1A03-CBCE-91AE-781834B3D966}"/>
              </a:ext>
            </a:extLst>
          </p:cNvPr>
          <p:cNvSpPr txBox="1"/>
          <p:nvPr>
            <p:custDataLst>
              <p:tags r:id="rId4"/>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Use this slide to clearly explain each phase of the login and access process, emphasizing security checks and token handling relevant to your engineering team.</a:t>
            </a:r>
          </a:p>
        </p:txBody>
      </p:sp>
      <p:sp>
        <p:nvSpPr>
          <p:cNvPr id="37" name="TextBox 36">
            <a:extLst>
              <a:ext uri="{FF2B5EF4-FFF2-40B4-BE49-F238E27FC236}">
                <a16:creationId xmlns:a16="http://schemas.microsoft.com/office/drawing/2014/main" id="{6DCE98A1-940B-51CC-EC56-0C39AC6E7F81}"/>
              </a:ext>
            </a:extLst>
          </p:cNvPr>
          <p:cNvSpPr txBox="1"/>
          <p:nvPr>
            <p:custDataLst>
              <p:tags r:id="rId5"/>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Login Flow</a:t>
            </a:r>
          </a:p>
        </p:txBody>
      </p:sp>
      <p:cxnSp>
        <p:nvCxnSpPr>
          <p:cNvPr id="38" name="Straight Connector 37">
            <a:extLst>
              <a:ext uri="{FF2B5EF4-FFF2-40B4-BE49-F238E27FC236}">
                <a16:creationId xmlns:a16="http://schemas.microsoft.com/office/drawing/2014/main" id="{F3A253B7-57F0-BE84-6C0E-00FCB1A93B90}"/>
              </a:ext>
            </a:extLst>
          </p:cNvPr>
          <p:cNvCxnSpPr>
            <a:cxnSpLocks/>
          </p:cNvCxnSpPr>
          <p:nvPr/>
        </p:nvCxnSpPr>
        <p:spPr>
          <a:xfrm>
            <a:off x="222488" y="2685632"/>
            <a:ext cx="11734800" cy="0"/>
          </a:xfrm>
          <a:prstGeom prst="line">
            <a:avLst/>
          </a:prstGeom>
          <a:ln w="12700">
            <a:solidFill>
              <a:schemeClr val="tx1"/>
            </a:solidFill>
            <a:headEnd type="none" w="med" len="med"/>
            <a:tailEnd type="arrow" w="med" len="med"/>
          </a:ln>
        </p:spPr>
        <p:style>
          <a:lnRef idx="2">
            <a:schemeClr val="accent4"/>
          </a:lnRef>
          <a:fillRef idx="0">
            <a:schemeClr val="accent4"/>
          </a:fillRef>
          <a:effectRef idx="1">
            <a:schemeClr val="accent4"/>
          </a:effectRef>
          <a:fontRef idx="minor">
            <a:schemeClr val="tx1"/>
          </a:fontRef>
        </p:style>
      </p:cxnSp>
      <p:sp>
        <p:nvSpPr>
          <p:cNvPr id="39" name="Oval 38">
            <a:extLst>
              <a:ext uri="{FF2B5EF4-FFF2-40B4-BE49-F238E27FC236}">
                <a16:creationId xmlns:a16="http://schemas.microsoft.com/office/drawing/2014/main" id="{8E6A138E-6A98-E2DE-DC16-0728DDD6316B}"/>
              </a:ext>
            </a:extLst>
          </p:cNvPr>
          <p:cNvSpPr/>
          <p:nvPr/>
        </p:nvSpPr>
        <p:spPr>
          <a:xfrm>
            <a:off x="412987" y="2617052"/>
            <a:ext cx="137160" cy="13716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
        <p:nvSpPr>
          <p:cNvPr id="40" name="Oval 39">
            <a:extLst>
              <a:ext uri="{FF2B5EF4-FFF2-40B4-BE49-F238E27FC236}">
                <a16:creationId xmlns:a16="http://schemas.microsoft.com/office/drawing/2014/main" id="{3BCAA348-2431-5B1F-D11C-B535F2C42FE9}"/>
              </a:ext>
            </a:extLst>
          </p:cNvPr>
          <p:cNvSpPr/>
          <p:nvPr/>
        </p:nvSpPr>
        <p:spPr>
          <a:xfrm>
            <a:off x="2324778" y="2617052"/>
            <a:ext cx="137160" cy="13716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
        <p:nvSpPr>
          <p:cNvPr id="41" name="Oval 40">
            <a:extLst>
              <a:ext uri="{FF2B5EF4-FFF2-40B4-BE49-F238E27FC236}">
                <a16:creationId xmlns:a16="http://schemas.microsoft.com/office/drawing/2014/main" id="{AC6BCF16-C271-9A8B-6109-84EB3BFD38DB}"/>
              </a:ext>
            </a:extLst>
          </p:cNvPr>
          <p:cNvSpPr/>
          <p:nvPr/>
        </p:nvSpPr>
        <p:spPr>
          <a:xfrm>
            <a:off x="4232508" y="2617052"/>
            <a:ext cx="137160" cy="13716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
        <p:nvSpPr>
          <p:cNvPr id="42" name="TextBox 41">
            <a:extLst>
              <a:ext uri="{FF2B5EF4-FFF2-40B4-BE49-F238E27FC236}">
                <a16:creationId xmlns:a16="http://schemas.microsoft.com/office/drawing/2014/main" id="{614FFC4F-013F-208A-A65E-2778EB30E863}"/>
              </a:ext>
            </a:extLst>
          </p:cNvPr>
          <p:cNvSpPr txBox="1"/>
          <p:nvPr/>
        </p:nvSpPr>
        <p:spPr>
          <a:xfrm>
            <a:off x="412987" y="1485900"/>
            <a:ext cx="842353" cy="369332"/>
          </a:xfrm>
          <a:prstGeom prst="rect">
            <a:avLst/>
          </a:prstGeom>
          <a:noFill/>
        </p:spPr>
        <p:txBody>
          <a:bodyPr wrap="square" lIns="0" rtlCol="0">
            <a:spAutoFit/>
          </a:bodyPr>
          <a:lstStyle/>
          <a:p>
            <a:r>
              <a:rPr lang="en-US" b="1" noProof="1">
                <a:solidFill>
                  <a:schemeClr val="accent1"/>
                </a:solidFill>
              </a:rPr>
              <a:t>01</a:t>
            </a:r>
          </a:p>
        </p:txBody>
      </p:sp>
      <p:sp>
        <p:nvSpPr>
          <p:cNvPr id="43" name="Oval 42">
            <a:extLst>
              <a:ext uri="{FF2B5EF4-FFF2-40B4-BE49-F238E27FC236}">
                <a16:creationId xmlns:a16="http://schemas.microsoft.com/office/drawing/2014/main" id="{9A4E49A1-8D74-FAE5-88A3-58EFC09CE940}"/>
              </a:ext>
            </a:extLst>
          </p:cNvPr>
          <p:cNvSpPr/>
          <p:nvPr/>
        </p:nvSpPr>
        <p:spPr>
          <a:xfrm>
            <a:off x="6140237" y="2617052"/>
            <a:ext cx="137160" cy="13716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
        <p:nvSpPr>
          <p:cNvPr id="44" name="TextBox 43">
            <a:extLst>
              <a:ext uri="{FF2B5EF4-FFF2-40B4-BE49-F238E27FC236}">
                <a16:creationId xmlns:a16="http://schemas.microsoft.com/office/drawing/2014/main" id="{B2B25100-6C6C-0573-0FF5-92D6A7425792}"/>
              </a:ext>
            </a:extLst>
          </p:cNvPr>
          <p:cNvSpPr txBox="1"/>
          <p:nvPr/>
        </p:nvSpPr>
        <p:spPr>
          <a:xfrm>
            <a:off x="2324778" y="1485900"/>
            <a:ext cx="734291" cy="369332"/>
          </a:xfrm>
          <a:prstGeom prst="rect">
            <a:avLst/>
          </a:prstGeom>
          <a:noFill/>
        </p:spPr>
        <p:txBody>
          <a:bodyPr wrap="square" lIns="0" rtlCol="0">
            <a:spAutoFit/>
          </a:bodyPr>
          <a:lstStyle/>
          <a:p>
            <a:r>
              <a:rPr lang="en-US" b="1" noProof="1">
                <a:solidFill>
                  <a:schemeClr val="accent1"/>
                </a:solidFill>
              </a:rPr>
              <a:t>02</a:t>
            </a:r>
          </a:p>
        </p:txBody>
      </p:sp>
      <p:sp>
        <p:nvSpPr>
          <p:cNvPr id="45" name="TextBox 44">
            <a:extLst>
              <a:ext uri="{FF2B5EF4-FFF2-40B4-BE49-F238E27FC236}">
                <a16:creationId xmlns:a16="http://schemas.microsoft.com/office/drawing/2014/main" id="{D19A7CC7-FF52-2DC0-74D1-33C0B68CD8E9}"/>
              </a:ext>
            </a:extLst>
          </p:cNvPr>
          <p:cNvSpPr txBox="1"/>
          <p:nvPr/>
        </p:nvSpPr>
        <p:spPr>
          <a:xfrm>
            <a:off x="4232508" y="1485900"/>
            <a:ext cx="734291" cy="369332"/>
          </a:xfrm>
          <a:prstGeom prst="rect">
            <a:avLst/>
          </a:prstGeom>
          <a:noFill/>
        </p:spPr>
        <p:txBody>
          <a:bodyPr wrap="square" lIns="0" rtlCol="0">
            <a:spAutoFit/>
          </a:bodyPr>
          <a:lstStyle/>
          <a:p>
            <a:r>
              <a:rPr lang="en-US" b="1" noProof="1">
                <a:solidFill>
                  <a:schemeClr val="accent1"/>
                </a:solidFill>
              </a:rPr>
              <a:t>03</a:t>
            </a:r>
          </a:p>
        </p:txBody>
      </p:sp>
      <p:sp>
        <p:nvSpPr>
          <p:cNvPr id="46" name="TextBox 45">
            <a:extLst>
              <a:ext uri="{FF2B5EF4-FFF2-40B4-BE49-F238E27FC236}">
                <a16:creationId xmlns:a16="http://schemas.microsoft.com/office/drawing/2014/main" id="{32F2DD33-D56C-780B-A465-81165AA0F687}"/>
              </a:ext>
            </a:extLst>
          </p:cNvPr>
          <p:cNvSpPr txBox="1"/>
          <p:nvPr/>
        </p:nvSpPr>
        <p:spPr>
          <a:xfrm>
            <a:off x="6140237" y="1485900"/>
            <a:ext cx="734291" cy="369332"/>
          </a:xfrm>
          <a:prstGeom prst="rect">
            <a:avLst/>
          </a:prstGeom>
          <a:noFill/>
        </p:spPr>
        <p:txBody>
          <a:bodyPr wrap="square" lIns="0" rtlCol="0">
            <a:spAutoFit/>
          </a:bodyPr>
          <a:lstStyle/>
          <a:p>
            <a:r>
              <a:rPr lang="en-US" b="1" noProof="1">
                <a:solidFill>
                  <a:schemeClr val="accent1"/>
                </a:solidFill>
              </a:rPr>
              <a:t>04</a:t>
            </a:r>
          </a:p>
        </p:txBody>
      </p:sp>
      <p:sp>
        <p:nvSpPr>
          <p:cNvPr id="62" name="TextBox 61">
            <a:extLst>
              <a:ext uri="{FF2B5EF4-FFF2-40B4-BE49-F238E27FC236}">
                <a16:creationId xmlns:a16="http://schemas.microsoft.com/office/drawing/2014/main" id="{BA92EB4E-025B-CAE3-B794-8A3BEF983AEC}"/>
              </a:ext>
            </a:extLst>
          </p:cNvPr>
          <p:cNvSpPr txBox="1"/>
          <p:nvPr/>
        </p:nvSpPr>
        <p:spPr>
          <a:xfrm>
            <a:off x="8047967" y="1485900"/>
            <a:ext cx="734291" cy="369332"/>
          </a:xfrm>
          <a:prstGeom prst="rect">
            <a:avLst/>
          </a:prstGeom>
          <a:noFill/>
        </p:spPr>
        <p:txBody>
          <a:bodyPr wrap="square" lIns="0" rtlCol="0">
            <a:spAutoFit/>
          </a:bodyPr>
          <a:lstStyle/>
          <a:p>
            <a:r>
              <a:rPr lang="en-US" b="1" noProof="1">
                <a:solidFill>
                  <a:schemeClr val="accent1"/>
                </a:solidFill>
              </a:rPr>
              <a:t>05</a:t>
            </a:r>
          </a:p>
        </p:txBody>
      </p:sp>
      <p:sp>
        <p:nvSpPr>
          <p:cNvPr id="63" name="Oval 62">
            <a:extLst>
              <a:ext uri="{FF2B5EF4-FFF2-40B4-BE49-F238E27FC236}">
                <a16:creationId xmlns:a16="http://schemas.microsoft.com/office/drawing/2014/main" id="{58BBE42B-EBC6-BF25-26E5-29C62DC46942}"/>
              </a:ext>
            </a:extLst>
          </p:cNvPr>
          <p:cNvSpPr/>
          <p:nvPr/>
        </p:nvSpPr>
        <p:spPr>
          <a:xfrm>
            <a:off x="8047967" y="2617052"/>
            <a:ext cx="137160" cy="13716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
        <p:nvSpPr>
          <p:cNvPr id="47" name="Content Placeholder 9">
            <a:extLst>
              <a:ext uri="{FF2B5EF4-FFF2-40B4-BE49-F238E27FC236}">
                <a16:creationId xmlns:a16="http://schemas.microsoft.com/office/drawing/2014/main" id="{05FE5DF4-623F-969B-182A-E2D12E77ED09}"/>
              </a:ext>
            </a:extLst>
          </p:cNvPr>
          <p:cNvSpPr txBox="1">
            <a:spLocks/>
          </p:cNvSpPr>
          <p:nvPr>
            <p:custDataLst>
              <p:tags r:id="rId6"/>
            </p:custDataLst>
          </p:nvPr>
        </p:nvSpPr>
        <p:spPr>
          <a:xfrm>
            <a:off x="412986" y="2983664"/>
            <a:ext cx="1823317" cy="1737360"/>
          </a:xfrm>
          <a:prstGeom prst="rect">
            <a:avLst/>
          </a:prstGeom>
        </p:spPr>
        <p:txBody>
          <a:bodyPr vert="horz" lIns="0" tIns="45720" rIns="91440" bIns="45720" rtlCol="0">
            <a:normAutofit/>
          </a:bodyPr>
          <a:lstStyle>
            <a:lvl1pPr marL="11113" indent="0" defTabSz="914354">
              <a:lnSpc>
                <a:spcPct val="114000"/>
              </a:lnSpc>
              <a:spcBef>
                <a:spcPts val="1000"/>
              </a:spcBef>
              <a:buFont typeface="Arial" panose="020B0604020202020204" pitchFamily="34" charset="0"/>
              <a:buNone/>
              <a:tabLst/>
              <a:defRPr sz="1600">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sz="1200" noProof="1"/>
              <a:t>The user initiates access by requesting the application URL, typically through a browser or device.</a:t>
            </a:r>
          </a:p>
        </p:txBody>
      </p:sp>
      <p:sp>
        <p:nvSpPr>
          <p:cNvPr id="48" name="Text Placeholder 12">
            <a:extLst>
              <a:ext uri="{FF2B5EF4-FFF2-40B4-BE49-F238E27FC236}">
                <a16:creationId xmlns:a16="http://schemas.microsoft.com/office/drawing/2014/main" id="{D10BB82E-D062-F2EC-A313-7D80BDF9DEDD}"/>
              </a:ext>
            </a:extLst>
          </p:cNvPr>
          <p:cNvSpPr txBox="1">
            <a:spLocks/>
          </p:cNvSpPr>
          <p:nvPr>
            <p:custDataLst>
              <p:tags r:id="rId7"/>
            </p:custDataLst>
          </p:nvPr>
        </p:nvSpPr>
        <p:spPr>
          <a:xfrm>
            <a:off x="412986" y="1905000"/>
            <a:ext cx="1823317" cy="640080"/>
          </a:xfrm>
          <a:prstGeom prst="rect">
            <a:avLst/>
          </a:prstGeom>
        </p:spPr>
        <p:txBody>
          <a:bodyPr vert="horz" lIns="0" tIns="45720" rIns="91440" bIns="45720" rtlCol="0" anchor="t">
            <a:noAutofit/>
          </a:bodyPr>
          <a:lstStyle>
            <a:lvl1pPr indent="9525" defTabSz="914354">
              <a:lnSpc>
                <a:spcPct val="100000"/>
              </a:lnSpc>
              <a:spcBef>
                <a:spcPts val="1200"/>
              </a:spcBef>
              <a:buFont typeface="Arial" panose="020B0604020202020204" pitchFamily="34" charset="0"/>
              <a:buNone/>
              <a:tabLst/>
              <a:defRPr b="1">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sz="1600" noProof="1"/>
              <a:t>User Request</a:t>
            </a:r>
          </a:p>
        </p:txBody>
      </p:sp>
      <p:sp>
        <p:nvSpPr>
          <p:cNvPr id="49" name="Content Placeholder 9">
            <a:extLst>
              <a:ext uri="{FF2B5EF4-FFF2-40B4-BE49-F238E27FC236}">
                <a16:creationId xmlns:a16="http://schemas.microsoft.com/office/drawing/2014/main" id="{D5FEA49A-3F89-6493-4C13-90F4BFC9A0B9}"/>
              </a:ext>
            </a:extLst>
          </p:cNvPr>
          <p:cNvSpPr txBox="1">
            <a:spLocks/>
          </p:cNvSpPr>
          <p:nvPr>
            <p:custDataLst>
              <p:tags r:id="rId8"/>
            </p:custDataLst>
          </p:nvPr>
        </p:nvSpPr>
        <p:spPr>
          <a:xfrm>
            <a:off x="412986" y="4721024"/>
            <a:ext cx="1823317" cy="1463040"/>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7488">
              <a:lnSpc>
                <a:spcPct val="85000"/>
              </a:lnSpc>
              <a:spcBef>
                <a:spcPts val="0"/>
              </a:spcBef>
              <a:spcAft>
                <a:spcPts val="400"/>
              </a:spcAft>
            </a:pPr>
            <a:r>
              <a:rPr lang="en-US" sz="1200" noProof="1">
                <a:solidFill>
                  <a:schemeClr val="tx2"/>
                </a:solidFill>
                <a:latin typeface="+mn-lt"/>
              </a:rPr>
              <a:t>User request logs
Initial access timestamp
Request metadata (IP, device)</a:t>
            </a:r>
          </a:p>
        </p:txBody>
      </p:sp>
      <p:sp>
        <p:nvSpPr>
          <p:cNvPr id="50" name="Content Placeholder 10">
            <a:extLst>
              <a:ext uri="{FF2B5EF4-FFF2-40B4-BE49-F238E27FC236}">
                <a16:creationId xmlns:a16="http://schemas.microsoft.com/office/drawing/2014/main" id="{68F06128-7B01-AEF9-0528-CD58D1E4F01E}"/>
              </a:ext>
            </a:extLst>
          </p:cNvPr>
          <p:cNvSpPr txBox="1">
            <a:spLocks/>
          </p:cNvSpPr>
          <p:nvPr>
            <p:custDataLst>
              <p:tags r:id="rId9"/>
            </p:custDataLst>
          </p:nvPr>
        </p:nvSpPr>
        <p:spPr>
          <a:xfrm>
            <a:off x="2324778" y="2983664"/>
            <a:ext cx="1823317" cy="173736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1">
                <a:ln>
                  <a:noFill/>
                </a:ln>
                <a:effectLst/>
                <a:uLnTx/>
                <a:uFillTx/>
                <a:ea typeface="+mn-ea"/>
                <a:cs typeface="Arial" panose="020B0604020202020204" pitchFamily="34" charset="0"/>
              </a:rPr>
              <a:t>Cloudflare Zero Trust intercepts the request, enforcing WAF rules and access posture checks before forwarding to the regional API gateway.</a:t>
            </a:r>
          </a:p>
        </p:txBody>
      </p:sp>
      <p:sp>
        <p:nvSpPr>
          <p:cNvPr id="51" name="Text Placeholder 13">
            <a:extLst>
              <a:ext uri="{FF2B5EF4-FFF2-40B4-BE49-F238E27FC236}">
                <a16:creationId xmlns:a16="http://schemas.microsoft.com/office/drawing/2014/main" id="{6A8D92F6-2699-B780-F30D-D424D77C9DD9}"/>
              </a:ext>
            </a:extLst>
          </p:cNvPr>
          <p:cNvSpPr txBox="1">
            <a:spLocks/>
          </p:cNvSpPr>
          <p:nvPr>
            <p:custDataLst>
              <p:tags r:id="rId10"/>
            </p:custDataLst>
          </p:nvPr>
        </p:nvSpPr>
        <p:spPr>
          <a:xfrm>
            <a:off x="2324778" y="1905000"/>
            <a:ext cx="1823317" cy="640080"/>
          </a:xfrm>
          <a:prstGeom prst="rect">
            <a:avLst/>
          </a:prstGeom>
        </p:spPr>
        <p:txBody>
          <a:bodyPr vert="horz" lIns="0" tIns="45720" rIns="91440" bIns="45720" rtlCol="0" anchor="t">
            <a:noAutofit/>
          </a:bodyPr>
          <a:lstStyle>
            <a:defPPr>
              <a:defRPr lang="en-US"/>
            </a:defPPr>
            <a:lvl1pPr marR="0" lvl="0" indent="9525" defTabSz="914354" fontAlgn="auto">
              <a:lnSpc>
                <a:spcPct val="100000"/>
              </a:lnSpc>
              <a:spcBef>
                <a:spcPts val="12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Cloudflare Zero Trust Checks</a:t>
            </a:r>
          </a:p>
        </p:txBody>
      </p:sp>
      <p:sp>
        <p:nvSpPr>
          <p:cNvPr id="52" name="Content Placeholder 11">
            <a:extLst>
              <a:ext uri="{FF2B5EF4-FFF2-40B4-BE49-F238E27FC236}">
                <a16:creationId xmlns:a16="http://schemas.microsoft.com/office/drawing/2014/main" id="{61AE1ECC-A4A9-CD5C-5352-844B9CAD8AEE}"/>
              </a:ext>
            </a:extLst>
          </p:cNvPr>
          <p:cNvSpPr txBox="1">
            <a:spLocks/>
          </p:cNvSpPr>
          <p:nvPr>
            <p:custDataLst>
              <p:tags r:id="rId11"/>
            </p:custDataLst>
          </p:nvPr>
        </p:nvSpPr>
        <p:spPr>
          <a:xfrm>
            <a:off x="4232508" y="2983664"/>
            <a:ext cx="1823317" cy="173736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1">
                <a:ln>
                  <a:noFill/>
                </a:ln>
                <a:effectLst/>
                <a:uLnTx/>
                <a:uFillTx/>
                <a:ea typeface="+mn-ea"/>
                <a:cs typeface="Arial" panose="020B0604020202020204" pitchFamily="34" charset="0"/>
              </a:rPr>
              <a:t>The API gateway redirects the user to Keycloak for OIDC authentication, including tenant realm discovery to ensure proper multi-tenancy.</a:t>
            </a:r>
          </a:p>
        </p:txBody>
      </p:sp>
      <p:sp>
        <p:nvSpPr>
          <p:cNvPr id="53" name="Content Placeholder 1">
            <a:extLst>
              <a:ext uri="{FF2B5EF4-FFF2-40B4-BE49-F238E27FC236}">
                <a16:creationId xmlns:a16="http://schemas.microsoft.com/office/drawing/2014/main" id="{780CABA7-DB4A-E163-2E5F-CF248B67BDDF}"/>
              </a:ext>
            </a:extLst>
          </p:cNvPr>
          <p:cNvSpPr txBox="1">
            <a:spLocks/>
          </p:cNvSpPr>
          <p:nvPr>
            <p:custDataLst>
              <p:tags r:id="rId12"/>
            </p:custDataLst>
          </p:nvPr>
        </p:nvSpPr>
        <p:spPr>
          <a:xfrm>
            <a:off x="6140237" y="2983664"/>
            <a:ext cx="1823317" cy="173736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1">
                <a:ln>
                  <a:noFill/>
                </a:ln>
                <a:effectLst/>
                <a:uLnTx/>
                <a:uFillTx/>
                <a:ea typeface="+mn-ea"/>
                <a:cs typeface="Arial" panose="020B0604020202020204" pitchFamily="34" charset="0"/>
              </a:rPr>
              <a:t>The user completes login by providing credentials and passing MFA/WebAuthn challenges for strong authentication.</a:t>
            </a:r>
          </a:p>
        </p:txBody>
      </p:sp>
      <p:sp>
        <p:nvSpPr>
          <p:cNvPr id="54" name="Text Placeholder 14">
            <a:extLst>
              <a:ext uri="{FF2B5EF4-FFF2-40B4-BE49-F238E27FC236}">
                <a16:creationId xmlns:a16="http://schemas.microsoft.com/office/drawing/2014/main" id="{3D3A2083-28B7-A02D-C96A-DE3D6A269B66}"/>
              </a:ext>
            </a:extLst>
          </p:cNvPr>
          <p:cNvSpPr txBox="1">
            <a:spLocks/>
          </p:cNvSpPr>
          <p:nvPr>
            <p:custDataLst>
              <p:tags r:id="rId13"/>
            </p:custDataLst>
          </p:nvPr>
        </p:nvSpPr>
        <p:spPr>
          <a:xfrm>
            <a:off x="4232508" y="1905000"/>
            <a:ext cx="1823317" cy="640080"/>
          </a:xfrm>
          <a:prstGeom prst="rect">
            <a:avLst/>
          </a:prstGeom>
        </p:spPr>
        <p:txBody>
          <a:bodyPr vert="horz" lIns="0" tIns="45720" rIns="91440" bIns="45720" rtlCol="0" anchor="t">
            <a:noAutofit/>
          </a:bodyPr>
          <a:lstStyle>
            <a:defPPr>
              <a:defRPr lang="en-US"/>
            </a:defPPr>
            <a:lvl1pPr marR="0" lvl="0" indent="9525" defTabSz="914354" fontAlgn="auto">
              <a:lnSpc>
                <a:spcPct val="100000"/>
              </a:lnSpc>
              <a:spcBef>
                <a:spcPts val="12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OIDC Authentication Redirect</a:t>
            </a:r>
          </a:p>
        </p:txBody>
      </p:sp>
      <p:sp>
        <p:nvSpPr>
          <p:cNvPr id="55" name="Text Placeholder 2">
            <a:extLst>
              <a:ext uri="{FF2B5EF4-FFF2-40B4-BE49-F238E27FC236}">
                <a16:creationId xmlns:a16="http://schemas.microsoft.com/office/drawing/2014/main" id="{2ABAA0B8-F074-D28D-F507-56EF3F1A103A}"/>
              </a:ext>
            </a:extLst>
          </p:cNvPr>
          <p:cNvSpPr txBox="1">
            <a:spLocks/>
          </p:cNvSpPr>
          <p:nvPr>
            <p:custDataLst>
              <p:tags r:id="rId14"/>
            </p:custDataLst>
          </p:nvPr>
        </p:nvSpPr>
        <p:spPr>
          <a:xfrm>
            <a:off x="6140237" y="1905000"/>
            <a:ext cx="1823317" cy="640080"/>
          </a:xfrm>
          <a:prstGeom prst="rect">
            <a:avLst/>
          </a:prstGeom>
        </p:spPr>
        <p:txBody>
          <a:bodyPr vert="horz" lIns="0" tIns="45720" rIns="91440" bIns="45720" rtlCol="0" anchor="t">
            <a:noAutofit/>
          </a:bodyPr>
          <a:lstStyle>
            <a:defPPr>
              <a:defRPr lang="en-US"/>
            </a:defPPr>
            <a:lvl1pPr marR="0" lvl="0" indent="9525" defTabSz="914354" fontAlgn="auto">
              <a:lnSpc>
                <a:spcPct val="100000"/>
              </a:lnSpc>
              <a:spcBef>
                <a:spcPts val="12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User Login and MFA</a:t>
            </a:r>
          </a:p>
        </p:txBody>
      </p:sp>
      <p:sp>
        <p:nvSpPr>
          <p:cNvPr id="56" name="Content Placeholder 10">
            <a:extLst>
              <a:ext uri="{FF2B5EF4-FFF2-40B4-BE49-F238E27FC236}">
                <a16:creationId xmlns:a16="http://schemas.microsoft.com/office/drawing/2014/main" id="{147F4EF6-D7A0-20AB-C837-B466428E0437}"/>
              </a:ext>
            </a:extLst>
          </p:cNvPr>
          <p:cNvSpPr txBox="1">
            <a:spLocks/>
          </p:cNvSpPr>
          <p:nvPr>
            <p:custDataLst>
              <p:tags r:id="rId15"/>
            </p:custDataLst>
          </p:nvPr>
        </p:nvSpPr>
        <p:spPr>
          <a:xfrm>
            <a:off x="2321731" y="4721024"/>
            <a:ext cx="1823317" cy="1463040"/>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7488">
              <a:lnSpc>
                <a:spcPct val="85000"/>
              </a:lnSpc>
              <a:spcBef>
                <a:spcPts val="0"/>
              </a:spcBef>
              <a:spcAft>
                <a:spcPts val="400"/>
              </a:spcAft>
            </a:pPr>
            <a:r>
              <a:rPr lang="en-US" sz="1200" noProof="1">
                <a:solidFill>
                  <a:schemeClr val="tx2"/>
                </a:solidFill>
                <a:latin typeface="+mn-lt"/>
              </a:rPr>
              <a:t>WAF event logs
Access posture evaluation reports
Forwarded request to API gateway</a:t>
            </a:r>
          </a:p>
        </p:txBody>
      </p:sp>
      <p:sp>
        <p:nvSpPr>
          <p:cNvPr id="57" name="Content Placeholder 11">
            <a:extLst>
              <a:ext uri="{FF2B5EF4-FFF2-40B4-BE49-F238E27FC236}">
                <a16:creationId xmlns:a16="http://schemas.microsoft.com/office/drawing/2014/main" id="{ADAB5771-D411-81B6-92D6-CE2B0C42B419}"/>
              </a:ext>
            </a:extLst>
          </p:cNvPr>
          <p:cNvSpPr txBox="1">
            <a:spLocks/>
          </p:cNvSpPr>
          <p:nvPr>
            <p:custDataLst>
              <p:tags r:id="rId16"/>
            </p:custDataLst>
          </p:nvPr>
        </p:nvSpPr>
        <p:spPr>
          <a:xfrm>
            <a:off x="4230476" y="4721024"/>
            <a:ext cx="1823317" cy="1463040"/>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7488">
              <a:lnSpc>
                <a:spcPct val="85000"/>
              </a:lnSpc>
              <a:spcBef>
                <a:spcPts val="0"/>
              </a:spcBef>
              <a:spcAft>
                <a:spcPts val="400"/>
              </a:spcAft>
            </a:pPr>
            <a:r>
              <a:rPr lang="en-US" sz="1200" noProof="1">
                <a:solidFill>
                  <a:schemeClr val="tx2"/>
                </a:solidFill>
                <a:latin typeface="+mn-lt"/>
              </a:rPr>
              <a:t>OIDC authentication request
Tenant realm identification
Redirect URL to Keycloak login</a:t>
            </a:r>
          </a:p>
        </p:txBody>
      </p:sp>
      <p:sp>
        <p:nvSpPr>
          <p:cNvPr id="58" name="Content Placeholder 1">
            <a:extLst>
              <a:ext uri="{FF2B5EF4-FFF2-40B4-BE49-F238E27FC236}">
                <a16:creationId xmlns:a16="http://schemas.microsoft.com/office/drawing/2014/main" id="{B3FABB53-D224-2F81-C933-C68B4493756B}"/>
              </a:ext>
            </a:extLst>
          </p:cNvPr>
          <p:cNvSpPr txBox="1">
            <a:spLocks/>
          </p:cNvSpPr>
          <p:nvPr>
            <p:custDataLst>
              <p:tags r:id="rId17"/>
            </p:custDataLst>
          </p:nvPr>
        </p:nvSpPr>
        <p:spPr>
          <a:xfrm>
            <a:off x="6139221" y="4721024"/>
            <a:ext cx="1823317" cy="1463040"/>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7488">
              <a:lnSpc>
                <a:spcPct val="85000"/>
              </a:lnSpc>
              <a:spcBef>
                <a:spcPts val="0"/>
              </a:spcBef>
              <a:spcAft>
                <a:spcPts val="400"/>
              </a:spcAft>
            </a:pPr>
            <a:r>
              <a:rPr lang="en-US" sz="1200" noProof="1">
                <a:solidFill>
                  <a:schemeClr val="tx2"/>
                </a:solidFill>
                <a:latin typeface="+mn-lt"/>
              </a:rPr>
              <a:t>Successful login events
MFA challenge logs
User session initialization</a:t>
            </a:r>
          </a:p>
        </p:txBody>
      </p:sp>
      <p:sp>
        <p:nvSpPr>
          <p:cNvPr id="59" name="Content Placeholder 1">
            <a:extLst>
              <a:ext uri="{FF2B5EF4-FFF2-40B4-BE49-F238E27FC236}">
                <a16:creationId xmlns:a16="http://schemas.microsoft.com/office/drawing/2014/main" id="{91C677F3-624B-CEB2-6BE8-B8BF6458E578}"/>
              </a:ext>
            </a:extLst>
          </p:cNvPr>
          <p:cNvSpPr txBox="1">
            <a:spLocks/>
          </p:cNvSpPr>
          <p:nvPr>
            <p:custDataLst>
              <p:tags r:id="rId18"/>
            </p:custDataLst>
          </p:nvPr>
        </p:nvSpPr>
        <p:spPr>
          <a:xfrm>
            <a:off x="8047967" y="2983664"/>
            <a:ext cx="1823317" cy="173736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1">
                <a:ln>
                  <a:noFill/>
                </a:ln>
                <a:effectLst/>
                <a:uLnTx/>
                <a:uFillTx/>
                <a:ea typeface="+mn-ea"/>
                <a:cs typeface="Arial" panose="020B0604020202020204" pitchFamily="34" charset="0"/>
              </a:rPr>
              <a:t>Keycloak verifies user identity via YugabyteDB, resolves roles and consents, then issues OIDC ID, access, and refresh tokens to the user.</a:t>
            </a:r>
          </a:p>
        </p:txBody>
      </p:sp>
      <p:sp>
        <p:nvSpPr>
          <p:cNvPr id="60" name="Text Placeholder 2">
            <a:extLst>
              <a:ext uri="{FF2B5EF4-FFF2-40B4-BE49-F238E27FC236}">
                <a16:creationId xmlns:a16="http://schemas.microsoft.com/office/drawing/2014/main" id="{EE4365B4-B828-340E-3FBE-1BAC4C419F39}"/>
              </a:ext>
            </a:extLst>
          </p:cNvPr>
          <p:cNvSpPr txBox="1">
            <a:spLocks/>
          </p:cNvSpPr>
          <p:nvPr>
            <p:custDataLst>
              <p:tags r:id="rId19"/>
            </p:custDataLst>
          </p:nvPr>
        </p:nvSpPr>
        <p:spPr>
          <a:xfrm>
            <a:off x="8047967" y="1905000"/>
            <a:ext cx="1823317" cy="640080"/>
          </a:xfrm>
          <a:prstGeom prst="rect">
            <a:avLst/>
          </a:prstGeom>
        </p:spPr>
        <p:txBody>
          <a:bodyPr vert="horz" lIns="0" tIns="45720" rIns="91440" bIns="45720" rtlCol="0" anchor="t">
            <a:noAutofit/>
          </a:bodyPr>
          <a:lstStyle>
            <a:defPPr>
              <a:defRPr lang="en-US"/>
            </a:defPPr>
            <a:lvl1pPr marR="0" lvl="0" indent="9525" defTabSz="914354" fontAlgn="auto">
              <a:lnSpc>
                <a:spcPct val="100000"/>
              </a:lnSpc>
              <a:spcBef>
                <a:spcPts val="12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Token Issuance and Validation</a:t>
            </a:r>
          </a:p>
        </p:txBody>
      </p:sp>
      <p:sp>
        <p:nvSpPr>
          <p:cNvPr id="61" name="Content Placeholder 1">
            <a:extLst>
              <a:ext uri="{FF2B5EF4-FFF2-40B4-BE49-F238E27FC236}">
                <a16:creationId xmlns:a16="http://schemas.microsoft.com/office/drawing/2014/main" id="{335EB1A5-E7E0-DECC-1F6A-D352BE673D96}"/>
              </a:ext>
            </a:extLst>
          </p:cNvPr>
          <p:cNvSpPr txBox="1">
            <a:spLocks/>
          </p:cNvSpPr>
          <p:nvPr>
            <p:custDataLst>
              <p:tags r:id="rId20"/>
            </p:custDataLst>
          </p:nvPr>
        </p:nvSpPr>
        <p:spPr>
          <a:xfrm>
            <a:off x="8047967" y="4721024"/>
            <a:ext cx="1823317" cy="1463040"/>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7488">
              <a:lnSpc>
                <a:spcPct val="85000"/>
              </a:lnSpc>
              <a:spcBef>
                <a:spcPts val="0"/>
              </a:spcBef>
              <a:spcAft>
                <a:spcPts val="400"/>
              </a:spcAft>
            </a:pPr>
            <a:r>
              <a:rPr lang="en-US" sz="1200" noProof="1">
                <a:solidFill>
                  <a:schemeClr val="tx2"/>
                </a:solidFill>
                <a:latin typeface="+mn-lt"/>
              </a:rPr>
              <a:t>OIDC tokens issued
User role and consent data
Session state saved in global DB</a:t>
            </a:r>
          </a:p>
        </p:txBody>
      </p:sp>
      <p:sp>
        <p:nvSpPr>
          <p:cNvPr id="64" name="Content Placeholder 1">
            <a:extLst>
              <a:ext uri="{FF2B5EF4-FFF2-40B4-BE49-F238E27FC236}">
                <a16:creationId xmlns:a16="http://schemas.microsoft.com/office/drawing/2014/main" id="{9A3816E4-1623-CB87-0CA9-80EDAE9736E1}"/>
              </a:ext>
            </a:extLst>
          </p:cNvPr>
          <p:cNvSpPr txBox="1">
            <a:spLocks/>
          </p:cNvSpPr>
          <p:nvPr>
            <p:custDataLst>
              <p:tags r:id="rId21"/>
            </p:custDataLst>
          </p:nvPr>
        </p:nvSpPr>
        <p:spPr>
          <a:xfrm>
            <a:off x="9955696" y="2983664"/>
            <a:ext cx="1823317" cy="1737360"/>
          </a:xfrm>
          <a:prstGeom prst="rect">
            <a:avLst/>
          </a:prstGeom>
        </p:spPr>
        <p:txBody>
          <a:bodyPr vert="horz" lIns="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200" b="0" i="0" u="none" strike="noStrike" kern="1200" cap="none" spc="0" normalizeH="0" baseline="0" noProof="1">
                <a:ln>
                  <a:noFill/>
                </a:ln>
                <a:effectLst/>
                <a:uLnTx/>
                <a:uFillTx/>
                <a:ea typeface="+mn-ea"/>
                <a:cs typeface="Arial" panose="020B0604020202020204" pitchFamily="34" charset="0"/>
              </a:rPr>
              <a:t>User presents access tokens to Cloudflare, which enforces identity and device posture policies, then connects to the private app with optional token introspection by the app.</a:t>
            </a:r>
          </a:p>
        </p:txBody>
      </p:sp>
      <p:sp>
        <p:nvSpPr>
          <p:cNvPr id="65" name="Text Placeholder 2">
            <a:extLst>
              <a:ext uri="{FF2B5EF4-FFF2-40B4-BE49-F238E27FC236}">
                <a16:creationId xmlns:a16="http://schemas.microsoft.com/office/drawing/2014/main" id="{77865A2F-EA54-621B-25F9-DEBFEBBE7432}"/>
              </a:ext>
            </a:extLst>
          </p:cNvPr>
          <p:cNvSpPr txBox="1">
            <a:spLocks/>
          </p:cNvSpPr>
          <p:nvPr>
            <p:custDataLst>
              <p:tags r:id="rId22"/>
            </p:custDataLst>
          </p:nvPr>
        </p:nvSpPr>
        <p:spPr>
          <a:xfrm>
            <a:off x="9955696" y="1905000"/>
            <a:ext cx="1823317" cy="640080"/>
          </a:xfrm>
          <a:prstGeom prst="rect">
            <a:avLst/>
          </a:prstGeom>
        </p:spPr>
        <p:txBody>
          <a:bodyPr vert="horz" lIns="0" tIns="45720" rIns="91440" bIns="45720" rtlCol="0" anchor="t">
            <a:noAutofit/>
          </a:bodyPr>
          <a:lstStyle>
            <a:defPPr>
              <a:defRPr lang="en-US"/>
            </a:defPPr>
            <a:lvl1pPr marR="0" lvl="0" indent="9525" defTabSz="914354" fontAlgn="auto">
              <a:lnSpc>
                <a:spcPct val="100000"/>
              </a:lnSpc>
              <a:spcBef>
                <a:spcPts val="12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Identity-Aware Access to App</a:t>
            </a:r>
          </a:p>
        </p:txBody>
      </p:sp>
      <p:sp>
        <p:nvSpPr>
          <p:cNvPr id="66" name="Content Placeholder 1">
            <a:extLst>
              <a:ext uri="{FF2B5EF4-FFF2-40B4-BE49-F238E27FC236}">
                <a16:creationId xmlns:a16="http://schemas.microsoft.com/office/drawing/2014/main" id="{7ACB32DB-E572-2701-7C6A-CD002BD43AF0}"/>
              </a:ext>
            </a:extLst>
          </p:cNvPr>
          <p:cNvSpPr txBox="1">
            <a:spLocks/>
          </p:cNvSpPr>
          <p:nvPr>
            <p:custDataLst>
              <p:tags r:id="rId23"/>
            </p:custDataLst>
          </p:nvPr>
        </p:nvSpPr>
        <p:spPr>
          <a:xfrm>
            <a:off x="9955696" y="4721024"/>
            <a:ext cx="1823317" cy="1463040"/>
          </a:xfrm>
          <a:prstGeom prst="rect">
            <a:avLst/>
          </a:prstGeom>
        </p:spPr>
        <p:txBody>
          <a:bodyPr vert="horz" lIns="0" tIns="45720" rIns="91440" bIns="45720" rtlCol="0">
            <a:normAutofit/>
          </a:bodyPr>
          <a:lstStyle>
            <a:lvl1pPr marL="296863"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1pPr>
            <a:lvl2pPr marL="6286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2pPr>
            <a:lvl3pPr marL="10858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3pPr>
            <a:lvl4pPr marL="1543050"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4pPr>
            <a:lvl5pPr marL="2001838" indent="-285750" algn="l" defTabSz="914377" rtl="0" eaLnBrk="1" latinLnBrk="0" hangingPunct="1">
              <a:lnSpc>
                <a:spcPct val="150000"/>
              </a:lnSpc>
              <a:spcBef>
                <a:spcPts val="1200"/>
              </a:spcBef>
              <a:buFont typeface="Arial" panose="020B0604020202020204" pitchFamily="34" charset="0"/>
              <a:buChar char="•"/>
              <a:tabLst/>
              <a:defRPr sz="1600" kern="1200">
                <a:solidFill>
                  <a:schemeClr val="tx1"/>
                </a:solidFill>
                <a:latin typeface="Franklin Gothic Book" panose="020B05030201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7488">
              <a:lnSpc>
                <a:spcPct val="85000"/>
              </a:lnSpc>
              <a:spcBef>
                <a:spcPts val="0"/>
              </a:spcBef>
              <a:spcAft>
                <a:spcPts val="400"/>
              </a:spcAft>
            </a:pPr>
            <a:r>
              <a:rPr lang="en-US" sz="1200" noProof="1">
                <a:solidFill>
                  <a:schemeClr val="tx2"/>
                </a:solidFill>
                <a:latin typeface="+mn-lt"/>
              </a:rPr>
              <a:t>Access token validation logs
ZTNA connection events
Authorized app content delivery</a:t>
            </a:r>
          </a:p>
        </p:txBody>
      </p:sp>
      <p:sp>
        <p:nvSpPr>
          <p:cNvPr id="68" name="TextBox 67">
            <a:extLst>
              <a:ext uri="{FF2B5EF4-FFF2-40B4-BE49-F238E27FC236}">
                <a16:creationId xmlns:a16="http://schemas.microsoft.com/office/drawing/2014/main" id="{70DB6F54-7D40-F3E6-C14E-F7B36A0DC47F}"/>
              </a:ext>
            </a:extLst>
          </p:cNvPr>
          <p:cNvSpPr txBox="1"/>
          <p:nvPr/>
        </p:nvSpPr>
        <p:spPr>
          <a:xfrm>
            <a:off x="9955696" y="1485900"/>
            <a:ext cx="734291" cy="369332"/>
          </a:xfrm>
          <a:prstGeom prst="rect">
            <a:avLst/>
          </a:prstGeom>
          <a:noFill/>
        </p:spPr>
        <p:txBody>
          <a:bodyPr wrap="square" lIns="0" rtlCol="0">
            <a:spAutoFit/>
          </a:bodyPr>
          <a:lstStyle/>
          <a:p>
            <a:r>
              <a:rPr lang="en-US" b="1" noProof="1">
                <a:solidFill>
                  <a:schemeClr val="accent1"/>
                </a:solidFill>
              </a:rPr>
              <a:t>06</a:t>
            </a:r>
          </a:p>
        </p:txBody>
      </p:sp>
      <p:sp>
        <p:nvSpPr>
          <p:cNvPr id="69" name="Oval 68">
            <a:extLst>
              <a:ext uri="{FF2B5EF4-FFF2-40B4-BE49-F238E27FC236}">
                <a16:creationId xmlns:a16="http://schemas.microsoft.com/office/drawing/2014/main" id="{D756A1E2-EE70-18F3-32B0-4F9A8C6FFE3D}"/>
              </a:ext>
            </a:extLst>
          </p:cNvPr>
          <p:cNvSpPr/>
          <p:nvPr/>
        </p:nvSpPr>
        <p:spPr>
          <a:xfrm>
            <a:off x="9955696" y="2617052"/>
            <a:ext cx="137160" cy="13716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351" noProof="1"/>
          </a:p>
        </p:txBody>
      </p:sp>
    </p:spTree>
    <p:extLst>
      <p:ext uri="{BB962C8B-B14F-4D97-AF65-F5344CB8AC3E}">
        <p14:creationId xmlns:p14="http://schemas.microsoft.com/office/powerpoint/2010/main" val="4075002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B2A48F0B-9D22-BC46-F77B-D03A0BCB9AD0}"/>
              </a:ext>
            </a:extLst>
          </p:cNvPr>
          <p:cNvPicPr>
            <a:picLocks noChangeAspect="1"/>
          </p:cNvPicPr>
          <p:nvPr>
            <p:custDataLst>
              <p:tags r:id="rId1"/>
            </p:custDataLst>
          </p:nvPr>
        </p:nvPicPr>
        <p:blipFill rotWithShape="1">
          <a:blip r:embed="rId9" cstate="screen">
            <a:extLst>
              <a:ext uri="{28A0092B-C50C-407E-A947-70E740481C1C}">
                <a14:useLocalDpi xmlns:a14="http://schemas.microsoft.com/office/drawing/2010/main"/>
              </a:ext>
            </a:extLst>
          </a:blip>
          <a:srcRect l="4761" r="4761"/>
          <a:stretch/>
        </p:blipFill>
        <p:spPr>
          <a:xfrm>
            <a:off x="6172200" y="228600"/>
            <a:ext cx="5791200" cy="6400800"/>
          </a:xfrm>
          <a:prstGeom prst="roundRect">
            <a:avLst>
              <a:gd name="adj" fmla="val 933"/>
            </a:avLst>
          </a:prstGeom>
        </p:spPr>
      </p:pic>
      <p:sp>
        <p:nvSpPr>
          <p:cNvPr id="11" name="Title 1">
            <a:extLst>
              <a:ext uri="{FF2B5EF4-FFF2-40B4-BE49-F238E27FC236}">
                <a16:creationId xmlns:a16="http://schemas.microsoft.com/office/drawing/2014/main" id="{20EE126A-B949-8840-A7CF-D8BF1CA6462F}"/>
              </a:ext>
            </a:extLst>
          </p:cNvPr>
          <p:cNvSpPr txBox="1">
            <a:spLocks/>
          </p:cNvSpPr>
          <p:nvPr>
            <p:custDataLst>
              <p:tags r:id="rId2"/>
            </p:custDataLst>
          </p:nvPr>
        </p:nvSpPr>
        <p:spPr>
          <a:xfrm>
            <a:off x="419099" y="629392"/>
            <a:ext cx="5303520" cy="4323608"/>
          </a:xfrm>
          <a:prstGeom prst="rect">
            <a:avLst/>
          </a:prstGeom>
        </p:spPr>
        <p:txBody>
          <a:bodyPr vert="horz" lIns="0" tIns="91440" rIns="91440" bIns="45720" rtlCol="0" anchor="t">
            <a:normAutofit/>
          </a:bodyPr>
          <a:lst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85000"/>
              </a:lnSpc>
            </a:pPr>
            <a:r>
              <a:rPr lang="en-US" sz="4800" noProof="1"/>
              <a:t>OIDC is the essential identity protocol for modern applications, APIs, and mobile environments.</a:t>
            </a:r>
          </a:p>
        </p:txBody>
      </p:sp>
      <p:grpSp>
        <p:nvGrpSpPr>
          <p:cNvPr id="4" name="Group 3">
            <a:extLst>
              <a:ext uri="{FF2B5EF4-FFF2-40B4-BE49-F238E27FC236}">
                <a16:creationId xmlns:a16="http://schemas.microsoft.com/office/drawing/2014/main" id="{3B88C73B-EED1-B013-DD28-EB9BC43BF76E}"/>
              </a:ext>
            </a:extLst>
          </p:cNvPr>
          <p:cNvGrpSpPr/>
          <p:nvPr>
            <p:custDataLst>
              <p:tags r:id="rId3"/>
            </p:custDataLst>
          </p:nvPr>
        </p:nvGrpSpPr>
        <p:grpSpPr>
          <a:xfrm>
            <a:off x="9485207" y="5425840"/>
            <a:ext cx="2576145" cy="1301528"/>
            <a:chOff x="5326996" y="628184"/>
            <a:chExt cx="2576145" cy="1301528"/>
          </a:xfrm>
        </p:grpSpPr>
        <p:sp>
          <p:nvSpPr>
            <p:cNvPr id="5" name="Rounded Rectangle 4">
              <a:extLst>
                <a:ext uri="{FF2B5EF4-FFF2-40B4-BE49-F238E27FC236}">
                  <a16:creationId xmlns:a16="http://schemas.microsoft.com/office/drawing/2014/main" id="{98FA4788-3E63-F2F9-E9D5-A6A7D2975035}"/>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6" name="Graphic 5">
              <a:extLst>
                <a:ext uri="{FF2B5EF4-FFF2-40B4-BE49-F238E27FC236}">
                  <a16:creationId xmlns:a16="http://schemas.microsoft.com/office/drawing/2014/main" id="{E36E1BD7-A8F6-463F-548F-F540C475690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40548" y="734271"/>
              <a:ext cx="219238" cy="219238"/>
            </a:xfrm>
            <a:prstGeom prst="rect">
              <a:avLst/>
            </a:prstGeom>
          </p:spPr>
        </p:pic>
        <p:sp>
          <p:nvSpPr>
            <p:cNvPr id="7" name="Freeform 6">
              <a:extLst>
                <a:ext uri="{FF2B5EF4-FFF2-40B4-BE49-F238E27FC236}">
                  <a16:creationId xmlns:a16="http://schemas.microsoft.com/office/drawing/2014/main" id="{B0AD4DC3-4C33-FABF-1341-EE86B584B57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8" name="TextBox 7">
            <a:extLst>
              <a:ext uri="{FF2B5EF4-FFF2-40B4-BE49-F238E27FC236}">
                <a16:creationId xmlns:a16="http://schemas.microsoft.com/office/drawing/2014/main" id="{D2B5F4B9-B00C-9B0F-0831-BF5A784D0DE9}"/>
              </a:ext>
            </a:extLst>
          </p:cNvPr>
          <p:cNvSpPr txBox="1"/>
          <p:nvPr>
            <p:custDataLst>
              <p:tags r:id="rId4"/>
            </p:custDataLst>
          </p:nvPr>
        </p:nvSpPr>
        <p:spPr>
          <a:xfrm>
            <a:off x="9597193" y="5806092"/>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Tailor examples to your engineering team's current app stack to highlight OIDC benefits in your environment.</a:t>
            </a:r>
          </a:p>
        </p:txBody>
      </p:sp>
      <p:sp>
        <p:nvSpPr>
          <p:cNvPr id="10" name="TextBox 9">
            <a:extLst>
              <a:ext uri="{FF2B5EF4-FFF2-40B4-BE49-F238E27FC236}">
                <a16:creationId xmlns:a16="http://schemas.microsoft.com/office/drawing/2014/main" id="{D13A4EB0-CD1E-456A-A3DD-D9F599AC5705}"/>
              </a:ext>
            </a:extLst>
          </p:cNvPr>
          <p:cNvSpPr txBox="1"/>
          <p:nvPr>
            <p:custDataLst>
              <p:tags r:id="rId5"/>
            </p:custDataLst>
          </p:nvPr>
        </p:nvSpPr>
        <p:spPr>
          <a:xfrm>
            <a:off x="419100" y="265211"/>
            <a:ext cx="3581400" cy="304800"/>
          </a:xfrm>
          <a:prstGeom prst="rect">
            <a:avLst/>
          </a:prstGeom>
          <a:noFill/>
        </p:spPr>
        <p:txBody>
          <a:bodyPr wrap="square" lIns="0">
            <a:normAutofit/>
          </a:bodyPr>
          <a:lstStyle/>
          <a:p>
            <a:r>
              <a:rPr lang="en-US" sz="1400" noProof="1">
                <a:solidFill>
                  <a:schemeClr val="tx2"/>
                </a:solidFill>
              </a:rPr>
              <a:t>Practical Guidance</a:t>
            </a:r>
          </a:p>
        </p:txBody>
      </p:sp>
      <p:sp>
        <p:nvSpPr>
          <p:cNvPr id="12" name="Content Placeholder 2">
            <a:extLst>
              <a:ext uri="{FF2B5EF4-FFF2-40B4-BE49-F238E27FC236}">
                <a16:creationId xmlns:a16="http://schemas.microsoft.com/office/drawing/2014/main" id="{49B2C6EE-F622-AED6-1324-A4DE043074E3}"/>
              </a:ext>
            </a:extLst>
          </p:cNvPr>
          <p:cNvSpPr txBox="1">
            <a:spLocks/>
          </p:cNvSpPr>
          <p:nvPr>
            <p:custDataLst>
              <p:tags r:id="rId6"/>
            </p:custDataLst>
          </p:nvPr>
        </p:nvSpPr>
        <p:spPr>
          <a:xfrm>
            <a:off x="419100" y="4953000"/>
            <a:ext cx="5600701" cy="1343902"/>
          </a:xfrm>
          <a:prstGeom prst="rect">
            <a:avLst/>
          </a:prstGeom>
        </p:spPr>
        <p:txBody>
          <a:bodyPr lIns="0" anchor="b">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buFont typeface="Arial" panose="020B0604020202020204" pitchFamily="34" charset="0"/>
              <a:buNone/>
            </a:pPr>
            <a:r>
              <a:rPr lang="en-US" sz="1400" noProof="1">
                <a:solidFill>
                  <a:schemeClr val="tx2"/>
                </a:solidFill>
              </a:rPr>
              <a:t>OIDC enables seamless SSO, standardized token-based auth, and broad compatibility with cloud-native &amp; SaaS ecosystems. It simplifies integration, boosts security with JWTs &amp; scopes, and supports delegated authorization, making it key for any IDaaS solution.</a:t>
            </a:r>
          </a:p>
        </p:txBody>
      </p:sp>
      <p:sp>
        <p:nvSpPr>
          <p:cNvPr id="9" name="Rectangle 8">
            <a:extLst>
              <a:ext uri="{FF2B5EF4-FFF2-40B4-BE49-F238E27FC236}">
                <a16:creationId xmlns:a16="http://schemas.microsoft.com/office/drawing/2014/main" id="{C9079E7F-25BE-2D67-5B7F-53D698D0CE91}"/>
              </a:ext>
            </a:extLst>
          </p:cNvPr>
          <p:cNvSpPr/>
          <p:nvPr>
            <p:custDataLst>
              <p:tags r:id="rId7"/>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034595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C90FA3C8-A36C-3602-963B-54B56E9262DE}"/>
              </a:ext>
            </a:extLst>
          </p:cNvPr>
          <p:cNvSpPr/>
          <p:nvPr/>
        </p:nvSpPr>
        <p:spPr>
          <a:xfrm>
            <a:off x="228600" y="1485900"/>
            <a:ext cx="3767328" cy="4742622"/>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20" name="Rounded Rectangle 19">
            <a:extLst>
              <a:ext uri="{FF2B5EF4-FFF2-40B4-BE49-F238E27FC236}">
                <a16:creationId xmlns:a16="http://schemas.microsoft.com/office/drawing/2014/main" id="{6213C53E-9AD5-BBC6-EA70-379046530CCA}"/>
              </a:ext>
            </a:extLst>
          </p:cNvPr>
          <p:cNvSpPr/>
          <p:nvPr/>
        </p:nvSpPr>
        <p:spPr>
          <a:xfrm>
            <a:off x="4212336" y="1485900"/>
            <a:ext cx="3767328" cy="4742622"/>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21" name="Rounded Rectangle 20">
            <a:extLst>
              <a:ext uri="{FF2B5EF4-FFF2-40B4-BE49-F238E27FC236}">
                <a16:creationId xmlns:a16="http://schemas.microsoft.com/office/drawing/2014/main" id="{B8A74256-C68F-EC0F-C123-5E2257BD9CAC}"/>
              </a:ext>
            </a:extLst>
          </p:cNvPr>
          <p:cNvSpPr/>
          <p:nvPr/>
        </p:nvSpPr>
        <p:spPr>
          <a:xfrm>
            <a:off x="8196072" y="1485900"/>
            <a:ext cx="3767328" cy="4742622"/>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1"/>
            </p:custDataLst>
          </p:nvPr>
        </p:nvSpPr>
        <p:spPr>
          <a:xfrm>
            <a:off x="419099" y="2095017"/>
            <a:ext cx="3398553" cy="482600"/>
          </a:xfrm>
        </p:spPr>
        <p:txBody>
          <a:bodyPr vert="horz" lIns="0" tIns="45720" rIns="91440" bIns="45720" rtlCol="0" anchor="t">
            <a:noAutofit/>
          </a:bodyPr>
          <a:lstStyle/>
          <a:p>
            <a:pPr indent="9525"/>
            <a:r>
              <a:rPr lang="en-US" sz="1800" noProof="1">
                <a:latin typeface="+mj-lt"/>
              </a:rPr>
              <a:t>Legacy Applications</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2"/>
            </p:custDataLst>
          </p:nvPr>
        </p:nvSpPr>
        <p:spPr>
          <a:xfrm>
            <a:off x="4390613" y="2095017"/>
            <a:ext cx="3398553" cy="482600"/>
          </a:xfrm>
        </p:spPr>
        <p:txBody>
          <a:bodyPr vert="horz" lIns="0" tIns="45720" rIns="91440" bIns="45720" rtlCol="0" anchor="t">
            <a:normAutofit/>
          </a:bodyPr>
          <a:lstStyle/>
          <a:p>
            <a:pPr indent="9525"/>
            <a:r>
              <a:rPr lang="en-US" sz="1800" noProof="1">
                <a:latin typeface="+mj-lt"/>
              </a:rPr>
              <a:t>Linux PAM and SSH</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3"/>
            </p:custDataLst>
          </p:nvPr>
        </p:nvSpPr>
        <p:spPr>
          <a:xfrm>
            <a:off x="8374349" y="2095017"/>
            <a:ext cx="3398553" cy="482600"/>
          </a:xfrm>
        </p:spPr>
        <p:txBody>
          <a:bodyPr vert="horz" lIns="0" tIns="45720" rIns="91440" bIns="45720" rtlCol="0" anchor="t">
            <a:normAutofit/>
          </a:bodyPr>
          <a:lstStyle/>
          <a:p>
            <a:pPr indent="9525"/>
            <a:r>
              <a:rPr lang="en-US" sz="1800" noProof="1">
                <a:latin typeface="+mj-lt"/>
              </a:rPr>
              <a:t>Customer AD Interoperability</a:t>
            </a:r>
          </a:p>
        </p:txBody>
      </p:sp>
      <p:sp>
        <p:nvSpPr>
          <p:cNvPr id="6" name="TextBox 5">
            <a:extLst>
              <a:ext uri="{FF2B5EF4-FFF2-40B4-BE49-F238E27FC236}">
                <a16:creationId xmlns:a16="http://schemas.microsoft.com/office/drawing/2014/main" id="{55E86647-9AF3-76EA-4086-97B687CF72CC}"/>
              </a:ext>
            </a:extLst>
          </p:cNvPr>
          <p:cNvSpPr txBox="1"/>
          <p:nvPr>
            <p:custDataLst>
              <p:tags r:id="rId4"/>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Guidance</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5"/>
            </p:custDataLst>
          </p:nvPr>
        </p:nvSpPr>
        <p:spPr/>
        <p:txBody>
          <a:bodyPr lIns="0">
            <a:normAutofit/>
          </a:bodyPr>
          <a:lstStyle/>
          <a:p>
            <a:r>
              <a:rPr lang="en-US" noProof="1"/>
              <a:t>Practical Guidance: When to Add LDAP</a:t>
            </a:r>
          </a:p>
        </p:txBody>
      </p:sp>
      <p:sp>
        <p:nvSpPr>
          <p:cNvPr id="26" name="Content Placeholder 25">
            <a:extLst>
              <a:ext uri="{FF2B5EF4-FFF2-40B4-BE49-F238E27FC236}">
                <a16:creationId xmlns:a16="http://schemas.microsoft.com/office/drawing/2014/main" id="{E788DD44-AE73-33B6-4635-9B8D5137E607}"/>
              </a:ext>
            </a:extLst>
          </p:cNvPr>
          <p:cNvSpPr>
            <a:spLocks noGrp="1"/>
          </p:cNvSpPr>
          <p:nvPr>
            <p:ph sz="half" idx="1"/>
            <p:custDataLst>
              <p:tags r:id="rId6"/>
            </p:custDataLst>
          </p:nvPr>
        </p:nvSpPr>
        <p:spPr>
          <a:xfrm>
            <a:off x="419099" y="2615878"/>
            <a:ext cx="3398553" cy="3606800"/>
          </a:xfrm>
        </p:spPr>
        <p:txBody>
          <a:bodyPr vert="horz" lIns="0" tIns="45720" rIns="91440" bIns="45720" rtlCol="0">
            <a:normAutofit/>
          </a:bodyPr>
          <a:lstStyle/>
          <a:p>
            <a:pPr marL="11113" indent="0">
              <a:lnSpc>
                <a:spcPct val="114000"/>
              </a:lnSpc>
              <a:spcBef>
                <a:spcPts val="1000"/>
              </a:spcBef>
              <a:buNone/>
            </a:pPr>
            <a:r>
              <a:rPr lang="en-US" noProof="1"/>
              <a:t>Include LDAP when you have legacy apps that only support LDAP bind authentication or expect POSIX group membership for access control.</a:t>
            </a:r>
          </a:p>
        </p:txBody>
      </p:sp>
      <p:sp>
        <p:nvSpPr>
          <p:cNvPr id="28" name="Content Placeholder 27">
            <a:extLst>
              <a:ext uri="{FF2B5EF4-FFF2-40B4-BE49-F238E27FC236}">
                <a16:creationId xmlns:a16="http://schemas.microsoft.com/office/drawing/2014/main" id="{F595EC02-957F-FE81-2C9F-5A8C787B445F}"/>
              </a:ext>
            </a:extLst>
          </p:cNvPr>
          <p:cNvSpPr>
            <a:spLocks noGrp="1"/>
          </p:cNvSpPr>
          <p:nvPr>
            <p:ph sz="half" idx="2"/>
            <p:custDataLst>
              <p:tags r:id="rId7"/>
            </p:custDataLst>
          </p:nvPr>
        </p:nvSpPr>
        <p:spPr>
          <a:xfrm>
            <a:off x="4390612" y="2615878"/>
            <a:ext cx="3398553" cy="3606800"/>
          </a:xfrm>
        </p:spPr>
        <p:txBody>
          <a:bodyPr vert="horz" lIns="0" tIns="45720" rIns="91440" bIns="45720" rtlCol="0">
            <a:normAutofit/>
          </a:bodyPr>
          <a:lstStyle/>
          <a:p>
            <a:pPr marL="11113" indent="0">
              <a:lnSpc>
                <a:spcPct val="114000"/>
              </a:lnSpc>
              <a:spcBef>
                <a:spcPts val="1000"/>
              </a:spcBef>
              <a:buNone/>
            </a:pPr>
            <a:r>
              <a:rPr lang="en-US" noProof="1"/>
              <a:t>Use LDAP to enable Linux PAM and SSH authentication against directory groups, supporting MFA via SSH CA or PAM modules for secure access.</a:t>
            </a:r>
          </a:p>
        </p:txBody>
      </p:sp>
      <p:sp>
        <p:nvSpPr>
          <p:cNvPr id="30" name="Content Placeholder 29">
            <a:extLst>
              <a:ext uri="{FF2B5EF4-FFF2-40B4-BE49-F238E27FC236}">
                <a16:creationId xmlns:a16="http://schemas.microsoft.com/office/drawing/2014/main" id="{262DC19F-B03F-FD9C-64D4-837E89CE392B}"/>
              </a:ext>
            </a:extLst>
          </p:cNvPr>
          <p:cNvSpPr>
            <a:spLocks noGrp="1"/>
          </p:cNvSpPr>
          <p:nvPr>
            <p:ph sz="half" idx="13"/>
            <p:custDataLst>
              <p:tags r:id="rId8"/>
            </p:custDataLst>
          </p:nvPr>
        </p:nvSpPr>
        <p:spPr>
          <a:xfrm>
            <a:off x="8374348" y="2615878"/>
            <a:ext cx="3398553" cy="3606800"/>
          </a:xfrm>
        </p:spPr>
        <p:txBody>
          <a:bodyPr vert="horz" lIns="0" tIns="45720" rIns="91440" bIns="45720" rtlCol="0">
            <a:normAutofit/>
          </a:bodyPr>
          <a:lstStyle/>
          <a:p>
            <a:pPr marL="11113" indent="0">
              <a:lnSpc>
                <a:spcPct val="114000"/>
              </a:lnSpc>
              <a:spcBef>
                <a:spcPts val="1000"/>
              </a:spcBef>
              <a:buNone/>
            </a:pPr>
            <a:r>
              <a:rPr lang="en-US" noProof="1"/>
              <a:t>Add LDAP support to federate or synchronize with external customer Active Directory/LDAP without forcing immediate modernization.</a:t>
            </a:r>
          </a:p>
        </p:txBody>
      </p:sp>
      <p:pic>
        <p:nvPicPr>
          <p:cNvPr id="2" name="Graphic 1">
            <a:extLst>
              <a:ext uri="{FF2B5EF4-FFF2-40B4-BE49-F238E27FC236}">
                <a16:creationId xmlns:a16="http://schemas.microsoft.com/office/drawing/2014/main" id="{E3FC04D7-DF74-EAEF-A079-8CDDD1212E33}"/>
              </a:ext>
            </a:extLst>
          </p:cNvPr>
          <p:cNvPicPr>
            <a:picLocks noChangeAspect="1"/>
          </p:cNvPicPr>
          <p:nvPr>
            <p:custDataLst>
              <p:tags r:id="rId9"/>
            </p:custDataLst>
          </p:nvPr>
        </p:nvPicPr>
        <p:blipFill>
          <a:blip r:embed="rId16">
            <a:extLst>
              <a:ext uri="{96DAC541-7B7A-43D3-8B79-37D633B846F1}">
                <asvg:svgBlip xmlns:asvg="http://schemas.microsoft.com/office/drawing/2016/SVG/main" r:embed="rId17"/>
              </a:ext>
            </a:extLst>
          </a:blip>
          <a:stretch>
            <a:fillRect/>
          </a:stretch>
        </p:blipFill>
        <p:spPr>
          <a:xfrm>
            <a:off x="419099" y="1688555"/>
            <a:ext cx="279400" cy="279400"/>
          </a:xfrm>
          <a:prstGeom prst="rect">
            <a:avLst/>
          </a:prstGeom>
        </p:spPr>
      </p:pic>
      <p:pic>
        <p:nvPicPr>
          <p:cNvPr id="3" name="Graphic 2">
            <a:extLst>
              <a:ext uri="{FF2B5EF4-FFF2-40B4-BE49-F238E27FC236}">
                <a16:creationId xmlns:a16="http://schemas.microsoft.com/office/drawing/2014/main" id="{0BE79A65-097C-8A7C-4AF9-DB94D47BA144}"/>
              </a:ext>
            </a:extLst>
          </p:cNvPr>
          <p:cNvPicPr>
            <a:picLocks noChangeAspect="1"/>
          </p:cNvPicPr>
          <p:nvPr>
            <p:custDataLst>
              <p:tags r:id="rId10"/>
            </p:custDataLst>
          </p:nvPr>
        </p:nvPicPr>
        <p:blipFill>
          <a:blip r:embed="rId18">
            <a:extLst>
              <a:ext uri="{96DAC541-7B7A-43D3-8B79-37D633B846F1}">
                <asvg:svgBlip xmlns:asvg="http://schemas.microsoft.com/office/drawing/2016/SVG/main" r:embed="rId19"/>
              </a:ext>
            </a:extLst>
          </a:blip>
          <a:stretch>
            <a:fillRect/>
          </a:stretch>
        </p:blipFill>
        <p:spPr>
          <a:xfrm>
            <a:off x="4390613" y="1688555"/>
            <a:ext cx="279400" cy="279400"/>
          </a:xfrm>
          <a:prstGeom prst="rect">
            <a:avLst/>
          </a:prstGeom>
        </p:spPr>
      </p:pic>
      <p:pic>
        <p:nvPicPr>
          <p:cNvPr id="4" name="Graphic 3">
            <a:extLst>
              <a:ext uri="{FF2B5EF4-FFF2-40B4-BE49-F238E27FC236}">
                <a16:creationId xmlns:a16="http://schemas.microsoft.com/office/drawing/2014/main" id="{86D461B6-F714-B7A1-83DC-DE3225C87EE5}"/>
              </a:ext>
            </a:extLst>
          </p:cNvPr>
          <p:cNvPicPr>
            <a:picLocks noChangeAspect="1"/>
          </p:cNvPicPr>
          <p:nvPr>
            <p:custDataLst>
              <p:tags r:id="rId11"/>
            </p:custDataLst>
          </p:nvPr>
        </p:nvPicPr>
        <p:blipFill>
          <a:blip r:embed="rId20">
            <a:extLst>
              <a:ext uri="{96DAC541-7B7A-43D3-8B79-37D633B846F1}">
                <asvg:svgBlip xmlns:asvg="http://schemas.microsoft.com/office/drawing/2016/SVG/main" r:embed="rId21"/>
              </a:ext>
            </a:extLst>
          </a:blip>
          <a:stretch>
            <a:fillRect/>
          </a:stretch>
        </p:blipFill>
        <p:spPr>
          <a:xfrm>
            <a:off x="8374349" y="1688555"/>
            <a:ext cx="279400" cy="279400"/>
          </a:xfrm>
          <a:prstGeom prst="rect">
            <a:avLst/>
          </a:prstGeom>
        </p:spPr>
      </p:pic>
      <p:sp>
        <p:nvSpPr>
          <p:cNvPr id="5" name="Rectangle 4">
            <a:extLst>
              <a:ext uri="{FF2B5EF4-FFF2-40B4-BE49-F238E27FC236}">
                <a16:creationId xmlns:a16="http://schemas.microsoft.com/office/drawing/2014/main" id="{8D2268AB-E8C5-2A5E-70EE-7C153DFBCCA0}"/>
              </a:ext>
            </a:extLst>
          </p:cNvPr>
          <p:cNvSpPr/>
          <p:nvPr>
            <p:custDataLst>
              <p:tags r:id="rId12"/>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12" name="Group 11">
            <a:extLst>
              <a:ext uri="{FF2B5EF4-FFF2-40B4-BE49-F238E27FC236}">
                <a16:creationId xmlns:a16="http://schemas.microsoft.com/office/drawing/2014/main" id="{9366DDD8-7C4B-DBD4-2C4F-19BAF191192A}"/>
              </a:ext>
            </a:extLst>
          </p:cNvPr>
          <p:cNvGrpSpPr/>
          <p:nvPr>
            <p:custDataLst>
              <p:tags r:id="rId13"/>
            </p:custDataLst>
          </p:nvPr>
        </p:nvGrpSpPr>
        <p:grpSpPr>
          <a:xfrm>
            <a:off x="9440602" y="162617"/>
            <a:ext cx="2576145" cy="1301528"/>
            <a:chOff x="5326996" y="628184"/>
            <a:chExt cx="2576145" cy="1301528"/>
          </a:xfrm>
        </p:grpSpPr>
        <p:sp>
          <p:nvSpPr>
            <p:cNvPr id="16" name="Rounded Rectangle 15">
              <a:extLst>
                <a:ext uri="{FF2B5EF4-FFF2-40B4-BE49-F238E27FC236}">
                  <a16:creationId xmlns:a16="http://schemas.microsoft.com/office/drawing/2014/main" id="{60F4305B-E991-5013-871F-0EEE27976B78}"/>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7" name="Graphic 16">
              <a:extLst>
                <a:ext uri="{FF2B5EF4-FFF2-40B4-BE49-F238E27FC236}">
                  <a16:creationId xmlns:a16="http://schemas.microsoft.com/office/drawing/2014/main" id="{80F0D5A6-8398-ADA6-944C-EFD6417292BC}"/>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3D9A5A60-64D8-88FC-81E6-79336D820956}"/>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9" name="TextBox 18">
            <a:extLst>
              <a:ext uri="{FF2B5EF4-FFF2-40B4-BE49-F238E27FC236}">
                <a16:creationId xmlns:a16="http://schemas.microsoft.com/office/drawing/2014/main" id="{FE36FB23-B4FD-2061-13BF-02042544CFBC}"/>
              </a:ext>
            </a:extLst>
          </p:cNvPr>
          <p:cNvSpPr txBox="1"/>
          <p:nvPr>
            <p:custDataLst>
              <p:tags r:id="rId14"/>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Customize by highlighting specific legacy apps or environments your team supports that mandate LDAP integration.</a:t>
            </a:r>
          </a:p>
        </p:txBody>
      </p:sp>
    </p:spTree>
    <p:extLst>
      <p:ext uri="{BB962C8B-B14F-4D97-AF65-F5344CB8AC3E}">
        <p14:creationId xmlns:p14="http://schemas.microsoft.com/office/powerpoint/2010/main" val="1194113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D2B798C-3E54-E9FF-5A89-217C67ED1519}"/>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Tenant Isolation</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r>
              <a:rPr lang="en-US" noProof="1"/>
              <a:t>Tenant Isolation Strategy</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4294967295"/>
            <p:custDataLst>
              <p:tags r:id="rId3"/>
            </p:custDataLst>
          </p:nvPr>
        </p:nvSpPr>
        <p:spPr>
          <a:xfrm>
            <a:off x="419103" y="2545080"/>
            <a:ext cx="3581398" cy="3746500"/>
          </a:xfrm>
        </p:spPr>
        <p:txBody>
          <a:bodyPr vert="horz" lIns="0" tIns="45720" rIns="91440" bIns="45720" rtlCol="0">
            <a:normAutofit/>
          </a:bodyPr>
          <a:lstStyle/>
          <a:p>
            <a:pPr marL="11113" indent="0">
              <a:lnSpc>
                <a:spcPct val="114000"/>
              </a:lnSpc>
              <a:buNone/>
            </a:pPr>
            <a:r>
              <a:rPr lang="en-US" noProof="1"/>
              <a:t>Each tenant is assigned a dedicated Keycloak realm, providing strong domain isolation, independent authentication policies, and client configurations for secure multi-tenancy.</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4294967295"/>
            <p:custDataLst>
              <p:tags r:id="rId4"/>
            </p:custDataLst>
          </p:nvPr>
        </p:nvSpPr>
        <p:spPr>
          <a:xfrm>
            <a:off x="4305303" y="2545080"/>
            <a:ext cx="3581398" cy="3746500"/>
          </a:xfrm>
        </p:spPr>
        <p:txBody>
          <a:bodyPr vert="horz" lIns="0" tIns="45720" rIns="91440" bIns="45720" rtlCol="0">
            <a:normAutofit/>
          </a:bodyPr>
          <a:lstStyle/>
          <a:p>
            <a:pPr marL="11113" indent="0">
              <a:lnSpc>
                <a:spcPct val="114000"/>
              </a:lnSpc>
              <a:buNone/>
            </a:pPr>
            <a:r>
              <a:rPr lang="en-US" noProof="1"/>
              <a:t>Optionally, separate LDAP directory trees (organizational units) per tenant allow legacy systems and bind-auth clients to integrate securely without cross-tenant data exposure.</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4294967295"/>
            <p:custDataLst>
              <p:tags r:id="rId5"/>
            </p:custDataLst>
          </p:nvPr>
        </p:nvSpPr>
        <p:spPr>
          <a:xfrm>
            <a:off x="8191502" y="2545080"/>
            <a:ext cx="3581398" cy="3746500"/>
          </a:xfrm>
        </p:spPr>
        <p:txBody>
          <a:bodyPr vert="horz" lIns="0" tIns="45720" rIns="91440" bIns="45720" rtlCol="0">
            <a:normAutofit/>
          </a:bodyPr>
          <a:lstStyle/>
          <a:p>
            <a:pPr marL="11113" indent="0">
              <a:lnSpc>
                <a:spcPct val="114000"/>
              </a:lnSpc>
              <a:buNone/>
            </a:pPr>
            <a:r>
              <a:rPr lang="en-US" noProof="1"/>
              <a:t>Tenant-specific data, including identities, sessions, and consents, are partitioned at the database level using tenant IDs to ensure data segregation and global consistency.</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4294967295"/>
            <p:custDataLst>
              <p:tags r:id="rId6"/>
            </p:custDataLst>
          </p:nvPr>
        </p:nvSpPr>
        <p:spPr>
          <a:xfrm>
            <a:off x="419103" y="1905000"/>
            <a:ext cx="3581398" cy="640080"/>
          </a:xfrm>
        </p:spPr>
        <p:txBody>
          <a:bodyPr vert="horz" lIns="0" tIns="45720" rIns="91440" bIns="45720" rtlCol="0" anchor="t">
            <a:normAutofit/>
          </a:bodyPr>
          <a:lstStyle/>
          <a:p>
            <a:pPr marL="0" indent="0">
              <a:lnSpc>
                <a:spcPct val="100000"/>
              </a:lnSpc>
              <a:buNone/>
            </a:pPr>
            <a:r>
              <a:rPr lang="en-US" sz="1800" b="1" noProof="1">
                <a:latin typeface="+mj-lt"/>
              </a:rPr>
              <a:t>Keycloak Realms per Tenant</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4294967295"/>
            <p:custDataLst>
              <p:tags r:id="rId7"/>
            </p:custDataLst>
          </p:nvPr>
        </p:nvSpPr>
        <p:spPr>
          <a:xfrm>
            <a:off x="4305303" y="1905000"/>
            <a:ext cx="3581398" cy="640080"/>
          </a:xfrm>
        </p:spPr>
        <p:txBody>
          <a:bodyPr vert="horz" lIns="0" tIns="45720" rIns="91440" bIns="45720" rtlCol="0" anchor="t">
            <a:normAutofit/>
          </a:bodyPr>
          <a:lstStyle/>
          <a:p>
            <a:pPr marL="0" indent="0">
              <a:lnSpc>
                <a:spcPct val="100000"/>
              </a:lnSpc>
              <a:buNone/>
            </a:pPr>
            <a:r>
              <a:rPr lang="en-US" sz="1800" b="1" noProof="1">
                <a:latin typeface="+mj-lt"/>
              </a:rPr>
              <a:t>Per-Tenant LDAP Trees</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4294967295"/>
            <p:custDataLst>
              <p:tags r:id="rId8"/>
            </p:custDataLst>
          </p:nvPr>
        </p:nvSpPr>
        <p:spPr>
          <a:xfrm>
            <a:off x="8191502" y="1905000"/>
            <a:ext cx="3581398" cy="640080"/>
          </a:xfrm>
        </p:spPr>
        <p:txBody>
          <a:bodyPr vert="horz" lIns="0" tIns="45720" rIns="91440" bIns="45720" rtlCol="0" anchor="t">
            <a:normAutofit/>
          </a:bodyPr>
          <a:lstStyle/>
          <a:p>
            <a:pPr marL="0" indent="0">
              <a:lnSpc>
                <a:spcPct val="100000"/>
              </a:lnSpc>
              <a:buNone/>
            </a:pPr>
            <a:r>
              <a:rPr lang="en-US" sz="1800" b="1" noProof="1">
                <a:latin typeface="+mj-lt"/>
              </a:rPr>
              <a:t>YugabyteDB Tenant Data Partitioning</a:t>
            </a:r>
          </a:p>
        </p:txBody>
      </p:sp>
      <p:pic>
        <p:nvPicPr>
          <p:cNvPr id="2" name="Graphic 1">
            <a:extLst>
              <a:ext uri="{FF2B5EF4-FFF2-40B4-BE49-F238E27FC236}">
                <a16:creationId xmlns:a16="http://schemas.microsoft.com/office/drawing/2014/main" id="{F439DA67-9151-F305-9DB5-E5EBEE61996E}"/>
              </a:ext>
            </a:extLst>
          </p:cNvPr>
          <p:cNvPicPr>
            <a:picLocks noChangeAspect="1"/>
          </p:cNvPicPr>
          <p:nvPr>
            <p:custDataLst>
              <p:tags r:id="rId9"/>
            </p:custDataLst>
          </p:nvPr>
        </p:nvPicPr>
        <p:blipFill>
          <a:blip r:embed="rId16">
            <a:extLst>
              <a:ext uri="{96DAC541-7B7A-43D3-8B79-37D633B846F1}">
                <asvg:svgBlip xmlns:asvg="http://schemas.microsoft.com/office/drawing/2016/SVG/main" r:embed="rId17"/>
              </a:ext>
            </a:extLst>
          </a:blip>
          <a:stretch>
            <a:fillRect/>
          </a:stretch>
        </p:blipFill>
        <p:spPr>
          <a:xfrm>
            <a:off x="419102" y="1485900"/>
            <a:ext cx="320040" cy="320040"/>
          </a:xfrm>
          <a:prstGeom prst="rect">
            <a:avLst/>
          </a:prstGeom>
        </p:spPr>
      </p:pic>
      <p:pic>
        <p:nvPicPr>
          <p:cNvPr id="3" name="Graphic 2">
            <a:extLst>
              <a:ext uri="{FF2B5EF4-FFF2-40B4-BE49-F238E27FC236}">
                <a16:creationId xmlns:a16="http://schemas.microsoft.com/office/drawing/2014/main" id="{4377FBB4-6A58-C425-4185-859B0E486185}"/>
              </a:ext>
            </a:extLst>
          </p:cNvPr>
          <p:cNvPicPr>
            <a:picLocks noChangeAspect="1"/>
          </p:cNvPicPr>
          <p:nvPr>
            <p:custDataLst>
              <p:tags r:id="rId10"/>
            </p:custDataLst>
          </p:nvPr>
        </p:nvPicPr>
        <p:blipFill>
          <a:blip r:embed="rId18">
            <a:extLst>
              <a:ext uri="{96DAC541-7B7A-43D3-8B79-37D633B846F1}">
                <asvg:svgBlip xmlns:asvg="http://schemas.microsoft.com/office/drawing/2016/SVG/main" r:embed="rId19"/>
              </a:ext>
            </a:extLst>
          </a:blip>
          <a:stretch>
            <a:fillRect/>
          </a:stretch>
        </p:blipFill>
        <p:spPr>
          <a:xfrm>
            <a:off x="4305303" y="1485900"/>
            <a:ext cx="320040" cy="320040"/>
          </a:xfrm>
          <a:prstGeom prst="rect">
            <a:avLst/>
          </a:prstGeom>
        </p:spPr>
      </p:pic>
      <p:pic>
        <p:nvPicPr>
          <p:cNvPr id="4" name="Graphic 3">
            <a:extLst>
              <a:ext uri="{FF2B5EF4-FFF2-40B4-BE49-F238E27FC236}">
                <a16:creationId xmlns:a16="http://schemas.microsoft.com/office/drawing/2014/main" id="{F4778549-3B64-050A-C783-9FBBE76C7B33}"/>
              </a:ext>
            </a:extLst>
          </p:cNvPr>
          <p:cNvPicPr>
            <a:picLocks noChangeAspect="1"/>
          </p:cNvPicPr>
          <p:nvPr>
            <p:custDataLst>
              <p:tags r:id="rId11"/>
            </p:custDataLst>
          </p:nvPr>
        </p:nvPicPr>
        <p:blipFill>
          <a:blip r:embed="rId20">
            <a:extLst>
              <a:ext uri="{96DAC541-7B7A-43D3-8B79-37D633B846F1}">
                <asvg:svgBlip xmlns:asvg="http://schemas.microsoft.com/office/drawing/2016/SVG/main" r:embed="rId21"/>
              </a:ext>
            </a:extLst>
          </a:blip>
          <a:stretch>
            <a:fillRect/>
          </a:stretch>
        </p:blipFill>
        <p:spPr>
          <a:xfrm>
            <a:off x="8191502" y="1485900"/>
            <a:ext cx="320040" cy="320040"/>
          </a:xfrm>
          <a:prstGeom prst="rect">
            <a:avLst/>
          </a:prstGeom>
        </p:spPr>
      </p:pic>
      <p:sp>
        <p:nvSpPr>
          <p:cNvPr id="5" name="Rectangle 4">
            <a:extLst>
              <a:ext uri="{FF2B5EF4-FFF2-40B4-BE49-F238E27FC236}">
                <a16:creationId xmlns:a16="http://schemas.microsoft.com/office/drawing/2014/main" id="{1B1A18D6-3D5F-D813-6A5B-9D18518746F9}"/>
              </a:ext>
            </a:extLst>
          </p:cNvPr>
          <p:cNvSpPr/>
          <p:nvPr>
            <p:custDataLst>
              <p:tags r:id="rId12"/>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18" name="Group 17">
            <a:extLst>
              <a:ext uri="{FF2B5EF4-FFF2-40B4-BE49-F238E27FC236}">
                <a16:creationId xmlns:a16="http://schemas.microsoft.com/office/drawing/2014/main" id="{AE85EB4B-2E99-ED5E-873C-B3257C304C21}"/>
              </a:ext>
            </a:extLst>
          </p:cNvPr>
          <p:cNvGrpSpPr/>
          <p:nvPr>
            <p:custDataLst>
              <p:tags r:id="rId13"/>
            </p:custDataLst>
          </p:nvPr>
        </p:nvGrpSpPr>
        <p:grpSpPr>
          <a:xfrm>
            <a:off x="9440602" y="162617"/>
            <a:ext cx="2576145" cy="1301528"/>
            <a:chOff x="5326996" y="628184"/>
            <a:chExt cx="2576145" cy="1301528"/>
          </a:xfrm>
        </p:grpSpPr>
        <p:sp>
          <p:nvSpPr>
            <p:cNvPr id="19" name="Rounded Rectangle 18">
              <a:extLst>
                <a:ext uri="{FF2B5EF4-FFF2-40B4-BE49-F238E27FC236}">
                  <a16:creationId xmlns:a16="http://schemas.microsoft.com/office/drawing/2014/main" id="{678928A1-AAE5-CA20-16D9-CCF55FDE3BA6}"/>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20" name="Graphic 19">
              <a:extLst>
                <a:ext uri="{FF2B5EF4-FFF2-40B4-BE49-F238E27FC236}">
                  <a16:creationId xmlns:a16="http://schemas.microsoft.com/office/drawing/2014/main" id="{F3C24194-1D51-C56F-4A8B-9386FF40A6FC}"/>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440548" y="734271"/>
              <a:ext cx="219238" cy="219238"/>
            </a:xfrm>
            <a:prstGeom prst="rect">
              <a:avLst/>
            </a:prstGeom>
          </p:spPr>
        </p:pic>
        <p:sp>
          <p:nvSpPr>
            <p:cNvPr id="21" name="Freeform 20">
              <a:extLst>
                <a:ext uri="{FF2B5EF4-FFF2-40B4-BE49-F238E27FC236}">
                  <a16:creationId xmlns:a16="http://schemas.microsoft.com/office/drawing/2014/main" id="{C5CC85A2-A6E3-6324-69F3-253D0FC349D5}"/>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22" name="TextBox 21">
            <a:extLst>
              <a:ext uri="{FF2B5EF4-FFF2-40B4-BE49-F238E27FC236}">
                <a16:creationId xmlns:a16="http://schemas.microsoft.com/office/drawing/2014/main" id="{8404D591-88A9-AC42-9DFE-12CC76847893}"/>
              </a:ext>
            </a:extLst>
          </p:cNvPr>
          <p:cNvSpPr txBox="1"/>
          <p:nvPr>
            <p:custDataLst>
              <p:tags r:id="rId14"/>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Customize this slide by adding examples of tenant-specific policies or schema structures relevant to your organization.</a:t>
            </a:r>
          </a:p>
        </p:txBody>
      </p:sp>
    </p:spTree>
    <p:extLst>
      <p:ext uri="{BB962C8B-B14F-4D97-AF65-F5344CB8AC3E}">
        <p14:creationId xmlns:p14="http://schemas.microsoft.com/office/powerpoint/2010/main" val="991079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p:txBody>
          <a:bodyPr lIns="0"/>
          <a:lstStyle/>
          <a:p>
            <a:r>
              <a:rPr lang="en-US" noProof="1"/>
              <a:t>Keycloak Realm and LDAP Trees</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2"/>
            </p:custDataLst>
          </p:nvPr>
        </p:nvSpPr>
        <p:spPr>
          <a:xfrm>
            <a:off x="419097" y="1886011"/>
            <a:ext cx="5600700" cy="548640"/>
          </a:xfrm>
        </p:spPr>
        <p:txBody>
          <a:bodyPr lIns="0" anchor="ctr">
            <a:normAutofit/>
          </a:bodyPr>
          <a:lstStyle/>
          <a:p>
            <a:pPr marL="11111" indent="0">
              <a:lnSpc>
                <a:spcPct val="100000"/>
              </a:lnSpc>
              <a:buNone/>
            </a:pPr>
            <a:r>
              <a:rPr lang="en-US" sz="2000" b="1" noProof="1">
                <a:latin typeface="+mj-lt"/>
              </a:rPr>
              <a:t>Keycloak Realms and Tenant Isolation</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4294967295"/>
            <p:custDataLst>
              <p:tags r:id="rId3"/>
            </p:custDataLst>
          </p:nvPr>
        </p:nvSpPr>
        <p:spPr>
          <a:xfrm>
            <a:off x="419098" y="2425700"/>
            <a:ext cx="5600700" cy="3848100"/>
          </a:xfrm>
        </p:spPr>
        <p:txBody>
          <a:bodyPr vert="horz" lIns="0" tIns="45720" rIns="91440" bIns="45720" rtlCol="0" anchor="t">
            <a:normAutofit/>
          </a:bodyPr>
          <a:lstStyle/>
          <a:p>
            <a:pPr marL="407988" indent="-284163">
              <a:lnSpc>
                <a:spcPct val="114000"/>
              </a:lnSpc>
              <a:buClr>
                <a:schemeClr val="accent1"/>
              </a:buClr>
            </a:pPr>
            <a:r>
              <a:rPr lang="en-US" noProof="1"/>
              <a:t>Each tenant is assigned a dedicated Keycloak realm ensuring strict data and policy isolation.
Realms encapsulate tenant-specific users, clients, roles, and authentication flows.
Tenant-specific OIDC/SAML clients and policies live within their respective realms.
Realms act as the authoritative identity boundary for tenant operations and management.</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4"/>
            </p:custDataLst>
          </p:nvPr>
        </p:nvSpPr>
        <p:spPr>
          <a:xfrm>
            <a:off x="6172201" y="1886011"/>
            <a:ext cx="5600700" cy="548640"/>
          </a:xfrm>
        </p:spPr>
        <p:txBody>
          <a:bodyPr lIns="0" anchor="ctr">
            <a:normAutofit/>
          </a:bodyPr>
          <a:lstStyle/>
          <a:p>
            <a:pPr marL="11111" indent="0">
              <a:lnSpc>
                <a:spcPct val="100000"/>
              </a:lnSpc>
              <a:buNone/>
            </a:pPr>
            <a:r>
              <a:rPr lang="en-US" sz="2000" b="1" noProof="1">
                <a:latin typeface="+mj-lt"/>
              </a:rPr>
              <a:t>Tenant LDAP Trees and Synchronization</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5"/>
            </p:custDataLst>
          </p:nvPr>
        </p:nvSpPr>
        <p:spPr>
          <a:xfrm>
            <a:off x="6172201" y="2425700"/>
            <a:ext cx="5600699" cy="3848100"/>
          </a:xfrm>
        </p:spPr>
        <p:txBody>
          <a:bodyPr vert="horz" lIns="0" tIns="45720" rIns="91440" bIns="45720" rtlCol="0" anchor="t">
            <a:normAutofit/>
          </a:bodyPr>
          <a:lstStyle/>
          <a:p>
            <a:pPr marL="407988" indent="-284163">
              <a:lnSpc>
                <a:spcPct val="114000"/>
              </a:lnSpc>
              <a:buClr>
                <a:schemeClr val="accent1"/>
              </a:buClr>
            </a:pPr>
            <a:r>
              <a:rPr lang="en-US" noProof="1"/>
              <a:t>Each tenant can have a distinct LDAP directory tree (e.g., ou=tenantX,dc=idaas,dc=local) to support legacy integrations.
Keycloak uses LDAP storage providers configured as read-mostly for global consistency and conflict avoidance.
Synchronization jobs keep LDAP directories updated from Keycloak realms, minimizing write contention across regions.
This approach bridges modern OIDC identity with legacy LDAP clients while maintaining operational scalability.</a:t>
            </a:r>
          </a:p>
        </p:txBody>
      </p:sp>
      <p:sp>
        <p:nvSpPr>
          <p:cNvPr id="9" name="Rectangle 8">
            <a:extLst>
              <a:ext uri="{FF2B5EF4-FFF2-40B4-BE49-F238E27FC236}">
                <a16:creationId xmlns:a16="http://schemas.microsoft.com/office/drawing/2014/main" id="{5C9B4219-52FB-9E5E-4BA5-21DD097D59D4}"/>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TextBox 9">
            <a:extLst>
              <a:ext uri="{FF2B5EF4-FFF2-40B4-BE49-F238E27FC236}">
                <a16:creationId xmlns:a16="http://schemas.microsoft.com/office/drawing/2014/main" id="{E81F9835-5037-CA81-CFC2-990E765B5847}"/>
              </a:ext>
            </a:extLst>
          </p:cNvPr>
          <p:cNvSpPr txBox="1"/>
          <p:nvPr>
            <p:custDataLst>
              <p:tags r:id="rId7"/>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Tenant Isolation</a:t>
            </a:r>
          </a:p>
        </p:txBody>
      </p:sp>
      <p:sp>
        <p:nvSpPr>
          <p:cNvPr id="11" name="TextBox 10">
            <a:extLst>
              <a:ext uri="{FF2B5EF4-FFF2-40B4-BE49-F238E27FC236}">
                <a16:creationId xmlns:a16="http://schemas.microsoft.com/office/drawing/2014/main" id="{3E1D510F-4795-A7E4-5248-292427F46B62}"/>
              </a:ext>
            </a:extLst>
          </p:cNvPr>
          <p:cNvSpPr txBox="1"/>
          <p:nvPr/>
        </p:nvSpPr>
        <p:spPr>
          <a:xfrm>
            <a:off x="419096" y="1485900"/>
            <a:ext cx="842353" cy="369332"/>
          </a:xfrm>
          <a:prstGeom prst="rect">
            <a:avLst/>
          </a:prstGeom>
          <a:noFill/>
        </p:spPr>
        <p:txBody>
          <a:bodyPr wrap="square" lIns="0" rtlCol="0">
            <a:spAutoFit/>
          </a:bodyPr>
          <a:lstStyle/>
          <a:p>
            <a:r>
              <a:rPr lang="en-US" b="1" noProof="1">
                <a:solidFill>
                  <a:schemeClr val="accent1"/>
                </a:solidFill>
              </a:rPr>
              <a:t>01</a:t>
            </a:r>
          </a:p>
        </p:txBody>
      </p:sp>
      <p:sp>
        <p:nvSpPr>
          <p:cNvPr id="12" name="TextBox 11">
            <a:extLst>
              <a:ext uri="{FF2B5EF4-FFF2-40B4-BE49-F238E27FC236}">
                <a16:creationId xmlns:a16="http://schemas.microsoft.com/office/drawing/2014/main" id="{AC14B40C-92A8-CC3A-82F0-EA3582D882AE}"/>
              </a:ext>
            </a:extLst>
          </p:cNvPr>
          <p:cNvSpPr txBox="1"/>
          <p:nvPr/>
        </p:nvSpPr>
        <p:spPr>
          <a:xfrm>
            <a:off x="6172200" y="1485900"/>
            <a:ext cx="823784" cy="369332"/>
          </a:xfrm>
          <a:prstGeom prst="rect">
            <a:avLst/>
          </a:prstGeom>
          <a:noFill/>
        </p:spPr>
        <p:txBody>
          <a:bodyPr wrap="square" lIns="0" rtlCol="0">
            <a:spAutoFit/>
          </a:bodyPr>
          <a:lstStyle/>
          <a:p>
            <a:r>
              <a:rPr lang="en-US" b="1" noProof="1">
                <a:solidFill>
                  <a:schemeClr val="accent1"/>
                </a:solidFill>
              </a:rPr>
              <a:t>02</a:t>
            </a:r>
          </a:p>
        </p:txBody>
      </p:sp>
    </p:spTree>
    <p:extLst>
      <p:ext uri="{BB962C8B-B14F-4D97-AF65-F5344CB8AC3E}">
        <p14:creationId xmlns:p14="http://schemas.microsoft.com/office/powerpoint/2010/main" val="89318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EF97430-ACD2-CD7B-8882-DE17B8D23798}"/>
              </a:ext>
            </a:extLst>
          </p:cNvPr>
          <p:cNvSpPr/>
          <p:nvPr/>
        </p:nvSpPr>
        <p:spPr>
          <a:xfrm>
            <a:off x="228601"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23" name="Rounded Rectangle 22">
            <a:extLst>
              <a:ext uri="{FF2B5EF4-FFF2-40B4-BE49-F238E27FC236}">
                <a16:creationId xmlns:a16="http://schemas.microsoft.com/office/drawing/2014/main" id="{FEA3FF02-AFCF-9B1C-F203-53187303C52C}"/>
              </a:ext>
            </a:extLst>
          </p:cNvPr>
          <p:cNvSpPr/>
          <p:nvPr/>
        </p:nvSpPr>
        <p:spPr>
          <a:xfrm>
            <a:off x="3209129"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24" name="Rounded Rectangle 23">
            <a:extLst>
              <a:ext uri="{FF2B5EF4-FFF2-40B4-BE49-F238E27FC236}">
                <a16:creationId xmlns:a16="http://schemas.microsoft.com/office/drawing/2014/main" id="{CAA5B80D-D774-0F4B-8C0A-AAE2A490BF55}"/>
              </a:ext>
            </a:extLst>
          </p:cNvPr>
          <p:cNvSpPr/>
          <p:nvPr/>
        </p:nvSpPr>
        <p:spPr>
          <a:xfrm>
            <a:off x="6189658"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30" name="Rounded Rectangle 29">
            <a:extLst>
              <a:ext uri="{FF2B5EF4-FFF2-40B4-BE49-F238E27FC236}">
                <a16:creationId xmlns:a16="http://schemas.microsoft.com/office/drawing/2014/main" id="{8908AAA3-B95F-C2AA-02BE-F029EC7DC34D}"/>
              </a:ext>
            </a:extLst>
          </p:cNvPr>
          <p:cNvSpPr/>
          <p:nvPr/>
        </p:nvSpPr>
        <p:spPr>
          <a:xfrm>
            <a:off x="9170185" y="1485900"/>
            <a:ext cx="2793216" cy="4742622"/>
          </a:xfrm>
          <a:prstGeom prst="roundRect">
            <a:avLst>
              <a:gd name="adj" fmla="val 319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5" name="TextBox 4">
            <a:extLst>
              <a:ext uri="{FF2B5EF4-FFF2-40B4-BE49-F238E27FC236}">
                <a16:creationId xmlns:a16="http://schemas.microsoft.com/office/drawing/2014/main" id="{799B7002-33AD-F2F4-EE0B-4C2808EE39D9}"/>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a:solidFill>
                  <a:schemeClr val="tx2"/>
                </a:solidFill>
              </a:rPr>
              <a:t>Security</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r>
              <a:rPr lang="en-US"/>
              <a:t>Security Best Practices</a:t>
            </a:r>
          </a:p>
        </p:txBody>
      </p:sp>
      <p:grpSp>
        <p:nvGrpSpPr>
          <p:cNvPr id="25" name="Group 24">
            <a:extLst>
              <a:ext uri="{FF2B5EF4-FFF2-40B4-BE49-F238E27FC236}">
                <a16:creationId xmlns:a16="http://schemas.microsoft.com/office/drawing/2014/main" id="{5277F892-4516-B001-DD71-274C585537A2}"/>
              </a:ext>
            </a:extLst>
          </p:cNvPr>
          <p:cNvGrpSpPr/>
          <p:nvPr>
            <p:custDataLst>
              <p:tags r:id="rId3"/>
            </p:custDataLst>
          </p:nvPr>
        </p:nvGrpSpPr>
        <p:grpSpPr>
          <a:xfrm>
            <a:off x="9440602" y="162617"/>
            <a:ext cx="2576145" cy="1301528"/>
            <a:chOff x="5326996" y="628184"/>
            <a:chExt cx="2576145" cy="1301528"/>
          </a:xfrm>
        </p:grpSpPr>
        <p:sp>
          <p:nvSpPr>
            <p:cNvPr id="26" name="Rounded Rectangle 25">
              <a:extLst>
                <a:ext uri="{FF2B5EF4-FFF2-40B4-BE49-F238E27FC236}">
                  <a16:creationId xmlns:a16="http://schemas.microsoft.com/office/drawing/2014/main" id="{CD54492F-4B12-22A4-5FD6-2596728E98EE}"/>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27" name="Graphic 26">
              <a:extLst>
                <a:ext uri="{FF2B5EF4-FFF2-40B4-BE49-F238E27FC236}">
                  <a16:creationId xmlns:a16="http://schemas.microsoft.com/office/drawing/2014/main" id="{3327A1FF-19A1-14B9-A3C4-92930FF2547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440548" y="734271"/>
              <a:ext cx="219238" cy="219238"/>
            </a:xfrm>
            <a:prstGeom prst="rect">
              <a:avLst/>
            </a:prstGeom>
          </p:spPr>
        </p:pic>
        <p:sp>
          <p:nvSpPr>
            <p:cNvPr id="28" name="Freeform 27">
              <a:extLst>
                <a:ext uri="{FF2B5EF4-FFF2-40B4-BE49-F238E27FC236}">
                  <a16:creationId xmlns:a16="http://schemas.microsoft.com/office/drawing/2014/main" id="{9F6FC107-E85F-5DA2-D3ED-4CD52D4D864F}"/>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29" name="TextBox 28">
            <a:extLst>
              <a:ext uri="{FF2B5EF4-FFF2-40B4-BE49-F238E27FC236}">
                <a16:creationId xmlns:a16="http://schemas.microsoft.com/office/drawing/2014/main" id="{52EB2694-7BF4-793F-C37F-FD61CAED98CD}"/>
              </a:ext>
            </a:extLst>
          </p:cNvPr>
          <p:cNvSpPr txBox="1"/>
          <p:nvPr>
            <p:custDataLst>
              <p:tags r:id="rId4"/>
            </p:custDataLst>
          </p:nvPr>
        </p:nvSpPr>
        <p:spPr>
          <a:xfrm>
            <a:off x="9552588" y="542869"/>
            <a:ext cx="2351599" cy="825024"/>
          </a:xfrm>
          <a:prstGeom prst="rect">
            <a:avLst/>
          </a:prstGeom>
          <a:noFill/>
        </p:spPr>
        <p:txBody>
          <a:bodyPr wrap="square" lIns="0" tIns="45720" rIns="0" bIns="0" rtlCol="0">
            <a:normAutofit/>
          </a:bodyPr>
          <a:lstStyle/>
          <a:p>
            <a:r>
              <a:rPr lang="en-US" sz="1100">
                <a:solidFill>
                  <a:srgbClr val="100F19"/>
                </a:solidFill>
                <a:latin typeface="Franklin Gothic Book" panose="020B0503020102020204" pitchFamily="34" charset="0"/>
              </a:rPr>
              <a:t>Customize this slide with your organization’s specific security tools and policies to make it actionable for your team.</a:t>
            </a:r>
          </a:p>
        </p:txBody>
      </p:sp>
      <p:pic>
        <p:nvPicPr>
          <p:cNvPr id="8" name="Graphic 7">
            <a:extLst>
              <a:ext uri="{FF2B5EF4-FFF2-40B4-BE49-F238E27FC236}">
                <a16:creationId xmlns:a16="http://schemas.microsoft.com/office/drawing/2014/main" id="{F3E6EFDB-A5D7-2D3D-7B31-1EBDAE08FC31}"/>
              </a:ext>
            </a:extLst>
          </p:cNvPr>
          <p:cNvPicPr>
            <a:picLocks noChangeAspect="1"/>
          </p:cNvPicPr>
          <p:nvPr>
            <p:custDataLst>
              <p:tags r:id="rId5"/>
            </p:custDataLst>
          </p:nvPr>
        </p:nvPicPr>
        <p:blipFill>
          <a:blip r:embed="rId21">
            <a:extLst>
              <a:ext uri="{96DAC541-7B7A-43D3-8B79-37D633B846F1}">
                <asvg:svgBlip xmlns:asvg="http://schemas.microsoft.com/office/drawing/2016/SVG/main" r:embed="rId22"/>
              </a:ext>
            </a:extLst>
          </a:blip>
          <a:stretch>
            <a:fillRect/>
          </a:stretch>
        </p:blipFill>
        <p:spPr>
          <a:xfrm>
            <a:off x="9329530" y="1688555"/>
            <a:ext cx="274320" cy="274320"/>
          </a:xfrm>
          <a:prstGeom prst="rect">
            <a:avLst/>
          </a:prstGeom>
        </p:spPr>
      </p:pic>
      <p:pic>
        <p:nvPicPr>
          <p:cNvPr id="16" name="Graphic 15">
            <a:extLst>
              <a:ext uri="{FF2B5EF4-FFF2-40B4-BE49-F238E27FC236}">
                <a16:creationId xmlns:a16="http://schemas.microsoft.com/office/drawing/2014/main" id="{648B04E7-02BB-BB06-BC21-949179BCEA73}"/>
              </a:ext>
            </a:extLst>
          </p:cNvPr>
          <p:cNvPicPr>
            <a:picLocks noChangeAspect="1"/>
          </p:cNvPicPr>
          <p:nvPr>
            <p:custDataLst>
              <p:tags r:id="rId6"/>
            </p:custDataLst>
          </p:nvPr>
        </p:nvPicPr>
        <p:blipFill>
          <a:blip r:embed="rId23">
            <a:extLst>
              <a:ext uri="{96DAC541-7B7A-43D3-8B79-37D633B846F1}">
                <asvg:svgBlip xmlns:asvg="http://schemas.microsoft.com/office/drawing/2016/SVG/main" r:embed="rId24"/>
              </a:ext>
            </a:extLst>
          </a:blip>
          <a:stretch>
            <a:fillRect/>
          </a:stretch>
        </p:blipFill>
        <p:spPr>
          <a:xfrm>
            <a:off x="419099" y="1688555"/>
            <a:ext cx="274320" cy="274320"/>
          </a:xfrm>
          <a:prstGeom prst="rect">
            <a:avLst/>
          </a:prstGeom>
        </p:spPr>
      </p:pic>
      <p:pic>
        <p:nvPicPr>
          <p:cNvPr id="17" name="Graphic 16">
            <a:extLst>
              <a:ext uri="{FF2B5EF4-FFF2-40B4-BE49-F238E27FC236}">
                <a16:creationId xmlns:a16="http://schemas.microsoft.com/office/drawing/2014/main" id="{65C10B3D-8CB1-22DC-AC80-9B8F4A398C8B}"/>
              </a:ext>
            </a:extLst>
          </p:cNvPr>
          <p:cNvPicPr>
            <a:picLocks noChangeAspect="1"/>
          </p:cNvPicPr>
          <p:nvPr>
            <p:custDataLst>
              <p:tags r:id="rId7"/>
            </p:custDataLst>
          </p:nvPr>
        </p:nvPicPr>
        <p:blipFill>
          <a:blip r:embed="rId25">
            <a:extLst>
              <a:ext uri="{96DAC541-7B7A-43D3-8B79-37D633B846F1}">
                <asvg:svgBlip xmlns:asvg="http://schemas.microsoft.com/office/drawing/2016/SVG/main" r:embed="rId26"/>
              </a:ext>
            </a:extLst>
          </a:blip>
          <a:stretch>
            <a:fillRect/>
          </a:stretch>
        </p:blipFill>
        <p:spPr>
          <a:xfrm>
            <a:off x="3389243" y="1688555"/>
            <a:ext cx="274320" cy="274320"/>
          </a:xfrm>
          <a:prstGeom prst="rect">
            <a:avLst/>
          </a:prstGeom>
        </p:spPr>
      </p:pic>
      <p:pic>
        <p:nvPicPr>
          <p:cNvPr id="18" name="Graphic 17">
            <a:extLst>
              <a:ext uri="{FF2B5EF4-FFF2-40B4-BE49-F238E27FC236}">
                <a16:creationId xmlns:a16="http://schemas.microsoft.com/office/drawing/2014/main" id="{75772D04-4C85-73AB-3341-2EF53D7292E1}"/>
              </a:ext>
            </a:extLst>
          </p:cNvPr>
          <p:cNvPicPr>
            <a:picLocks noChangeAspect="1"/>
          </p:cNvPicPr>
          <p:nvPr>
            <p:custDataLst>
              <p:tags r:id="rId8"/>
            </p:custDataLst>
          </p:nvPr>
        </p:nvPicPr>
        <p:blipFill>
          <a:blip r:embed="rId27">
            <a:extLst>
              <a:ext uri="{96DAC541-7B7A-43D3-8B79-37D633B846F1}">
                <asvg:svgBlip xmlns:asvg="http://schemas.microsoft.com/office/drawing/2016/SVG/main" r:embed="rId28"/>
              </a:ext>
            </a:extLst>
          </a:blip>
          <a:stretch>
            <a:fillRect/>
          </a:stretch>
        </p:blipFill>
        <p:spPr>
          <a:xfrm>
            <a:off x="6359386" y="1688555"/>
            <a:ext cx="274320" cy="274320"/>
          </a:xfrm>
          <a:prstGeom prst="rect">
            <a:avLst/>
          </a:prstGeom>
        </p:spPr>
      </p:pic>
      <p:sp>
        <p:nvSpPr>
          <p:cNvPr id="6" name="Rectangle 5">
            <a:extLst>
              <a:ext uri="{FF2B5EF4-FFF2-40B4-BE49-F238E27FC236}">
                <a16:creationId xmlns:a16="http://schemas.microsoft.com/office/drawing/2014/main" id="{3FF349F7-8C42-C386-3FB8-F0776124100E}"/>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35" name="Text Placeholder 12">
            <a:extLst>
              <a:ext uri="{FF2B5EF4-FFF2-40B4-BE49-F238E27FC236}">
                <a16:creationId xmlns:a16="http://schemas.microsoft.com/office/drawing/2014/main" id="{FAC6D940-662A-B24F-DE60-05AB877F735D}"/>
              </a:ext>
            </a:extLst>
          </p:cNvPr>
          <p:cNvSpPr txBox="1">
            <a:spLocks/>
          </p:cNvSpPr>
          <p:nvPr>
            <p:custDataLst>
              <p:tags r:id="rId10"/>
            </p:custDataLst>
          </p:nvPr>
        </p:nvSpPr>
        <p:spPr>
          <a:xfrm>
            <a:off x="419099" y="2095017"/>
            <a:ext cx="2443371" cy="640080"/>
          </a:xfrm>
          <a:prstGeom prst="rect">
            <a:avLst/>
          </a:prstGeom>
        </p:spPr>
        <p:txBody>
          <a:bodyPr vert="horz" lIns="0" tIns="45720" rIns="91440" bIns="45720" rtlCol="0" anchor="t">
            <a:noAutofit/>
          </a:bodyPr>
          <a:lstStyle>
            <a:lvl1pPr marL="0" indent="0" algn="l" defTabSz="914354" rtl="0" eaLnBrk="1" latinLnBrk="0" hangingPunct="1">
              <a:lnSpc>
                <a:spcPct val="100000"/>
              </a:lnSpc>
              <a:spcBef>
                <a:spcPts val="1200"/>
              </a:spcBef>
              <a:buFont typeface="Arial" panose="020B0604020202020204" pitchFamily="34" charset="0"/>
              <a:buNone/>
              <a:tabLst/>
              <a:defRPr sz="24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9525" algn="l" defTabSz="914354" rtl="0" eaLnBrk="1" fontAlgn="auto" latinLnBrk="0" hangingPunct="1">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effectLst/>
                <a:uLnTx/>
                <a:uFillTx/>
                <a:latin typeface="+mj-lt"/>
                <a:ea typeface="+mn-ea"/>
                <a:cs typeface="Arial" panose="020B0604020202020204" pitchFamily="34" charset="0"/>
              </a:rPr>
              <a:t>Hardware-Backed Key Storage</a:t>
            </a:r>
          </a:p>
        </p:txBody>
      </p:sp>
      <p:sp>
        <p:nvSpPr>
          <p:cNvPr id="36" name="Content Placeholder 25">
            <a:extLst>
              <a:ext uri="{FF2B5EF4-FFF2-40B4-BE49-F238E27FC236}">
                <a16:creationId xmlns:a16="http://schemas.microsoft.com/office/drawing/2014/main" id="{4E50CEAC-FC32-11B3-BA2D-736CDC29ADC1}"/>
              </a:ext>
            </a:extLst>
          </p:cNvPr>
          <p:cNvSpPr txBox="1">
            <a:spLocks/>
          </p:cNvSpPr>
          <p:nvPr>
            <p:custDataLst>
              <p:tags r:id="rId11"/>
            </p:custDataLst>
          </p:nvPr>
        </p:nvSpPr>
        <p:spPr>
          <a:xfrm>
            <a:off x="419099" y="2743200"/>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lvl="0" indent="0">
              <a:lnSpc>
                <a:spcPct val="114000"/>
              </a:lnSpc>
              <a:spcBef>
                <a:spcPts val="1000"/>
              </a:spcBef>
              <a:buNone/>
              <a:defRPr/>
            </a:pPr>
            <a:r>
              <a:rPr lang="en-US" sz="1400" noProof="1"/>
              <a:t>Use KMS or HSM to securely store cryptographic keys for token signing and encryption, ensuring keys are protected from unauthorized access and easy to rotate.</a:t>
            </a:r>
          </a:p>
        </p:txBody>
      </p:sp>
      <p:sp>
        <p:nvSpPr>
          <p:cNvPr id="37" name="Content Placeholder 10">
            <a:extLst>
              <a:ext uri="{FF2B5EF4-FFF2-40B4-BE49-F238E27FC236}">
                <a16:creationId xmlns:a16="http://schemas.microsoft.com/office/drawing/2014/main" id="{90CB2690-69E3-3BA7-6454-F70A7B690BBA}"/>
              </a:ext>
            </a:extLst>
          </p:cNvPr>
          <p:cNvSpPr txBox="1">
            <a:spLocks/>
          </p:cNvSpPr>
          <p:nvPr>
            <p:custDataLst>
              <p:tags r:id="rId12"/>
            </p:custDataLst>
          </p:nvPr>
        </p:nvSpPr>
        <p:spPr>
          <a:xfrm>
            <a:off x="3389242" y="2743199"/>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Regularly rotate JSON Web Key Sets (JWKS) used for signing tokens to reduce the risk of key compromise and maintain trust across distributed systems.</a:t>
            </a:r>
          </a:p>
        </p:txBody>
      </p:sp>
      <p:sp>
        <p:nvSpPr>
          <p:cNvPr id="38" name="Text Placeholder 13">
            <a:extLst>
              <a:ext uri="{FF2B5EF4-FFF2-40B4-BE49-F238E27FC236}">
                <a16:creationId xmlns:a16="http://schemas.microsoft.com/office/drawing/2014/main" id="{25ACBF58-1F46-F4DF-7C0F-8FB0BF1CAFC3}"/>
              </a:ext>
            </a:extLst>
          </p:cNvPr>
          <p:cNvSpPr txBox="1">
            <a:spLocks/>
          </p:cNvSpPr>
          <p:nvPr>
            <p:custDataLst>
              <p:tags r:id="rId13"/>
            </p:custDataLst>
          </p:nvPr>
        </p:nvSpPr>
        <p:spPr>
          <a:xfrm>
            <a:off x="3389243" y="2095017"/>
            <a:ext cx="2443371"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lvl="0" indent="9525">
              <a:defRPr/>
            </a:pPr>
            <a:r>
              <a:rPr lang="en-US" sz="1600" noProof="1"/>
              <a:t>JWKS Key Rotation</a:t>
            </a:r>
          </a:p>
        </p:txBody>
      </p:sp>
      <p:sp>
        <p:nvSpPr>
          <p:cNvPr id="39" name="Content Placeholder 11">
            <a:extLst>
              <a:ext uri="{FF2B5EF4-FFF2-40B4-BE49-F238E27FC236}">
                <a16:creationId xmlns:a16="http://schemas.microsoft.com/office/drawing/2014/main" id="{9D6AEDD9-9901-5993-0960-E87984D4D1E7}"/>
              </a:ext>
            </a:extLst>
          </p:cNvPr>
          <p:cNvSpPr txBox="1">
            <a:spLocks/>
          </p:cNvSpPr>
          <p:nvPr>
            <p:custDataLst>
              <p:tags r:id="rId14"/>
            </p:custDataLst>
          </p:nvPr>
        </p:nvSpPr>
        <p:spPr>
          <a:xfrm>
            <a:off x="6359385" y="2743199"/>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Adopt WebAuthn as the default multi-factor authentication method to provide phishing-resistant strong authentication for users accessing IDaaS.</a:t>
            </a:r>
          </a:p>
        </p:txBody>
      </p:sp>
      <p:sp>
        <p:nvSpPr>
          <p:cNvPr id="40" name="Content Placeholder 1">
            <a:extLst>
              <a:ext uri="{FF2B5EF4-FFF2-40B4-BE49-F238E27FC236}">
                <a16:creationId xmlns:a16="http://schemas.microsoft.com/office/drawing/2014/main" id="{0510C479-AA1A-09A9-52FE-80206DEAC938}"/>
              </a:ext>
            </a:extLst>
          </p:cNvPr>
          <p:cNvSpPr txBox="1">
            <a:spLocks/>
          </p:cNvSpPr>
          <p:nvPr>
            <p:custDataLst>
              <p:tags r:id="rId15"/>
            </p:custDataLst>
          </p:nvPr>
        </p:nvSpPr>
        <p:spPr>
          <a:xfrm>
            <a:off x="9329529" y="2729947"/>
            <a:ext cx="2443371" cy="3485321"/>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Place Cloudflare Access in front of admin consoles and private development tools to enforce identity and device posture for comprehensive access control.</a:t>
            </a:r>
          </a:p>
        </p:txBody>
      </p:sp>
      <p:sp>
        <p:nvSpPr>
          <p:cNvPr id="41" name="Text Placeholder 14">
            <a:extLst>
              <a:ext uri="{FF2B5EF4-FFF2-40B4-BE49-F238E27FC236}">
                <a16:creationId xmlns:a16="http://schemas.microsoft.com/office/drawing/2014/main" id="{80CF1D15-509D-EBC3-3A6C-D33EEBC3D9D1}"/>
              </a:ext>
            </a:extLst>
          </p:cNvPr>
          <p:cNvSpPr txBox="1">
            <a:spLocks/>
          </p:cNvSpPr>
          <p:nvPr>
            <p:custDataLst>
              <p:tags r:id="rId16"/>
            </p:custDataLst>
          </p:nvPr>
        </p:nvSpPr>
        <p:spPr>
          <a:xfrm>
            <a:off x="6359386" y="2095017"/>
            <a:ext cx="2443371"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lvl="0" indent="9525">
              <a:defRPr/>
            </a:pPr>
            <a:r>
              <a:rPr lang="en-US" sz="1600" noProof="1"/>
              <a:t>Enforce WebAuthn MFA</a:t>
            </a:r>
          </a:p>
        </p:txBody>
      </p:sp>
      <p:sp>
        <p:nvSpPr>
          <p:cNvPr id="42" name="Text Placeholder 2">
            <a:extLst>
              <a:ext uri="{FF2B5EF4-FFF2-40B4-BE49-F238E27FC236}">
                <a16:creationId xmlns:a16="http://schemas.microsoft.com/office/drawing/2014/main" id="{33C6C179-D0CA-F1AC-C3CA-1FDA3659F68F}"/>
              </a:ext>
            </a:extLst>
          </p:cNvPr>
          <p:cNvSpPr txBox="1">
            <a:spLocks/>
          </p:cNvSpPr>
          <p:nvPr>
            <p:custDataLst>
              <p:tags r:id="rId17"/>
            </p:custDataLst>
          </p:nvPr>
        </p:nvSpPr>
        <p:spPr>
          <a:xfrm>
            <a:off x="9329530" y="2095017"/>
            <a:ext cx="2443371"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lvl="0" indent="9525">
              <a:defRPr/>
            </a:pPr>
            <a:r>
              <a:rPr lang="en-US" sz="1600" noProof="1"/>
              <a:t>Secure Admin &amp; Private Tools</a:t>
            </a:r>
          </a:p>
        </p:txBody>
      </p:sp>
    </p:spTree>
    <p:extLst>
      <p:ext uri="{BB962C8B-B14F-4D97-AF65-F5344CB8AC3E}">
        <p14:creationId xmlns:p14="http://schemas.microsoft.com/office/powerpoint/2010/main" val="720503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DAF14-DB79-5413-5180-DCFD264F374D}"/>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656A3E8-C28D-6697-B672-143DD40C1A84}"/>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pic>
        <p:nvPicPr>
          <p:cNvPr id="6" name="Graphic 5">
            <a:extLst>
              <a:ext uri="{FF2B5EF4-FFF2-40B4-BE49-F238E27FC236}">
                <a16:creationId xmlns:a16="http://schemas.microsoft.com/office/drawing/2014/main" id="{F7F5C78A-E91D-970B-011B-EEC903A4825D}"/>
              </a:ext>
            </a:extLst>
          </p:cNvPr>
          <p:cNvPicPr>
            <a:picLocks noChangeAspect="1"/>
          </p:cNvPicPr>
          <p:nvPr>
            <p:custDataLst>
              <p:tags r:id="rId1"/>
            </p:custDataLst>
          </p:nvPr>
        </p:nvPicPr>
        <p:blipFill>
          <a:blip r:embed="rId16">
            <a:extLst>
              <a:ext uri="{96DAC541-7B7A-43D3-8B79-37D633B846F1}">
                <asvg:svgBlip xmlns:asvg="http://schemas.microsoft.com/office/drawing/2016/SVG/main" r:embed="rId17"/>
              </a:ext>
            </a:extLst>
          </a:blip>
          <a:stretch>
            <a:fillRect/>
          </a:stretch>
        </p:blipFill>
        <p:spPr>
          <a:xfrm>
            <a:off x="4419004" y="476974"/>
            <a:ext cx="274320" cy="274320"/>
          </a:xfrm>
          <a:prstGeom prst="rect">
            <a:avLst/>
          </a:prstGeom>
        </p:spPr>
      </p:pic>
      <p:pic>
        <p:nvPicPr>
          <p:cNvPr id="7" name="Graphic 6">
            <a:extLst>
              <a:ext uri="{FF2B5EF4-FFF2-40B4-BE49-F238E27FC236}">
                <a16:creationId xmlns:a16="http://schemas.microsoft.com/office/drawing/2014/main" id="{01687E9A-8643-69E7-2371-4EA64F8ED500}"/>
              </a:ext>
            </a:extLst>
          </p:cNvPr>
          <p:cNvPicPr>
            <a:picLocks noChangeAspect="1"/>
          </p:cNvPicPr>
          <p:nvPr>
            <p:custDataLst>
              <p:tags r:id="rId2"/>
            </p:custDataLst>
          </p:nvPr>
        </p:nvPicPr>
        <p:blipFill>
          <a:blip r:embed="rId18">
            <a:extLst>
              <a:ext uri="{96DAC541-7B7A-43D3-8B79-37D633B846F1}">
                <asvg:svgBlip xmlns:asvg="http://schemas.microsoft.com/office/drawing/2016/SVG/main" r:embed="rId19"/>
              </a:ext>
            </a:extLst>
          </a:blip>
          <a:stretch>
            <a:fillRect/>
          </a:stretch>
        </p:blipFill>
        <p:spPr>
          <a:xfrm>
            <a:off x="4419004" y="2539137"/>
            <a:ext cx="274320" cy="274320"/>
          </a:xfrm>
          <a:prstGeom prst="rect">
            <a:avLst/>
          </a:prstGeom>
        </p:spPr>
      </p:pic>
      <p:pic>
        <p:nvPicPr>
          <p:cNvPr id="12" name="Graphic 11">
            <a:extLst>
              <a:ext uri="{FF2B5EF4-FFF2-40B4-BE49-F238E27FC236}">
                <a16:creationId xmlns:a16="http://schemas.microsoft.com/office/drawing/2014/main" id="{60C1E4CE-FD76-C218-45BB-B3CF9499EA46}"/>
              </a:ext>
            </a:extLst>
          </p:cNvPr>
          <p:cNvPicPr>
            <a:picLocks noChangeAspect="1"/>
          </p:cNvPicPr>
          <p:nvPr>
            <p:custDataLst>
              <p:tags r:id="rId3"/>
            </p:custDataLst>
          </p:nvPr>
        </p:nvPicPr>
        <p:blipFill>
          <a:blip r:embed="rId20">
            <a:extLst>
              <a:ext uri="{96DAC541-7B7A-43D3-8B79-37D633B846F1}">
                <asvg:svgBlip xmlns:asvg="http://schemas.microsoft.com/office/drawing/2016/SVG/main" r:embed="rId21"/>
              </a:ext>
            </a:extLst>
          </a:blip>
          <a:stretch>
            <a:fillRect/>
          </a:stretch>
        </p:blipFill>
        <p:spPr>
          <a:xfrm>
            <a:off x="4419004" y="4601300"/>
            <a:ext cx="274320" cy="274320"/>
          </a:xfrm>
          <a:prstGeom prst="rect">
            <a:avLst/>
          </a:prstGeom>
        </p:spPr>
      </p:pic>
      <p:sp>
        <p:nvSpPr>
          <p:cNvPr id="3" name="TextBox 2">
            <a:extLst>
              <a:ext uri="{FF2B5EF4-FFF2-40B4-BE49-F238E27FC236}">
                <a16:creationId xmlns:a16="http://schemas.microsoft.com/office/drawing/2014/main" id="{5DDD53A8-A1BE-E889-B918-07E5C0FBA55B}"/>
              </a:ext>
            </a:extLst>
          </p:cNvPr>
          <p:cNvSpPr txBox="1"/>
          <p:nvPr>
            <p:custDataLst>
              <p:tags r:id="rId4"/>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Observability</a:t>
            </a:r>
          </a:p>
        </p:txBody>
      </p:sp>
      <p:sp>
        <p:nvSpPr>
          <p:cNvPr id="9" name="Title 8">
            <a:extLst>
              <a:ext uri="{FF2B5EF4-FFF2-40B4-BE49-F238E27FC236}">
                <a16:creationId xmlns:a16="http://schemas.microsoft.com/office/drawing/2014/main" id="{3A963EF6-72BE-690D-C4A9-470EF49C53CA}"/>
              </a:ext>
            </a:extLst>
          </p:cNvPr>
          <p:cNvSpPr>
            <a:spLocks noGrp="1"/>
          </p:cNvSpPr>
          <p:nvPr>
            <p:ph type="title"/>
            <p:custDataLst>
              <p:tags r:id="rId5"/>
            </p:custDataLst>
          </p:nvPr>
        </p:nvSpPr>
        <p:spPr/>
        <p:txBody>
          <a:bodyPr lIns="0">
            <a:normAutofit/>
          </a:bodyPr>
          <a:lstStyle/>
          <a:p>
            <a:r>
              <a:rPr lang="en-US" noProof="1"/>
              <a:t>Observability Implementation</a:t>
            </a:r>
          </a:p>
        </p:txBody>
      </p:sp>
      <p:sp>
        <p:nvSpPr>
          <p:cNvPr id="16" name="Rectangle 15">
            <a:extLst>
              <a:ext uri="{FF2B5EF4-FFF2-40B4-BE49-F238E27FC236}">
                <a16:creationId xmlns:a16="http://schemas.microsoft.com/office/drawing/2014/main" id="{463A61BC-0F96-A8DF-5A52-CB78E4BDA1DB}"/>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Content Placeholder 25">
            <a:extLst>
              <a:ext uri="{FF2B5EF4-FFF2-40B4-BE49-F238E27FC236}">
                <a16:creationId xmlns:a16="http://schemas.microsoft.com/office/drawing/2014/main" id="{783A5D1F-14B4-DB9A-C0E0-01A7C47CC67F}"/>
              </a:ext>
            </a:extLst>
          </p:cNvPr>
          <p:cNvSpPr>
            <a:spLocks noGrp="1"/>
          </p:cNvSpPr>
          <p:nvPr>
            <p:ph idx="1"/>
            <p:custDataLst>
              <p:tags r:id="rId7"/>
            </p:custDataLst>
          </p:nvPr>
        </p:nvSpPr>
        <p:spPr>
          <a:xfrm>
            <a:off x="6667500" y="419100"/>
            <a:ext cx="5105400" cy="1866901"/>
          </a:xfrm>
        </p:spPr>
        <p:txBody>
          <a:bodyPr vert="horz" lIns="91440" tIns="45720" rIns="91440" bIns="45720" rtlCol="0">
            <a:normAutofit/>
          </a:bodyPr>
          <a:lstStyle/>
          <a:p>
            <a:pPr marL="11113" indent="0">
              <a:lnSpc>
                <a:spcPct val="114000"/>
              </a:lnSpc>
              <a:spcBef>
                <a:spcPts val="1000"/>
              </a:spcBef>
              <a:buNone/>
            </a:pPr>
            <a:r>
              <a:rPr lang="en-US" sz="1400" noProof="1"/>
              <a:t>OTEL collects distributed tracing, metrics, and logs from Keycloak, SCIM, and other IDaaS components to provide unified observability across the system.</a:t>
            </a:r>
          </a:p>
        </p:txBody>
      </p:sp>
      <p:sp>
        <p:nvSpPr>
          <p:cNvPr id="11" name="Content Placeholder 27">
            <a:extLst>
              <a:ext uri="{FF2B5EF4-FFF2-40B4-BE49-F238E27FC236}">
                <a16:creationId xmlns:a16="http://schemas.microsoft.com/office/drawing/2014/main" id="{BEC1AD68-2560-0231-F3DD-3451F0CFDE76}"/>
              </a:ext>
            </a:extLst>
          </p:cNvPr>
          <p:cNvSpPr txBox="1">
            <a:spLocks/>
          </p:cNvSpPr>
          <p:nvPr>
            <p:custDataLst>
              <p:tags r:id="rId8"/>
            </p:custDataLst>
          </p:nvPr>
        </p:nvSpPr>
        <p:spPr>
          <a:xfrm>
            <a:off x="6667500" y="2481262"/>
            <a:ext cx="5105400" cy="1866901"/>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spcBef>
                <a:spcPts val="1000"/>
              </a:spcBef>
              <a:buFont typeface="Arial" panose="020B0604020202020204" pitchFamily="34" charset="0"/>
              <a:buNone/>
            </a:pPr>
            <a:r>
              <a:rPr lang="en-US" sz="1400" noProof="1"/>
              <a:t>Logs from Keycloak, SCIM sync service, and connectors are aggregated with Loki and the EFK stack (Elasticsearch, Fluentd, Kibana) for powerful search, visualization, and alerting.</a:t>
            </a:r>
          </a:p>
        </p:txBody>
      </p:sp>
      <p:sp>
        <p:nvSpPr>
          <p:cNvPr id="22" name="Content Placeholder 29">
            <a:extLst>
              <a:ext uri="{FF2B5EF4-FFF2-40B4-BE49-F238E27FC236}">
                <a16:creationId xmlns:a16="http://schemas.microsoft.com/office/drawing/2014/main" id="{D0711FEF-DE35-8A56-F394-2417F73FE32E}"/>
              </a:ext>
            </a:extLst>
          </p:cNvPr>
          <p:cNvSpPr txBox="1">
            <a:spLocks/>
          </p:cNvSpPr>
          <p:nvPr>
            <p:custDataLst>
              <p:tags r:id="rId9"/>
            </p:custDataLst>
          </p:nvPr>
        </p:nvSpPr>
        <p:spPr>
          <a:xfrm>
            <a:off x="6667500" y="4543425"/>
            <a:ext cx="5105400" cy="1866901"/>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spcBef>
                <a:spcPts val="1000"/>
              </a:spcBef>
              <a:buFont typeface="Arial" panose="020B0604020202020204" pitchFamily="34" charset="0"/>
              <a:buNone/>
            </a:pPr>
            <a:r>
              <a:rPr lang="en-US" sz="1400" noProof="1"/>
              <a:t>Audit logs capture OIDC authentication events, admin actions, and ZTNA access logs, ensuring traceability and compliance with security policies and regulations.</a:t>
            </a:r>
          </a:p>
        </p:txBody>
      </p:sp>
      <p:sp>
        <p:nvSpPr>
          <p:cNvPr id="23" name="Text Placeholder 12">
            <a:extLst>
              <a:ext uri="{FF2B5EF4-FFF2-40B4-BE49-F238E27FC236}">
                <a16:creationId xmlns:a16="http://schemas.microsoft.com/office/drawing/2014/main" id="{1E497FCD-187F-C161-0A2F-4D9D1A6965A2}"/>
              </a:ext>
            </a:extLst>
          </p:cNvPr>
          <p:cNvSpPr txBox="1">
            <a:spLocks/>
          </p:cNvSpPr>
          <p:nvPr>
            <p:custDataLst>
              <p:tags r:id="rId10"/>
            </p:custDataLst>
          </p:nvPr>
        </p:nvSpPr>
        <p:spPr>
          <a:xfrm>
            <a:off x="4772722" y="419099"/>
            <a:ext cx="1773852" cy="1866901"/>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000"/>
              </a:spcBef>
              <a:buFont typeface="Arial" panose="020B0604020202020204" pitchFamily="34" charset="0"/>
              <a:buNone/>
            </a:pPr>
            <a:r>
              <a:rPr lang="en-US" b="1" noProof="1">
                <a:latin typeface="+mj-lt"/>
              </a:rPr>
              <a:t>OpenTelemetry (OTEL) Integration</a:t>
            </a:r>
          </a:p>
        </p:txBody>
      </p:sp>
      <p:sp>
        <p:nvSpPr>
          <p:cNvPr id="24" name="Text Placeholder 13">
            <a:extLst>
              <a:ext uri="{FF2B5EF4-FFF2-40B4-BE49-F238E27FC236}">
                <a16:creationId xmlns:a16="http://schemas.microsoft.com/office/drawing/2014/main" id="{67F33DAB-6369-CC10-E3B5-96568F8DA5B7}"/>
              </a:ext>
            </a:extLst>
          </p:cNvPr>
          <p:cNvSpPr txBox="1">
            <a:spLocks/>
          </p:cNvSpPr>
          <p:nvPr>
            <p:custDataLst>
              <p:tags r:id="rId11"/>
            </p:custDataLst>
          </p:nvPr>
        </p:nvSpPr>
        <p:spPr>
          <a:xfrm>
            <a:off x="4772722" y="2481262"/>
            <a:ext cx="1773852" cy="1866901"/>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000"/>
              </a:spcBef>
              <a:buFont typeface="Arial" panose="020B0604020202020204" pitchFamily="34" charset="0"/>
              <a:buNone/>
            </a:pPr>
            <a:r>
              <a:rPr lang="en-US" b="1" noProof="1">
                <a:latin typeface="+mj-lt"/>
              </a:rPr>
              <a:t>Loki/EFK Logging Stack</a:t>
            </a:r>
          </a:p>
        </p:txBody>
      </p:sp>
      <p:sp>
        <p:nvSpPr>
          <p:cNvPr id="25" name="Text Placeholder 14">
            <a:extLst>
              <a:ext uri="{FF2B5EF4-FFF2-40B4-BE49-F238E27FC236}">
                <a16:creationId xmlns:a16="http://schemas.microsoft.com/office/drawing/2014/main" id="{60D20C5C-27B4-F912-9155-1692B7D2DE35}"/>
              </a:ext>
            </a:extLst>
          </p:cNvPr>
          <p:cNvSpPr txBox="1">
            <a:spLocks/>
          </p:cNvSpPr>
          <p:nvPr>
            <p:custDataLst>
              <p:tags r:id="rId12"/>
            </p:custDataLst>
          </p:nvPr>
        </p:nvSpPr>
        <p:spPr>
          <a:xfrm>
            <a:off x="4772722" y="4543425"/>
            <a:ext cx="1773852" cy="1866901"/>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000"/>
              </a:spcBef>
              <a:buFont typeface="Arial" panose="020B0604020202020204" pitchFamily="34" charset="0"/>
              <a:buNone/>
            </a:pPr>
            <a:r>
              <a:rPr lang="en-US" b="1" noProof="1">
                <a:latin typeface="+mj-lt"/>
              </a:rPr>
              <a:t>Audit Trails and Compliance</a:t>
            </a:r>
          </a:p>
        </p:txBody>
      </p:sp>
      <p:grpSp>
        <p:nvGrpSpPr>
          <p:cNvPr id="17" name="Group 16">
            <a:extLst>
              <a:ext uri="{FF2B5EF4-FFF2-40B4-BE49-F238E27FC236}">
                <a16:creationId xmlns:a16="http://schemas.microsoft.com/office/drawing/2014/main" id="{66168C40-76D1-2FF9-FFEB-AFE435825341}"/>
              </a:ext>
            </a:extLst>
          </p:cNvPr>
          <p:cNvGrpSpPr/>
          <p:nvPr>
            <p:custDataLst>
              <p:tags r:id="rId13"/>
            </p:custDataLst>
          </p:nvPr>
        </p:nvGrpSpPr>
        <p:grpSpPr>
          <a:xfrm>
            <a:off x="9440602" y="162617"/>
            <a:ext cx="2576145" cy="1301528"/>
            <a:chOff x="5326996" y="628184"/>
            <a:chExt cx="2576145" cy="1301528"/>
          </a:xfrm>
        </p:grpSpPr>
        <p:sp>
          <p:nvSpPr>
            <p:cNvPr id="18" name="Rounded Rectangle 17">
              <a:extLst>
                <a:ext uri="{FF2B5EF4-FFF2-40B4-BE49-F238E27FC236}">
                  <a16:creationId xmlns:a16="http://schemas.microsoft.com/office/drawing/2014/main" id="{82F4E925-E71A-A42F-A97F-FB2526773215}"/>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9" name="Graphic 18">
              <a:extLst>
                <a:ext uri="{FF2B5EF4-FFF2-40B4-BE49-F238E27FC236}">
                  <a16:creationId xmlns:a16="http://schemas.microsoft.com/office/drawing/2014/main" id="{AB1501B0-2C8F-11DE-B693-9D16B9EB1FA6}"/>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440548" y="734271"/>
              <a:ext cx="219238" cy="219238"/>
            </a:xfrm>
            <a:prstGeom prst="rect">
              <a:avLst/>
            </a:prstGeom>
          </p:spPr>
        </p:pic>
        <p:sp>
          <p:nvSpPr>
            <p:cNvPr id="20" name="Freeform 19">
              <a:extLst>
                <a:ext uri="{FF2B5EF4-FFF2-40B4-BE49-F238E27FC236}">
                  <a16:creationId xmlns:a16="http://schemas.microsoft.com/office/drawing/2014/main" id="{ADF13697-CDFD-6407-83FD-4D0D4B864EE5}"/>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21" name="TextBox 20">
            <a:extLst>
              <a:ext uri="{FF2B5EF4-FFF2-40B4-BE49-F238E27FC236}">
                <a16:creationId xmlns:a16="http://schemas.microsoft.com/office/drawing/2014/main" id="{D3964655-C6F9-FDD2-3146-89631BA4AE49}"/>
              </a:ext>
            </a:extLst>
          </p:cNvPr>
          <p:cNvSpPr txBox="1"/>
          <p:nvPr>
            <p:custDataLst>
              <p:tags r:id="rId14"/>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Customize the observability stack details to reflect your team's existing tools and compliance requirements for the most relevant implementation guidance.</a:t>
            </a:r>
          </a:p>
        </p:txBody>
      </p:sp>
    </p:spTree>
    <p:extLst>
      <p:ext uri="{BB962C8B-B14F-4D97-AF65-F5344CB8AC3E}">
        <p14:creationId xmlns:p14="http://schemas.microsoft.com/office/powerpoint/2010/main" val="2374632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20490EE-4B50-7583-5CAB-D89A2E2FE958}"/>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419099" y="629392"/>
            <a:ext cx="3581401" cy="5771408"/>
          </a:xfrm>
        </p:spPr>
        <p:txBody>
          <a:bodyPr lIns="0" anchor="t">
            <a:normAutofit/>
          </a:bodyPr>
          <a:lstStyle/>
          <a:p>
            <a:pPr>
              <a:lnSpc>
                <a:spcPct val="90000"/>
              </a:lnSpc>
            </a:pPr>
            <a:r>
              <a:rPr lang="en-US" noProof="1"/>
              <a:t>CI/CD and Deployment Overview</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4343399" y="419100"/>
            <a:ext cx="7429501" cy="5981700"/>
          </a:xfrm>
        </p:spPr>
        <p:txBody>
          <a:bodyPr vert="horz" lIns="91440" tIns="45720" rIns="91440" bIns="45720" rtlCol="0" anchor="ctr">
            <a:normAutofit/>
          </a:bodyPr>
          <a:lstStyle/>
          <a:p>
            <a:pPr marL="407988" indent="-284163">
              <a:lnSpc>
                <a:spcPct val="114000"/>
              </a:lnSpc>
              <a:buClr>
                <a:schemeClr val="accent1"/>
              </a:buClr>
            </a:pPr>
            <a:r>
              <a:rPr lang="en-US" sz="1600" noProof="1"/>
              <a:t>GitLab CI automates build, test, package, and deploy stages for IDaaS components.
Helm charts manage Kubernetes deployments, enabling easy configuration and upgrades.
Multiple environments supported: review apps for feature branches, staging, and production.
Use Docker-in-Docker (DinD) for building container images within the pipeline.
Deployment targets Rancher-managed multi-region Kubernetes clusters.</a:t>
            </a:r>
          </a:p>
        </p:txBody>
      </p:sp>
      <p:sp>
        <p:nvSpPr>
          <p:cNvPr id="5" name="TextBox 4">
            <a:extLst>
              <a:ext uri="{FF2B5EF4-FFF2-40B4-BE49-F238E27FC236}">
                <a16:creationId xmlns:a16="http://schemas.microsoft.com/office/drawing/2014/main" id="{343D758A-379D-3839-15DB-554B84577D0A}"/>
              </a:ext>
            </a:extLst>
          </p:cNvPr>
          <p:cNvSpPr txBox="1"/>
          <p:nvPr>
            <p:custDataLst>
              <p:tags r:id="rId4"/>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Deployment</a:t>
            </a:r>
          </a:p>
        </p:txBody>
      </p:sp>
      <p:sp>
        <p:nvSpPr>
          <p:cNvPr id="7" name="Rectangle 6">
            <a:extLst>
              <a:ext uri="{FF2B5EF4-FFF2-40B4-BE49-F238E27FC236}">
                <a16:creationId xmlns:a16="http://schemas.microsoft.com/office/drawing/2014/main" id="{E8980B1E-BBA0-DBA3-3985-119902D60EE2}"/>
              </a:ext>
            </a:extLst>
          </p:cNvPr>
          <p:cNvSpPr/>
          <p:nvPr>
            <p:custDataLst>
              <p:tags r:id="rId5"/>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07420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1"/>
            </p:custDataLst>
          </p:nvPr>
        </p:nvSpPr>
        <p:spPr>
          <a:xfrm>
            <a:off x="419098" y="1485900"/>
            <a:ext cx="7035801" cy="640080"/>
          </a:xfrm>
        </p:spPr>
        <p:txBody>
          <a:bodyPr vert="horz" lIns="0" tIns="45720" rIns="91440" bIns="45720" rtlCol="0">
            <a:normAutofit/>
          </a:bodyPr>
          <a:lstStyle/>
          <a:p>
            <a:pPr marL="11111" indent="0">
              <a:buNone/>
            </a:pPr>
            <a:r>
              <a:rPr lang="en-US" sz="1800" b="1" dirty="0">
                <a:latin typeface="+mj-lt"/>
              </a:rPr>
              <a:t>Minimal .gitlab-ci.yml Pipeline Overview</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2"/>
            </p:custDataLst>
          </p:nvPr>
        </p:nvSpPr>
        <p:spPr>
          <a:xfrm>
            <a:off x="7962900" y="1485900"/>
            <a:ext cx="3810000" cy="640080"/>
          </a:xfrm>
        </p:spPr>
        <p:txBody>
          <a:bodyPr vert="horz" lIns="0" tIns="45720" rIns="91440" bIns="45720" rtlCol="0">
            <a:normAutofit/>
          </a:bodyPr>
          <a:lstStyle/>
          <a:p>
            <a:pPr marL="11111" indent="0">
              <a:buNone/>
            </a:pPr>
            <a:r>
              <a:rPr lang="en-US" sz="1800" b="1" dirty="0">
                <a:latin typeface="+mj-lt"/>
              </a:rPr>
              <a:t>Pipeline Stages and Jobs</a:t>
            </a:r>
          </a:p>
        </p:txBody>
      </p:sp>
      <p:sp>
        <p:nvSpPr>
          <p:cNvPr id="5" name="Rectangle 4">
            <a:extLst>
              <a:ext uri="{FF2B5EF4-FFF2-40B4-BE49-F238E27FC236}">
                <a16:creationId xmlns:a16="http://schemas.microsoft.com/office/drawing/2014/main" id="{0AF36622-A55C-5A4F-35F4-92F434CABF74}"/>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4"/>
            </p:custDataLst>
          </p:nvPr>
        </p:nvSpPr>
        <p:spPr/>
        <p:txBody>
          <a:bodyPr lIns="0">
            <a:normAutofit/>
          </a:bodyPr>
          <a:lstStyle/>
          <a:p>
            <a:r>
              <a:rPr lang="en-US" dirty="0"/>
              <a:t>.gitlab-ci.yml Example</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5"/>
            </p:custDataLst>
          </p:nvPr>
        </p:nvSpPr>
        <p:spPr>
          <a:xfrm>
            <a:off x="7962900" y="2171699"/>
            <a:ext cx="3810000" cy="4114800"/>
          </a:xfrm>
        </p:spPr>
        <p:txBody>
          <a:bodyPr vert="horz" lIns="0" tIns="45720" rIns="91440" bIns="45720" rtlCol="0" anchor="t">
            <a:normAutofit/>
          </a:bodyPr>
          <a:lstStyle/>
          <a:p>
            <a:pPr marL="407988" indent="-284163">
              <a:lnSpc>
                <a:spcPct val="114000"/>
              </a:lnSpc>
              <a:buClr>
                <a:schemeClr val="accent1"/>
              </a:buClr>
            </a:pPr>
            <a:r>
              <a:rPr lang="en-US" sz="1400" dirty="0"/>
              <a:t>Pipeline includes lint, build, package, and deploy stages for IDaaS components.
Lint stage validates Helm charts to catch configuration issues early.
Build stage compiles and pushes container images like the SCIM sync service.
Deploy stage uses Helm to install or upgrade components in Kubernetes clusters.</a:t>
            </a:r>
          </a:p>
        </p:txBody>
      </p:sp>
      <p:grpSp>
        <p:nvGrpSpPr>
          <p:cNvPr id="14" name="Group 13">
            <a:extLst>
              <a:ext uri="{FF2B5EF4-FFF2-40B4-BE49-F238E27FC236}">
                <a16:creationId xmlns:a16="http://schemas.microsoft.com/office/drawing/2014/main" id="{20D4B899-C8A2-61B2-5F5E-7168E6F070DA}"/>
              </a:ext>
            </a:extLst>
          </p:cNvPr>
          <p:cNvGrpSpPr/>
          <p:nvPr>
            <p:custDataLst>
              <p:tags r:id="rId6"/>
            </p:custDataLst>
          </p:nvPr>
        </p:nvGrpSpPr>
        <p:grpSpPr>
          <a:xfrm>
            <a:off x="9440602" y="162617"/>
            <a:ext cx="2576145" cy="1301528"/>
            <a:chOff x="5326996" y="628184"/>
            <a:chExt cx="2576145" cy="1301528"/>
          </a:xfrm>
        </p:grpSpPr>
        <p:sp>
          <p:nvSpPr>
            <p:cNvPr id="15" name="Rounded Rectangle 14">
              <a:extLst>
                <a:ext uri="{FF2B5EF4-FFF2-40B4-BE49-F238E27FC236}">
                  <a16:creationId xmlns:a16="http://schemas.microsoft.com/office/drawing/2014/main" id="{11F09275-22DF-4B5C-844F-12C7EC1ED5D7}"/>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solidFill>
                  <a:srgbClr val="100F19"/>
                </a:solidFill>
              </a:endParaRPr>
            </a:p>
          </p:txBody>
        </p:sp>
        <p:pic>
          <p:nvPicPr>
            <p:cNvPr id="16" name="Graphic 15">
              <a:extLst>
                <a:ext uri="{FF2B5EF4-FFF2-40B4-BE49-F238E27FC236}">
                  <a16:creationId xmlns:a16="http://schemas.microsoft.com/office/drawing/2014/main" id="{D923D4A2-E75A-19FA-B569-5C01C7943B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40548" y="734271"/>
              <a:ext cx="219238" cy="219238"/>
            </a:xfrm>
            <a:prstGeom prst="rect">
              <a:avLst/>
            </a:prstGeom>
          </p:spPr>
        </p:pic>
        <p:sp>
          <p:nvSpPr>
            <p:cNvPr id="17" name="Freeform 16">
              <a:extLst>
                <a:ext uri="{FF2B5EF4-FFF2-40B4-BE49-F238E27FC236}">
                  <a16:creationId xmlns:a16="http://schemas.microsoft.com/office/drawing/2014/main" id="{231E91C4-8F92-0E27-CE4F-4BC0DB589431}"/>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a:solidFill>
                  <a:srgbClr val="100F19"/>
                </a:solidFill>
              </a:endParaRPr>
            </a:p>
          </p:txBody>
        </p:sp>
      </p:grpSp>
      <p:sp>
        <p:nvSpPr>
          <p:cNvPr id="18" name="TextBox 17">
            <a:extLst>
              <a:ext uri="{FF2B5EF4-FFF2-40B4-BE49-F238E27FC236}">
                <a16:creationId xmlns:a16="http://schemas.microsoft.com/office/drawing/2014/main" id="{067DABDE-2F85-F9B7-187E-706888B93A15}"/>
              </a:ext>
            </a:extLst>
          </p:cNvPr>
          <p:cNvSpPr txBox="1"/>
          <p:nvPr>
            <p:custDataLst>
              <p:tags r:id="rId7"/>
            </p:custDataLst>
          </p:nvPr>
        </p:nvSpPr>
        <p:spPr>
          <a:xfrm>
            <a:off x="9552588" y="542869"/>
            <a:ext cx="2351599" cy="825024"/>
          </a:xfrm>
          <a:prstGeom prst="rect">
            <a:avLst/>
          </a:prstGeom>
          <a:noFill/>
        </p:spPr>
        <p:txBody>
          <a:bodyPr wrap="square" lIns="0" tIns="45720" rIns="0" bIns="0" rtlCol="0">
            <a:normAutofit/>
          </a:bodyPr>
          <a:lstStyle/>
          <a:p>
            <a:r>
              <a:rPr lang="en-US" sz="1100" dirty="0">
                <a:solidFill>
                  <a:srgbClr val="100F19"/>
                </a:solidFill>
                <a:latin typeface="Franklin Gothic Book" panose="020B0503020102020204" pitchFamily="34" charset="0"/>
              </a:rPr>
              <a:t>Adapt the pipeline by adding extra testing or environment-specific deploy rules to fit your project needs.</a:t>
            </a:r>
          </a:p>
        </p:txBody>
      </p:sp>
      <p:graphicFrame>
        <p:nvGraphicFramePr>
          <p:cNvPr id="11" name="Content Placeholder 8">
            <a:extLst>
              <a:ext uri="{FF2B5EF4-FFF2-40B4-BE49-F238E27FC236}">
                <a16:creationId xmlns:a16="http://schemas.microsoft.com/office/drawing/2014/main" id="{D72709A4-C490-F9A3-8183-9DADA50EC922}"/>
              </a:ext>
            </a:extLst>
          </p:cNvPr>
          <p:cNvGraphicFramePr>
            <a:graphicFrameLocks/>
          </p:cNvGraphicFramePr>
          <p:nvPr>
            <p:custDataLst>
              <p:tags r:id="rId8"/>
            </p:custDataLst>
          </p:nvPr>
        </p:nvGraphicFramePr>
        <p:xfrm>
          <a:off x="419098" y="2125980"/>
          <a:ext cx="7035801" cy="4160519"/>
        </p:xfrm>
        <a:graphic>
          <a:graphicData uri="http://schemas.openxmlformats.org/drawingml/2006/chart">
            <c:chart xmlns:c="http://schemas.openxmlformats.org/drawingml/2006/chart" xmlns:r="http://schemas.openxmlformats.org/officeDocument/2006/relationships" r:id="rId14"/>
          </a:graphicData>
        </a:graphic>
      </p:graphicFrame>
      <p:sp>
        <p:nvSpPr>
          <p:cNvPr id="3" name="TextBox 2">
            <a:extLst>
              <a:ext uri="{FF2B5EF4-FFF2-40B4-BE49-F238E27FC236}">
                <a16:creationId xmlns:a16="http://schemas.microsoft.com/office/drawing/2014/main" id="{8F68491D-6630-B412-A47B-405A082D8C2F}"/>
              </a:ext>
            </a:extLst>
          </p:cNvPr>
          <p:cNvSpPr txBox="1"/>
          <p:nvPr>
            <p:custDataLst>
              <p:tags r:id="rId9"/>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CI/CD</a:t>
            </a:r>
          </a:p>
        </p:txBody>
      </p:sp>
    </p:spTree>
    <p:extLst>
      <p:ext uri="{BB962C8B-B14F-4D97-AF65-F5344CB8AC3E}">
        <p14:creationId xmlns:p14="http://schemas.microsoft.com/office/powerpoint/2010/main" val="3492198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4A21B-739C-0492-D2A1-F159E813D31B}"/>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1A769FE-6019-75D7-99CF-3BE605C204E0}"/>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Implementation</a:t>
            </a:r>
          </a:p>
        </p:txBody>
      </p:sp>
      <p:sp>
        <p:nvSpPr>
          <p:cNvPr id="9" name="Title 8">
            <a:extLst>
              <a:ext uri="{FF2B5EF4-FFF2-40B4-BE49-F238E27FC236}">
                <a16:creationId xmlns:a16="http://schemas.microsoft.com/office/drawing/2014/main" id="{1AF73CA9-4815-68AD-0EBB-4508EC298599}"/>
              </a:ext>
            </a:extLst>
          </p:cNvPr>
          <p:cNvSpPr>
            <a:spLocks noGrp="1"/>
          </p:cNvSpPr>
          <p:nvPr>
            <p:ph type="title"/>
            <p:custDataLst>
              <p:tags r:id="rId2"/>
            </p:custDataLst>
          </p:nvPr>
        </p:nvSpPr>
        <p:spPr/>
        <p:txBody>
          <a:bodyPr lIns="0">
            <a:normAutofit/>
          </a:bodyPr>
          <a:lstStyle/>
          <a:p>
            <a:r>
              <a:rPr lang="en-US" noProof="1"/>
              <a:t>Repository Structure for IDaaS</a:t>
            </a:r>
          </a:p>
        </p:txBody>
      </p:sp>
      <p:grpSp>
        <p:nvGrpSpPr>
          <p:cNvPr id="6" name="Group 5">
            <a:extLst>
              <a:ext uri="{FF2B5EF4-FFF2-40B4-BE49-F238E27FC236}">
                <a16:creationId xmlns:a16="http://schemas.microsoft.com/office/drawing/2014/main" id="{96D0608E-8B74-C86D-7A10-54CF09DCD702}"/>
              </a:ext>
            </a:extLst>
          </p:cNvPr>
          <p:cNvGrpSpPr/>
          <p:nvPr>
            <p:custDataLst>
              <p:tags r:id="rId3"/>
            </p:custDataLst>
          </p:nvPr>
        </p:nvGrpSpPr>
        <p:grpSpPr>
          <a:xfrm>
            <a:off x="9440602" y="162617"/>
            <a:ext cx="2576145" cy="1301528"/>
            <a:chOff x="5326996" y="628184"/>
            <a:chExt cx="2576145" cy="1301528"/>
          </a:xfrm>
        </p:grpSpPr>
        <p:sp>
          <p:nvSpPr>
            <p:cNvPr id="7" name="Rounded Rectangle 6">
              <a:extLst>
                <a:ext uri="{FF2B5EF4-FFF2-40B4-BE49-F238E27FC236}">
                  <a16:creationId xmlns:a16="http://schemas.microsoft.com/office/drawing/2014/main" id="{98C9C2AB-717A-4E4F-6560-82FE50930AF5}"/>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8" name="Graphic 7">
              <a:extLst>
                <a:ext uri="{FF2B5EF4-FFF2-40B4-BE49-F238E27FC236}">
                  <a16:creationId xmlns:a16="http://schemas.microsoft.com/office/drawing/2014/main" id="{612BC6DF-B688-ED0D-EA06-4FDE6B2A10A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40548" y="734271"/>
              <a:ext cx="219238" cy="219238"/>
            </a:xfrm>
            <a:prstGeom prst="rect">
              <a:avLst/>
            </a:prstGeom>
          </p:spPr>
        </p:pic>
        <p:sp>
          <p:nvSpPr>
            <p:cNvPr id="19" name="Freeform 18">
              <a:extLst>
                <a:ext uri="{FF2B5EF4-FFF2-40B4-BE49-F238E27FC236}">
                  <a16:creationId xmlns:a16="http://schemas.microsoft.com/office/drawing/2014/main" id="{8C62EBF6-9BC0-710B-C612-C3F1FE1D6E83}"/>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20" name="TextBox 19">
            <a:extLst>
              <a:ext uri="{FF2B5EF4-FFF2-40B4-BE49-F238E27FC236}">
                <a16:creationId xmlns:a16="http://schemas.microsoft.com/office/drawing/2014/main" id="{9C7C3DB3-A09F-F34A-EB84-DF6FC249A2A5}"/>
              </a:ext>
            </a:extLst>
          </p:cNvPr>
          <p:cNvSpPr txBox="1"/>
          <p:nvPr>
            <p:custDataLst>
              <p:tags r:id="rId4"/>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Customize this slide by adding specific tooling or process notes relevant to your engineering team's existing workflows or technologies.</a:t>
            </a:r>
          </a:p>
        </p:txBody>
      </p:sp>
      <p:sp>
        <p:nvSpPr>
          <p:cNvPr id="22" name="Rectangle 21">
            <a:extLst>
              <a:ext uri="{FF2B5EF4-FFF2-40B4-BE49-F238E27FC236}">
                <a16:creationId xmlns:a16="http://schemas.microsoft.com/office/drawing/2014/main" id="{2B68222D-560D-0E12-D719-BDFAB9F91CBE}"/>
              </a:ext>
            </a:extLst>
          </p:cNvPr>
          <p:cNvSpPr/>
          <p:nvPr>
            <p:custDataLst>
              <p:tags r:id="rId5"/>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
        <p:nvSpPr>
          <p:cNvPr id="30" name="Content Placeholder 9">
            <a:extLst>
              <a:ext uri="{FF2B5EF4-FFF2-40B4-BE49-F238E27FC236}">
                <a16:creationId xmlns:a16="http://schemas.microsoft.com/office/drawing/2014/main" id="{A161B336-BB1D-8027-1A11-E4187510C76A}"/>
              </a:ext>
            </a:extLst>
          </p:cNvPr>
          <p:cNvSpPr txBox="1">
            <a:spLocks/>
          </p:cNvSpPr>
          <p:nvPr>
            <p:custDataLst>
              <p:tags r:id="rId6"/>
            </p:custDataLst>
          </p:nvPr>
        </p:nvSpPr>
        <p:spPr>
          <a:xfrm>
            <a:off x="419100" y="2545079"/>
            <a:ext cx="219456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Contains infrastructure-as-code such as Terraform scripts for cluster provisioning, DNS setup, and Cloudflare configuration to automate and manage the foundational platform components.</a:t>
            </a:r>
          </a:p>
        </p:txBody>
      </p:sp>
      <p:sp>
        <p:nvSpPr>
          <p:cNvPr id="31" name="Content Placeholder 10">
            <a:extLst>
              <a:ext uri="{FF2B5EF4-FFF2-40B4-BE49-F238E27FC236}">
                <a16:creationId xmlns:a16="http://schemas.microsoft.com/office/drawing/2014/main" id="{C3E4F1A3-4EE6-E248-C179-8EB2D51D975A}"/>
              </a:ext>
            </a:extLst>
          </p:cNvPr>
          <p:cNvSpPr txBox="1">
            <a:spLocks/>
          </p:cNvSpPr>
          <p:nvPr>
            <p:custDataLst>
              <p:tags r:id="rId7"/>
            </p:custDataLst>
          </p:nvPr>
        </p:nvSpPr>
        <p:spPr>
          <a:xfrm>
            <a:off x="2701686" y="2545079"/>
            <a:ext cx="219456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Holds Helm charts for deploying core IDaaS components like Keycloak, YugabyteDB, OpenLDAP/FreeIPA, SCIM sync services, observability stacks, and Cloudflare Access connectors.</a:t>
            </a:r>
          </a:p>
        </p:txBody>
      </p:sp>
      <p:sp>
        <p:nvSpPr>
          <p:cNvPr id="32" name="Text Placeholder 12">
            <a:extLst>
              <a:ext uri="{FF2B5EF4-FFF2-40B4-BE49-F238E27FC236}">
                <a16:creationId xmlns:a16="http://schemas.microsoft.com/office/drawing/2014/main" id="{C850F074-1295-3080-23EF-DA00959286D9}"/>
              </a:ext>
            </a:extLst>
          </p:cNvPr>
          <p:cNvSpPr txBox="1">
            <a:spLocks/>
          </p:cNvSpPr>
          <p:nvPr>
            <p:custDataLst>
              <p:tags r:id="rId8"/>
            </p:custDataLst>
          </p:nvPr>
        </p:nvSpPr>
        <p:spPr>
          <a:xfrm>
            <a:off x="419100" y="1905000"/>
            <a:ext cx="219456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/infra/ Directory</a:t>
            </a:r>
          </a:p>
        </p:txBody>
      </p:sp>
      <p:sp>
        <p:nvSpPr>
          <p:cNvPr id="33" name="Text Placeholder 13">
            <a:extLst>
              <a:ext uri="{FF2B5EF4-FFF2-40B4-BE49-F238E27FC236}">
                <a16:creationId xmlns:a16="http://schemas.microsoft.com/office/drawing/2014/main" id="{077018B0-A7AB-1563-C92B-F7DE6014F8F3}"/>
              </a:ext>
            </a:extLst>
          </p:cNvPr>
          <p:cNvSpPr txBox="1">
            <a:spLocks/>
          </p:cNvSpPr>
          <p:nvPr>
            <p:custDataLst>
              <p:tags r:id="rId9"/>
            </p:custDataLst>
          </p:nvPr>
        </p:nvSpPr>
        <p:spPr>
          <a:xfrm>
            <a:off x="2701686" y="1910151"/>
            <a:ext cx="219456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/charts/ Directory</a:t>
            </a:r>
          </a:p>
        </p:txBody>
      </p:sp>
      <p:sp>
        <p:nvSpPr>
          <p:cNvPr id="34" name="Content Placeholder 11">
            <a:extLst>
              <a:ext uri="{FF2B5EF4-FFF2-40B4-BE49-F238E27FC236}">
                <a16:creationId xmlns:a16="http://schemas.microsoft.com/office/drawing/2014/main" id="{526790A7-0681-FA55-8DCD-1EE99EDE69AF}"/>
              </a:ext>
            </a:extLst>
          </p:cNvPr>
          <p:cNvSpPr txBox="1">
            <a:spLocks/>
          </p:cNvSpPr>
          <p:nvPr>
            <p:custDataLst>
              <p:tags r:id="rId10"/>
            </p:custDataLst>
          </p:nvPr>
        </p:nvSpPr>
        <p:spPr>
          <a:xfrm>
            <a:off x="4984274" y="2545079"/>
            <a:ext cx="219456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Includes source code and Dockerfiles for application-level services such as the SCIM synchronization service, enabling containerized deployment and version control.</a:t>
            </a:r>
          </a:p>
        </p:txBody>
      </p:sp>
      <p:sp>
        <p:nvSpPr>
          <p:cNvPr id="35" name="Content Placeholder 1">
            <a:extLst>
              <a:ext uri="{FF2B5EF4-FFF2-40B4-BE49-F238E27FC236}">
                <a16:creationId xmlns:a16="http://schemas.microsoft.com/office/drawing/2014/main" id="{537D2E9B-B4A8-4735-2FB8-CDAEA52BD043}"/>
              </a:ext>
            </a:extLst>
          </p:cNvPr>
          <p:cNvSpPr txBox="1">
            <a:spLocks/>
          </p:cNvSpPr>
          <p:nvPr>
            <p:custDataLst>
              <p:tags r:id="rId11"/>
            </p:custDataLst>
          </p:nvPr>
        </p:nvSpPr>
        <p:spPr>
          <a:xfrm>
            <a:off x="7266860" y="2545079"/>
            <a:ext cx="219456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Stores JSON or ZIP Keycloak realm templates, client configurations, role definitions, and policy files to enable multi-tenant realm management and automated realm provisioning.</a:t>
            </a:r>
          </a:p>
        </p:txBody>
      </p:sp>
      <p:sp>
        <p:nvSpPr>
          <p:cNvPr id="36" name="Text Placeholder 14">
            <a:extLst>
              <a:ext uri="{FF2B5EF4-FFF2-40B4-BE49-F238E27FC236}">
                <a16:creationId xmlns:a16="http://schemas.microsoft.com/office/drawing/2014/main" id="{F795A016-AC84-D240-F54E-664726485F68}"/>
              </a:ext>
            </a:extLst>
          </p:cNvPr>
          <p:cNvSpPr txBox="1">
            <a:spLocks/>
          </p:cNvSpPr>
          <p:nvPr>
            <p:custDataLst>
              <p:tags r:id="rId12"/>
            </p:custDataLst>
          </p:nvPr>
        </p:nvSpPr>
        <p:spPr>
          <a:xfrm>
            <a:off x="4984274" y="1905000"/>
            <a:ext cx="219456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/apps/ Directory</a:t>
            </a:r>
          </a:p>
        </p:txBody>
      </p:sp>
      <p:sp>
        <p:nvSpPr>
          <p:cNvPr id="37" name="Text Placeholder 2">
            <a:extLst>
              <a:ext uri="{FF2B5EF4-FFF2-40B4-BE49-F238E27FC236}">
                <a16:creationId xmlns:a16="http://schemas.microsoft.com/office/drawing/2014/main" id="{2E373A4E-66B0-51E1-B494-76C40ED8A8A9}"/>
              </a:ext>
            </a:extLst>
          </p:cNvPr>
          <p:cNvSpPr txBox="1">
            <a:spLocks/>
          </p:cNvSpPr>
          <p:nvPr>
            <p:custDataLst>
              <p:tags r:id="rId13"/>
            </p:custDataLst>
          </p:nvPr>
        </p:nvSpPr>
        <p:spPr>
          <a:xfrm>
            <a:off x="7266860" y="1905000"/>
            <a:ext cx="219456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/keycloak/ Directory</a:t>
            </a:r>
          </a:p>
        </p:txBody>
      </p:sp>
      <p:sp>
        <p:nvSpPr>
          <p:cNvPr id="38" name="Content Placeholder 1">
            <a:extLst>
              <a:ext uri="{FF2B5EF4-FFF2-40B4-BE49-F238E27FC236}">
                <a16:creationId xmlns:a16="http://schemas.microsoft.com/office/drawing/2014/main" id="{669F1861-3154-5122-CCA1-A1E7DDFB24F1}"/>
              </a:ext>
            </a:extLst>
          </p:cNvPr>
          <p:cNvSpPr txBox="1">
            <a:spLocks/>
          </p:cNvSpPr>
          <p:nvPr>
            <p:custDataLst>
              <p:tags r:id="rId14"/>
            </p:custDataLst>
          </p:nvPr>
        </p:nvSpPr>
        <p:spPr>
          <a:xfrm>
            <a:off x="9549448" y="2545079"/>
            <a:ext cx="2194560" cy="374904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Contains operational assets like Cloudflare Access policy YAMLs, runbooks for SREs, threat models, audit configurations, and scripts for backup, restore, and key rotation procedures.</a:t>
            </a:r>
          </a:p>
        </p:txBody>
      </p:sp>
      <p:sp>
        <p:nvSpPr>
          <p:cNvPr id="39" name="Text Placeholder 2">
            <a:extLst>
              <a:ext uri="{FF2B5EF4-FFF2-40B4-BE49-F238E27FC236}">
                <a16:creationId xmlns:a16="http://schemas.microsoft.com/office/drawing/2014/main" id="{7456706E-577D-9E8D-934F-4C88A94C27A6}"/>
              </a:ext>
            </a:extLst>
          </p:cNvPr>
          <p:cNvSpPr txBox="1">
            <a:spLocks/>
          </p:cNvSpPr>
          <p:nvPr>
            <p:custDataLst>
              <p:tags r:id="rId15"/>
            </p:custDataLst>
          </p:nvPr>
        </p:nvSpPr>
        <p:spPr>
          <a:xfrm>
            <a:off x="9549448" y="1905000"/>
            <a:ext cx="2194560" cy="640080"/>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2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/ops/ Directory</a:t>
            </a:r>
          </a:p>
        </p:txBody>
      </p:sp>
    </p:spTree>
    <p:extLst>
      <p:ext uri="{BB962C8B-B14F-4D97-AF65-F5344CB8AC3E}">
        <p14:creationId xmlns:p14="http://schemas.microsoft.com/office/powerpoint/2010/main" val="2172220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0F66F7-FD75-399E-EAB8-E45E4C17A141}"/>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Summary</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r>
              <a:rPr lang="en-US" noProof="1"/>
              <a:t>Summary: Why OIDC + LDAP?</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419101" y="2545080"/>
            <a:ext cx="3581399" cy="3749040"/>
          </a:xfrm>
        </p:spPr>
        <p:txBody>
          <a:bodyPr lIns="0">
            <a:normAutofit/>
          </a:bodyPr>
          <a:lstStyle/>
          <a:p>
            <a:pPr marL="11113" indent="0">
              <a:lnSpc>
                <a:spcPct val="114000"/>
              </a:lnSpc>
              <a:buNone/>
            </a:pPr>
            <a:r>
              <a:rPr lang="en-US" noProof="1"/>
              <a:t>OIDC is the standard for cloud-native, web and mobile apps, enabling secure SSO, JWTs, and delegated access. It provides a scalable, multi-tenant identity layer essential for modern IDaaS implementations.</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4305301" y="2545080"/>
            <a:ext cx="3581399" cy="3749040"/>
          </a:xfrm>
        </p:spPr>
        <p:txBody>
          <a:bodyPr lIns="0">
            <a:normAutofit/>
          </a:bodyPr>
          <a:lstStyle/>
          <a:p>
            <a:pPr marL="11113" indent="0">
              <a:lnSpc>
                <a:spcPct val="114000"/>
              </a:lnSpc>
              <a:buNone/>
            </a:pPr>
            <a:r>
              <a:rPr lang="en-US" noProof="1"/>
              <a:t>LDAP remains critical for legacy enterprise apps, POSIX/Linux authentication, and network device integrations. It bridges older systems with modern IDaaS, ensuring continuity without forcing immediate modernization.</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5"/>
            </p:custDataLst>
          </p:nvPr>
        </p:nvSpPr>
        <p:spPr>
          <a:xfrm>
            <a:off x="8191500" y="2545080"/>
            <a:ext cx="3581399" cy="3749040"/>
          </a:xfrm>
        </p:spPr>
        <p:txBody>
          <a:bodyPr lIns="0">
            <a:normAutofit/>
          </a:bodyPr>
          <a:lstStyle/>
          <a:p>
            <a:pPr marL="11113" indent="0">
              <a:lnSpc>
                <a:spcPct val="114000"/>
              </a:lnSpc>
              <a:buNone/>
            </a:pPr>
            <a:r>
              <a:rPr lang="en-US" noProof="1"/>
              <a:t>Using OIDC alongside LDAP allows organizations to centralize identity management, maintain policy consistency, and provide seamless access across diverse app ecosystems. This hybrid model supports gradual migration and operational flexibility.</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6"/>
            </p:custDataLst>
          </p:nvPr>
        </p:nvSpPr>
        <p:spPr>
          <a:xfrm>
            <a:off x="419099" y="1905000"/>
            <a:ext cx="3581399" cy="640080"/>
          </a:xfrm>
        </p:spPr>
        <p:txBody>
          <a:bodyPr lIns="0" anchor="t">
            <a:normAutofit/>
          </a:bodyPr>
          <a:lstStyle/>
          <a:p>
            <a:r>
              <a:rPr lang="en-US" sz="1800" noProof="1">
                <a:solidFill>
                  <a:schemeClr val="accent1"/>
                </a:solidFill>
                <a:latin typeface="+mj-lt"/>
              </a:rPr>
              <a:t>OIDC for Modern Identity</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7"/>
            </p:custDataLst>
          </p:nvPr>
        </p:nvSpPr>
        <p:spPr>
          <a:xfrm>
            <a:off x="4305300" y="1905000"/>
            <a:ext cx="3581399" cy="640080"/>
          </a:xfrm>
        </p:spPr>
        <p:txBody>
          <a:bodyPr lIns="0" anchor="t">
            <a:normAutofit/>
          </a:bodyPr>
          <a:lstStyle/>
          <a:p>
            <a:r>
              <a:rPr lang="en-US" sz="1800" noProof="1">
                <a:solidFill>
                  <a:schemeClr val="accent1"/>
                </a:solidFill>
                <a:latin typeface="+mj-lt"/>
              </a:rPr>
              <a:t>LDAP for Legacy Support</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8"/>
            </p:custDataLst>
          </p:nvPr>
        </p:nvSpPr>
        <p:spPr>
          <a:xfrm>
            <a:off x="8191500" y="1905000"/>
            <a:ext cx="3581399" cy="640080"/>
          </a:xfrm>
        </p:spPr>
        <p:txBody>
          <a:bodyPr lIns="0" anchor="t">
            <a:normAutofit/>
          </a:bodyPr>
          <a:lstStyle/>
          <a:p>
            <a:r>
              <a:rPr lang="en-US" sz="1800" noProof="1">
                <a:solidFill>
                  <a:schemeClr val="accent1"/>
                </a:solidFill>
                <a:latin typeface="+mj-lt"/>
              </a:rPr>
              <a:t>Combined Approach Benefits</a:t>
            </a:r>
          </a:p>
        </p:txBody>
      </p:sp>
      <p:sp>
        <p:nvSpPr>
          <p:cNvPr id="2" name="Rectangle 1">
            <a:extLst>
              <a:ext uri="{FF2B5EF4-FFF2-40B4-BE49-F238E27FC236}">
                <a16:creationId xmlns:a16="http://schemas.microsoft.com/office/drawing/2014/main" id="{24D452BE-849A-132F-C49B-B04323F71F56}"/>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8" name="Group 7">
            <a:extLst>
              <a:ext uri="{FF2B5EF4-FFF2-40B4-BE49-F238E27FC236}">
                <a16:creationId xmlns:a16="http://schemas.microsoft.com/office/drawing/2014/main" id="{293E9E9A-3965-124C-2BEB-9A1665F12BCC}"/>
              </a:ext>
            </a:extLst>
          </p:cNvPr>
          <p:cNvGrpSpPr/>
          <p:nvPr>
            <p:custDataLst>
              <p:tags r:id="rId10"/>
            </p:custDataLst>
          </p:nvPr>
        </p:nvGrpSpPr>
        <p:grpSpPr>
          <a:xfrm>
            <a:off x="9440602" y="5344217"/>
            <a:ext cx="2576145" cy="1301528"/>
            <a:chOff x="5326996" y="628184"/>
            <a:chExt cx="2576145" cy="1301528"/>
          </a:xfrm>
        </p:grpSpPr>
        <p:sp>
          <p:nvSpPr>
            <p:cNvPr id="16" name="Rounded Rectangle 15">
              <a:extLst>
                <a:ext uri="{FF2B5EF4-FFF2-40B4-BE49-F238E27FC236}">
                  <a16:creationId xmlns:a16="http://schemas.microsoft.com/office/drawing/2014/main" id="{E06D5A24-A25D-C1E3-B182-6B9CF4290509}"/>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7" name="Graphic 16">
              <a:extLst>
                <a:ext uri="{FF2B5EF4-FFF2-40B4-BE49-F238E27FC236}">
                  <a16:creationId xmlns:a16="http://schemas.microsoft.com/office/drawing/2014/main" id="{A4F35152-7C19-9A10-97CF-953F72EE9FF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40548" y="734271"/>
              <a:ext cx="219238" cy="219238"/>
            </a:xfrm>
            <a:prstGeom prst="rect">
              <a:avLst/>
            </a:prstGeom>
          </p:spPr>
        </p:pic>
        <p:sp>
          <p:nvSpPr>
            <p:cNvPr id="18" name="Freeform 17">
              <a:extLst>
                <a:ext uri="{FF2B5EF4-FFF2-40B4-BE49-F238E27FC236}">
                  <a16:creationId xmlns:a16="http://schemas.microsoft.com/office/drawing/2014/main" id="{A3588467-841C-A33F-1167-1C78EFC1C932}"/>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19" name="TextBox 18">
            <a:extLst>
              <a:ext uri="{FF2B5EF4-FFF2-40B4-BE49-F238E27FC236}">
                <a16:creationId xmlns:a16="http://schemas.microsoft.com/office/drawing/2014/main" id="{89FCBA97-BBAE-9924-16A3-FD54B74362A2}"/>
              </a:ext>
            </a:extLst>
          </p:cNvPr>
          <p:cNvSpPr txBox="1"/>
          <p:nvPr>
            <p:custDataLst>
              <p:tags r:id="rId11"/>
            </p:custDataLst>
          </p:nvPr>
        </p:nvSpPr>
        <p:spPr>
          <a:xfrm>
            <a:off x="9552588" y="57244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Tailor the examples in each section to reflect your organization's specific legacy systems and modern app landscape for maximum relevance.</a:t>
            </a:r>
          </a:p>
        </p:txBody>
      </p:sp>
    </p:spTree>
    <p:extLst>
      <p:ext uri="{BB962C8B-B14F-4D97-AF65-F5344CB8AC3E}">
        <p14:creationId xmlns:p14="http://schemas.microsoft.com/office/powerpoint/2010/main" val="1855347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FF05-78A1-EEAA-0A52-AD3FC99454CC}"/>
            </a:ext>
          </a:extLst>
        </p:cNvPr>
        <p:cNvGrpSpPr/>
        <p:nvPr/>
      </p:nvGrpSpPr>
      <p:grpSpPr>
        <a:xfrm>
          <a:off x="0" y="0"/>
          <a:ext cx="0" cy="0"/>
          <a:chOff x="0" y="0"/>
          <a:chExt cx="0" cy="0"/>
        </a:xfrm>
      </p:grpSpPr>
      <p:pic>
        <p:nvPicPr>
          <p:cNvPr id="8" name="Picture Placeholder 8">
            <a:extLst>
              <a:ext uri="{FF2B5EF4-FFF2-40B4-BE49-F238E27FC236}">
                <a16:creationId xmlns:a16="http://schemas.microsoft.com/office/drawing/2014/main" id="{CD0582AD-FD4C-334F-4A3F-2BACB7359096}"/>
              </a:ext>
            </a:extLst>
          </p:cNvPr>
          <p:cNvPicPr>
            <a:picLocks noChangeAspect="1"/>
          </p:cNvPicPr>
          <p:nvPr>
            <p:custDataLst>
              <p:tags r:id="rId2"/>
            </p:custDataLst>
          </p:nvPr>
        </p:nvPicPr>
        <p:blipFill rotWithShape="1">
          <a:blip r:embed="rId8" cstate="screen">
            <a:extLst>
              <a:ext uri="{28A0092B-C50C-407E-A947-70E740481C1C}">
                <a14:useLocalDpi xmlns:a14="http://schemas.microsoft.com/office/drawing/2010/main"/>
              </a:ext>
            </a:extLst>
          </a:blip>
          <a:srcRect l="8178" r="8178"/>
          <a:stretch/>
        </p:blipFill>
        <p:spPr>
          <a:xfrm>
            <a:off x="228599" y="228600"/>
            <a:ext cx="3771901" cy="6067425"/>
          </a:xfrm>
          <a:prstGeom prst="roundRect">
            <a:avLst>
              <a:gd name="adj" fmla="val 2476"/>
            </a:avLst>
          </a:prstGeom>
        </p:spPr>
      </p:pic>
      <p:sp>
        <p:nvSpPr>
          <p:cNvPr id="2" name="Title 1">
            <a:extLst>
              <a:ext uri="{FF2B5EF4-FFF2-40B4-BE49-F238E27FC236}">
                <a16:creationId xmlns:a16="http://schemas.microsoft.com/office/drawing/2014/main" id="{61E6301F-E0F8-8D5C-FAE0-A212E30E4110}"/>
              </a:ext>
            </a:extLst>
          </p:cNvPr>
          <p:cNvSpPr>
            <a:spLocks noGrp="1"/>
          </p:cNvSpPr>
          <p:nvPr>
            <p:ph type="title" idx="4294967295"/>
            <p:custDataLst>
              <p:tags r:id="rId3"/>
            </p:custDataLst>
          </p:nvPr>
        </p:nvSpPr>
        <p:spPr>
          <a:xfrm>
            <a:off x="4229100" y="629392"/>
            <a:ext cx="7543800" cy="762000"/>
          </a:xfrm>
        </p:spPr>
        <p:txBody>
          <a:bodyPr lIns="0">
            <a:normAutofit/>
          </a:bodyPr>
          <a:lstStyle/>
          <a:p>
            <a:r>
              <a:rPr lang="en-US" noProof="1"/>
              <a:t>Next Steps for Implementation</a:t>
            </a:r>
          </a:p>
        </p:txBody>
      </p:sp>
      <p:sp>
        <p:nvSpPr>
          <p:cNvPr id="3" name="Content Placeholder 2">
            <a:extLst>
              <a:ext uri="{FF2B5EF4-FFF2-40B4-BE49-F238E27FC236}">
                <a16:creationId xmlns:a16="http://schemas.microsoft.com/office/drawing/2014/main" id="{AEF27C81-EA41-94A4-CA1F-0B8A59AA9B33}"/>
              </a:ext>
            </a:extLst>
          </p:cNvPr>
          <p:cNvSpPr>
            <a:spLocks noGrp="1"/>
          </p:cNvSpPr>
          <p:nvPr>
            <p:ph idx="4294967295"/>
            <p:custDataLst>
              <p:tags r:id="rId4"/>
            </p:custDataLst>
          </p:nvPr>
        </p:nvSpPr>
        <p:spPr>
          <a:xfrm>
            <a:off x="4229100" y="1485900"/>
            <a:ext cx="7543800" cy="4799396"/>
          </a:xfrm>
        </p:spPr>
        <p:txBody>
          <a:bodyPr lIns="0" anchor="ctr">
            <a:normAutofit/>
          </a:bodyPr>
          <a:lstStyle/>
          <a:p>
            <a:pPr marL="407988" indent="-284163">
              <a:lnSpc>
                <a:spcPct val="114000"/>
              </a:lnSpc>
              <a:buClr>
                <a:schemeClr val="accent1"/>
              </a:buClr>
            </a:pPr>
            <a:r>
              <a:rPr lang="en-US" noProof="1"/>
              <a:t>Define project scope and tenant requirements to tailor IDaaS components.
Set up Kubernetes clusters with Rancher for multi-region deployment.
Customize and configure Helm charts for Keycloak, OpenLDAP, SCIM sync service, and YugabyteDB.
Implement CI/CD pipelines with GitLab for automated linting, building, packaging, and deployment.
Conduct integration testing with modern and legacy apps to verify OIDC and LDAP workflows.</a:t>
            </a:r>
          </a:p>
        </p:txBody>
      </p:sp>
      <p:sp>
        <p:nvSpPr>
          <p:cNvPr id="5" name="TextBox 4">
            <a:extLst>
              <a:ext uri="{FF2B5EF4-FFF2-40B4-BE49-F238E27FC236}">
                <a16:creationId xmlns:a16="http://schemas.microsoft.com/office/drawing/2014/main" id="{50D05913-94AB-4E5C-B3E1-70DADFEFAD90}"/>
              </a:ext>
            </a:extLst>
          </p:cNvPr>
          <p:cNvSpPr txBox="1"/>
          <p:nvPr>
            <p:custDataLst>
              <p:tags r:id="rId5"/>
            </p:custDataLst>
          </p:nvPr>
        </p:nvSpPr>
        <p:spPr>
          <a:xfrm>
            <a:off x="4229100" y="265211"/>
            <a:ext cx="3657600" cy="304800"/>
          </a:xfrm>
          <a:prstGeom prst="rect">
            <a:avLst/>
          </a:prstGeom>
          <a:noFill/>
        </p:spPr>
        <p:txBody>
          <a:bodyPr wrap="square" lIns="0">
            <a:normAutofit/>
          </a:bodyPr>
          <a:lstStyle/>
          <a:p>
            <a:r>
              <a:rPr lang="en-US" sz="1400" noProof="1">
                <a:solidFill>
                  <a:schemeClr val="tx2"/>
                </a:solidFill>
              </a:rPr>
              <a:t>Implementation</a:t>
            </a:r>
          </a:p>
        </p:txBody>
      </p:sp>
      <p:sp>
        <p:nvSpPr>
          <p:cNvPr id="6" name="Rectangle 5">
            <a:extLst>
              <a:ext uri="{FF2B5EF4-FFF2-40B4-BE49-F238E27FC236}">
                <a16:creationId xmlns:a16="http://schemas.microsoft.com/office/drawing/2014/main" id="{B4D42A8C-22A1-36B1-7FC3-BAE28DAD00A8}"/>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258441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CA17BB-E5C7-774C-1C76-67DC47FCC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4C593-F06E-B157-DFF2-633CAAFD6F4E}"/>
              </a:ext>
            </a:extLst>
          </p:cNvPr>
          <p:cNvSpPr>
            <a:spLocks noGrp="1"/>
          </p:cNvSpPr>
          <p:nvPr>
            <p:ph type="ctrTitle" idx="4294967295"/>
            <p:custDataLst>
              <p:tags r:id="rId2"/>
            </p:custDataLst>
          </p:nvPr>
        </p:nvSpPr>
        <p:spPr>
          <a:xfrm>
            <a:off x="419100" y="419100"/>
            <a:ext cx="3657600" cy="838200"/>
          </a:xfrm>
        </p:spPr>
        <p:txBody>
          <a:bodyPr vert="horz" lIns="0" tIns="45720" rIns="91440" bIns="45720" rtlCol="0" anchor="t">
            <a:normAutofit/>
          </a:bodyPr>
          <a:lstStyle/>
          <a:p>
            <a:pPr>
              <a:lnSpc>
                <a:spcPct val="80000"/>
              </a:lnSpc>
            </a:pPr>
            <a:r>
              <a:rPr lang="en-US" dirty="0">
                <a:solidFill>
                  <a:schemeClr val="tx2"/>
                </a:solidFill>
              </a:rPr>
              <a:t>Thank you</a:t>
            </a:r>
          </a:p>
        </p:txBody>
      </p:sp>
      <p:sp>
        <p:nvSpPr>
          <p:cNvPr id="9" name="Rectangle 8">
            <a:extLst>
              <a:ext uri="{FF2B5EF4-FFF2-40B4-BE49-F238E27FC236}">
                <a16:creationId xmlns:a16="http://schemas.microsoft.com/office/drawing/2014/main" id="{78A444DB-19D6-172A-F8E3-48D0363E87D2}"/>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custDataLst>
      <p:tags r:id="rId1"/>
    </p:custDataLst>
    <p:extLst>
      <p:ext uri="{BB962C8B-B14F-4D97-AF65-F5344CB8AC3E}">
        <p14:creationId xmlns:p14="http://schemas.microsoft.com/office/powerpoint/2010/main" val="3211061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AC2041-B81F-DF74-3731-782709DB8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A7959-DF38-8B75-141E-74FD36F52DAA}"/>
              </a:ext>
            </a:extLst>
          </p:cNvPr>
          <p:cNvSpPr>
            <a:spLocks noGrp="1"/>
          </p:cNvSpPr>
          <p:nvPr>
            <p:ph type="ctrTitle" idx="4294967295"/>
            <p:custDataLst>
              <p:tags r:id="rId2"/>
            </p:custDataLst>
          </p:nvPr>
        </p:nvSpPr>
        <p:spPr>
          <a:xfrm>
            <a:off x="419099" y="419100"/>
            <a:ext cx="11168297" cy="838200"/>
          </a:xfrm>
        </p:spPr>
        <p:txBody>
          <a:bodyPr vert="horz" lIns="0" tIns="45720" rIns="91440" bIns="45720" rtlCol="0" anchor="t">
            <a:normAutofit/>
          </a:bodyPr>
          <a:lstStyle/>
          <a:p>
            <a:pPr>
              <a:lnSpc>
                <a:spcPct val="80000"/>
              </a:lnSpc>
            </a:pPr>
            <a:r>
              <a:rPr lang="en-US" dirty="0">
                <a:solidFill>
                  <a:schemeClr val="tx2"/>
                </a:solidFill>
              </a:rPr>
              <a:t>High-level components (with OIDC + LDAP</a:t>
            </a:r>
          </a:p>
        </p:txBody>
      </p:sp>
      <p:sp>
        <p:nvSpPr>
          <p:cNvPr id="9" name="Rectangle 8">
            <a:extLst>
              <a:ext uri="{FF2B5EF4-FFF2-40B4-BE49-F238E27FC236}">
                <a16:creationId xmlns:a16="http://schemas.microsoft.com/office/drawing/2014/main" id="{3B7B41CA-1E19-B75B-7830-63ED788A8B60}"/>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3" name="Picture 2">
            <a:extLst>
              <a:ext uri="{FF2B5EF4-FFF2-40B4-BE49-F238E27FC236}">
                <a16:creationId xmlns:a16="http://schemas.microsoft.com/office/drawing/2014/main" id="{206689C4-9DB5-D8A0-F19F-88485B5C79CA}"/>
              </a:ext>
            </a:extLst>
          </p:cNvPr>
          <p:cNvPicPr>
            <a:picLocks noChangeAspect="1"/>
          </p:cNvPicPr>
          <p:nvPr/>
        </p:nvPicPr>
        <p:blipFill>
          <a:blip r:embed="rId5"/>
          <a:stretch>
            <a:fillRect/>
          </a:stretch>
        </p:blipFill>
        <p:spPr>
          <a:xfrm>
            <a:off x="29979" y="1317259"/>
            <a:ext cx="12103741" cy="3434621"/>
          </a:xfrm>
          <a:prstGeom prst="rect">
            <a:avLst/>
          </a:prstGeom>
        </p:spPr>
      </p:pic>
    </p:spTree>
    <p:custDataLst>
      <p:tags r:id="rId1"/>
    </p:custDataLst>
    <p:extLst>
      <p:ext uri="{BB962C8B-B14F-4D97-AF65-F5344CB8AC3E}">
        <p14:creationId xmlns:p14="http://schemas.microsoft.com/office/powerpoint/2010/main" val="1665005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CD6E21-9515-DE04-C35B-1C891D55E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940C6-916F-E41C-77E1-5EEA76853F34}"/>
              </a:ext>
            </a:extLst>
          </p:cNvPr>
          <p:cNvSpPr>
            <a:spLocks noGrp="1"/>
          </p:cNvSpPr>
          <p:nvPr>
            <p:ph type="ctrTitle" idx="4294967295"/>
            <p:custDataLst>
              <p:tags r:id="rId2"/>
            </p:custDataLst>
          </p:nvPr>
        </p:nvSpPr>
        <p:spPr>
          <a:xfrm>
            <a:off x="419099" y="419100"/>
            <a:ext cx="11168297" cy="838200"/>
          </a:xfrm>
        </p:spPr>
        <p:txBody>
          <a:bodyPr vert="horz" lIns="0" tIns="45720" rIns="91440" bIns="45720" rtlCol="0" anchor="t">
            <a:normAutofit/>
          </a:bodyPr>
          <a:lstStyle/>
          <a:p>
            <a:pPr>
              <a:lnSpc>
                <a:spcPct val="80000"/>
              </a:lnSpc>
            </a:pPr>
            <a:r>
              <a:rPr lang="en-US" dirty="0">
                <a:solidFill>
                  <a:schemeClr val="tx2"/>
                </a:solidFill>
              </a:rPr>
              <a:t>Login &amp; Access flow (modern app via OIDC</a:t>
            </a:r>
          </a:p>
        </p:txBody>
      </p:sp>
      <p:sp>
        <p:nvSpPr>
          <p:cNvPr id="9" name="Rectangle 8">
            <a:extLst>
              <a:ext uri="{FF2B5EF4-FFF2-40B4-BE49-F238E27FC236}">
                <a16:creationId xmlns:a16="http://schemas.microsoft.com/office/drawing/2014/main" id="{2C96C133-B752-A297-6BF7-4A6C3F4AEDEC}"/>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pic>
        <p:nvPicPr>
          <p:cNvPr id="4" name="Picture 3">
            <a:extLst>
              <a:ext uri="{FF2B5EF4-FFF2-40B4-BE49-F238E27FC236}">
                <a16:creationId xmlns:a16="http://schemas.microsoft.com/office/drawing/2014/main" id="{7D981F47-46C3-019E-4BBE-ED12AB83FA42}"/>
              </a:ext>
            </a:extLst>
          </p:cNvPr>
          <p:cNvPicPr>
            <a:picLocks noChangeAspect="1"/>
          </p:cNvPicPr>
          <p:nvPr/>
        </p:nvPicPr>
        <p:blipFill>
          <a:blip r:embed="rId5"/>
          <a:stretch>
            <a:fillRect/>
          </a:stretch>
        </p:blipFill>
        <p:spPr>
          <a:xfrm>
            <a:off x="85619" y="1594790"/>
            <a:ext cx="12026432" cy="4794852"/>
          </a:xfrm>
          <a:prstGeom prst="rect">
            <a:avLst/>
          </a:prstGeom>
        </p:spPr>
      </p:pic>
    </p:spTree>
    <p:custDataLst>
      <p:tags r:id="rId1"/>
    </p:custDataLst>
    <p:extLst>
      <p:ext uri="{BB962C8B-B14F-4D97-AF65-F5344CB8AC3E}">
        <p14:creationId xmlns:p14="http://schemas.microsoft.com/office/powerpoint/2010/main" val="1467024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d1e65e54-753c-4368-946b-ddb430583b0d"/>
</p:tagLst>
</file>

<file path=ppt/tags/tag2.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3.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5.xml><?xml version="1.0" encoding="utf-8"?>
<p:tagLst xmlns:a="http://schemas.openxmlformats.org/drawingml/2006/main" xmlns:r="http://schemas.openxmlformats.org/officeDocument/2006/relationships" xmlns:p="http://schemas.openxmlformats.org/presentationml/2006/main">
  <p:tag name="PLUS_ID" val="logo"/>
</p:tagLst>
</file>

<file path=ppt/tags/tag6.xml><?xml version="1.0" encoding="utf-8"?>
<p:tagLst xmlns:a="http://schemas.openxmlformats.org/drawingml/2006/main" xmlns:r="http://schemas.openxmlformats.org/officeDocument/2006/relationships" xmlns:p="http://schemas.openxmlformats.org/presentationml/2006/main">
  <p:tag name="PLUS_ID" val="presentation_subtitle"/>
</p:tagLst>
</file>

<file path=ppt/tags/tag7.xml><?xml version="1.0" encoding="utf-8"?>
<p:tagLst xmlns:a="http://schemas.openxmlformats.org/drawingml/2006/main" xmlns:r="http://schemas.openxmlformats.org/officeDocument/2006/relationships" xmlns:p="http://schemas.openxmlformats.org/presentationml/2006/main">
  <p:tag name="PLUS_ID" val="image"/>
</p:tagLst>
</file>

<file path=ppt/tags/tag8.xml><?xml version="1.0" encoding="utf-8"?>
<p:tagLst xmlns:a="http://schemas.openxmlformats.org/drawingml/2006/main" xmlns:r="http://schemas.openxmlformats.org/officeDocument/2006/relationships" xmlns:p="http://schemas.openxmlformats.org/presentationml/2006/main">
  <p:tag name="PLUS_ID" val="title_static"/>
</p:tagLst>
</file>

<file path=ppt/tags/tag9.xml><?xml version="1.0" encoding="utf-8"?>
<p:tagLst xmlns:a="http://schemas.openxmlformats.org/drawingml/2006/main" xmlns:r="http://schemas.openxmlformats.org/officeDocument/2006/relationships" xmlns:p="http://schemas.openxmlformats.org/presentationml/2006/main">
  <p:tag name="PLUS_ID" val="agenda"/>
  <p:tag name="PLUS_THEME" val="font_0"/>
</p:tagLst>
</file>

<file path=ppt/tags/tag10.xml><?xml version="1.0" encoding="utf-8"?>
<p:tagLst xmlns:a="http://schemas.openxmlformats.org/drawingml/2006/main" xmlns:r="http://schemas.openxmlformats.org/officeDocument/2006/relationships" xmlns:p="http://schemas.openxmlformats.org/presentationml/2006/main">
  <p:tag name="PLUS_ID" val="logo"/>
</p:tagLst>
</file>

<file path=ppt/tags/tag1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12.xml><?xml version="1.0" encoding="utf-8"?>
<p:tagLst xmlns:a="http://schemas.openxmlformats.org/drawingml/2006/main" xmlns:r="http://schemas.openxmlformats.org/officeDocument/2006/relationships" xmlns:p="http://schemas.openxmlformats.org/presentationml/2006/main">
  <p:tag name="PLUS_ID" val="image"/>
</p:tagLst>
</file>

<file path=ppt/tags/tag13.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14.xml><?xml version="1.0" encoding="utf-8"?>
<p:tagLst xmlns:a="http://schemas.openxmlformats.org/drawingml/2006/main" xmlns:r="http://schemas.openxmlformats.org/officeDocument/2006/relationships" xmlns:p="http://schemas.openxmlformats.org/presentationml/2006/main">
  <p:tag name="PLUS_ID" val="detail"/>
  <p:tag name="PLUS_THEME" val="font_0"/>
</p:tagLst>
</file>

<file path=ppt/tags/tag15.xml><?xml version="1.0" encoding="utf-8"?>
<p:tagLst xmlns:a="http://schemas.openxmlformats.org/drawingml/2006/main" xmlns:r="http://schemas.openxmlformats.org/officeDocument/2006/relationships" xmlns:p="http://schemas.openxmlformats.org/presentationml/2006/main">
  <p:tag name="PLUS_ID" val="tip_wrapper"/>
</p:tagLst>
</file>

<file path=ppt/tags/tag16.xml><?xml version="1.0" encoding="utf-8"?>
<p:tagLst xmlns:a="http://schemas.openxmlformats.org/drawingml/2006/main" xmlns:r="http://schemas.openxmlformats.org/officeDocument/2006/relationships" xmlns:p="http://schemas.openxmlformats.org/presentationml/2006/main">
  <p:tag name="PLUS_ID" val="plus_tip"/>
</p:tagLst>
</file>

<file path=ppt/tags/tag17.xml><?xml version="1.0" encoding="utf-8"?>
<p:tagLst xmlns:a="http://schemas.openxmlformats.org/drawingml/2006/main" xmlns:r="http://schemas.openxmlformats.org/officeDocument/2006/relationships" xmlns:p="http://schemas.openxmlformats.org/presentationml/2006/main">
  <p:tag name="PLUS_ID" val="chapter"/>
</p:tagLst>
</file>

<file path=ppt/tags/tag18.xml><?xml version="1.0" encoding="utf-8"?>
<p:tagLst xmlns:a="http://schemas.openxmlformats.org/drawingml/2006/main" xmlns:r="http://schemas.openxmlformats.org/officeDocument/2006/relationships" xmlns:p="http://schemas.openxmlformats.org/presentationml/2006/main">
  <p:tag name="PLUS_ID" val="logo"/>
</p:tagLst>
</file>

<file path=ppt/tags/tag19.xml><?xml version="1.0" encoding="utf-8"?>
<p:tagLst xmlns:a="http://schemas.openxmlformats.org/drawingml/2006/main" xmlns:r="http://schemas.openxmlformats.org/officeDocument/2006/relationships" xmlns:p="http://schemas.openxmlformats.org/presentationml/2006/main">
  <p:tag name="PLUS_ID" val="chapter"/>
</p:tagLst>
</file>

<file path=ppt/tags/tag20.xml><?xml version="1.0" encoding="utf-8"?>
<p:tagLst xmlns:a="http://schemas.openxmlformats.org/drawingml/2006/main" xmlns:r="http://schemas.openxmlformats.org/officeDocument/2006/relationships" xmlns:p="http://schemas.openxmlformats.org/presentationml/2006/main">
  <p:tag name="PLUS_ID" val="title"/>
</p:tagLst>
</file>

<file path=ppt/tags/tag21.xml><?xml version="1.0" encoding="utf-8"?>
<p:tagLst xmlns:a="http://schemas.openxmlformats.org/drawingml/2006/main" xmlns:r="http://schemas.openxmlformats.org/officeDocument/2006/relationships" xmlns:p="http://schemas.openxmlformats.org/presentationml/2006/main">
  <p:tag name="PLUS_ID" val="detail_0"/>
</p:tagLst>
</file>

<file path=ppt/tags/tag22.xml><?xml version="1.0" encoding="utf-8"?>
<p:tagLst xmlns:a="http://schemas.openxmlformats.org/drawingml/2006/main" xmlns:r="http://schemas.openxmlformats.org/officeDocument/2006/relationships" xmlns:p="http://schemas.openxmlformats.org/presentationml/2006/main">
  <p:tag name="PLUS_ID" val="detail_1"/>
</p:tagLst>
</file>

<file path=ppt/tags/tag23.xml><?xml version="1.0" encoding="utf-8"?>
<p:tagLst xmlns:a="http://schemas.openxmlformats.org/drawingml/2006/main" xmlns:r="http://schemas.openxmlformats.org/officeDocument/2006/relationships" xmlns:p="http://schemas.openxmlformats.org/presentationml/2006/main">
  <p:tag name="PLUS_ID" val="detail_2"/>
</p:tagLst>
</file>

<file path=ppt/tags/tag24.xml><?xml version="1.0" encoding="utf-8"?>
<p:tagLst xmlns:a="http://schemas.openxmlformats.org/drawingml/2006/main" xmlns:r="http://schemas.openxmlformats.org/officeDocument/2006/relationships" xmlns:p="http://schemas.openxmlformats.org/presentationml/2006/main">
  <p:tag name="PLUS_ID" val="header_0"/>
</p:tagLst>
</file>

<file path=ppt/tags/tag25.xml><?xml version="1.0" encoding="utf-8"?>
<p:tagLst xmlns:a="http://schemas.openxmlformats.org/drawingml/2006/main" xmlns:r="http://schemas.openxmlformats.org/officeDocument/2006/relationships" xmlns:p="http://schemas.openxmlformats.org/presentationml/2006/main">
  <p:tag name="PLUS_ID" val="header_1"/>
</p:tagLst>
</file>

<file path=ppt/tags/tag26.xml><?xml version="1.0" encoding="utf-8"?>
<p:tagLst xmlns:a="http://schemas.openxmlformats.org/drawingml/2006/main" xmlns:r="http://schemas.openxmlformats.org/officeDocument/2006/relationships" xmlns:p="http://schemas.openxmlformats.org/presentationml/2006/main">
  <p:tag name="PLUS_ID" val="header_2"/>
</p:tagLst>
</file>

<file path=ppt/tags/tag27.xml><?xml version="1.0" encoding="utf-8"?>
<p:tagLst xmlns:a="http://schemas.openxmlformats.org/drawingml/2006/main" xmlns:r="http://schemas.openxmlformats.org/officeDocument/2006/relationships" xmlns:p="http://schemas.openxmlformats.org/presentationml/2006/main">
  <p:tag name="PLUS_ID" val="logo"/>
</p:tagLst>
</file>

<file path=ppt/tags/tag28.xml><?xml version="1.0" encoding="utf-8"?>
<p:tagLst xmlns:a="http://schemas.openxmlformats.org/drawingml/2006/main" xmlns:r="http://schemas.openxmlformats.org/officeDocument/2006/relationships" xmlns:p="http://schemas.openxmlformats.org/presentationml/2006/main">
  <p:tag name="PLUS_ID" val="tip_wrapper"/>
</p:tagLst>
</file>

<file path=ppt/tags/tag29.xml><?xml version="1.0" encoding="utf-8"?>
<p:tagLst xmlns:a="http://schemas.openxmlformats.org/drawingml/2006/main" xmlns:r="http://schemas.openxmlformats.org/officeDocument/2006/relationships" xmlns:p="http://schemas.openxmlformats.org/presentationml/2006/main">
  <p:tag name="PLUS_ID" val="plus_tip"/>
</p:tagLst>
</file>

<file path=ppt/tags/tag30.xml><?xml version="1.0" encoding="utf-8"?>
<p:tagLst xmlns:a="http://schemas.openxmlformats.org/drawingml/2006/main" xmlns:r="http://schemas.openxmlformats.org/officeDocument/2006/relationships" xmlns:p="http://schemas.openxmlformats.org/presentationml/2006/main">
  <p:tag name="PLUS_ID" val="chapter"/>
</p:tagLst>
</file>

<file path=ppt/tags/tag31.xml><?xml version="1.0" encoding="utf-8"?>
<p:tagLst xmlns:a="http://schemas.openxmlformats.org/drawingml/2006/main" xmlns:r="http://schemas.openxmlformats.org/officeDocument/2006/relationships" xmlns:p="http://schemas.openxmlformats.org/presentationml/2006/main">
  <p:tag name="PLUS_ID" val="title"/>
</p:tagLst>
</file>

<file path=ppt/tags/tag32.xml><?xml version="1.0" encoding="utf-8"?>
<p:tagLst xmlns:a="http://schemas.openxmlformats.org/drawingml/2006/main" xmlns:r="http://schemas.openxmlformats.org/officeDocument/2006/relationships" xmlns:p="http://schemas.openxmlformats.org/presentationml/2006/main">
  <p:tag name="PLUS_ID" val="detail_0"/>
</p:tagLst>
</file>

<file path=ppt/tags/tag33.xml><?xml version="1.0" encoding="utf-8"?>
<p:tagLst xmlns:a="http://schemas.openxmlformats.org/drawingml/2006/main" xmlns:r="http://schemas.openxmlformats.org/officeDocument/2006/relationships" xmlns:p="http://schemas.openxmlformats.org/presentationml/2006/main">
  <p:tag name="PLUS_ID" val="detail_1"/>
</p:tagLst>
</file>

<file path=ppt/tags/tag34.xml><?xml version="1.0" encoding="utf-8"?>
<p:tagLst xmlns:a="http://schemas.openxmlformats.org/drawingml/2006/main" xmlns:r="http://schemas.openxmlformats.org/officeDocument/2006/relationships" xmlns:p="http://schemas.openxmlformats.org/presentationml/2006/main">
  <p:tag name="PLUS_ID" val="detail_2"/>
</p:tagLst>
</file>

<file path=ppt/tags/tag35.xml><?xml version="1.0" encoding="utf-8"?>
<p:tagLst xmlns:a="http://schemas.openxmlformats.org/drawingml/2006/main" xmlns:r="http://schemas.openxmlformats.org/officeDocument/2006/relationships" xmlns:p="http://schemas.openxmlformats.org/presentationml/2006/main">
  <p:tag name="PLUS_ID" val="header_0"/>
</p:tagLst>
</file>

<file path=ppt/tags/tag36.xml><?xml version="1.0" encoding="utf-8"?>
<p:tagLst xmlns:a="http://schemas.openxmlformats.org/drawingml/2006/main" xmlns:r="http://schemas.openxmlformats.org/officeDocument/2006/relationships" xmlns:p="http://schemas.openxmlformats.org/presentationml/2006/main">
  <p:tag name="PLUS_ID" val="header_1"/>
</p:tagLst>
</file>

<file path=ppt/tags/tag37.xml><?xml version="1.0" encoding="utf-8"?>
<p:tagLst xmlns:a="http://schemas.openxmlformats.org/drawingml/2006/main" xmlns:r="http://schemas.openxmlformats.org/officeDocument/2006/relationships" xmlns:p="http://schemas.openxmlformats.org/presentationml/2006/main">
  <p:tag name="PLUS_ID" val="header_2"/>
</p:tagLst>
</file>

<file path=ppt/tags/tag38.xml><?xml version="1.0" encoding="utf-8"?>
<p:tagLst xmlns:a="http://schemas.openxmlformats.org/drawingml/2006/main" xmlns:r="http://schemas.openxmlformats.org/officeDocument/2006/relationships" xmlns:p="http://schemas.openxmlformats.org/presentationml/2006/main">
  <p:tag name="PLUS_ID" val="logo"/>
</p:tagLst>
</file>

<file path=ppt/tags/tag39.xml><?xml version="1.0" encoding="utf-8"?>
<p:tagLst xmlns:a="http://schemas.openxmlformats.org/drawingml/2006/main" xmlns:r="http://schemas.openxmlformats.org/officeDocument/2006/relationships" xmlns:p="http://schemas.openxmlformats.org/presentationml/2006/main">
  <p:tag name="PLUS_ID" val="tip_wrapper"/>
</p:tagLst>
</file>

<file path=ppt/tags/tag40.xml><?xml version="1.0" encoding="utf-8"?>
<p:tagLst xmlns:a="http://schemas.openxmlformats.org/drawingml/2006/main" xmlns:r="http://schemas.openxmlformats.org/officeDocument/2006/relationships" xmlns:p="http://schemas.openxmlformats.org/presentationml/2006/main">
  <p:tag name="PLUS_ID" val="plus_tip"/>
</p:tagLst>
</file>

<file path=ppt/tags/tag4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42.xml><?xml version="1.0" encoding="utf-8"?>
<p:tagLst xmlns:a="http://schemas.openxmlformats.org/drawingml/2006/main" xmlns:r="http://schemas.openxmlformats.org/officeDocument/2006/relationships" xmlns:p="http://schemas.openxmlformats.org/presentationml/2006/main">
  <p:tag name="PLUS_ID" val="image"/>
</p:tagLst>
</file>

<file path=ppt/tags/tag43.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44.xml><?xml version="1.0" encoding="utf-8"?>
<p:tagLst xmlns:a="http://schemas.openxmlformats.org/drawingml/2006/main" xmlns:r="http://schemas.openxmlformats.org/officeDocument/2006/relationships" xmlns:p="http://schemas.openxmlformats.org/presentationml/2006/main">
  <p:tag name="PLUS_ID" val="detail"/>
  <p:tag name="PLUS_THEME" val="font_0"/>
</p:tagLst>
</file>

<file path=ppt/tags/tag45.xml><?xml version="1.0" encoding="utf-8"?>
<p:tagLst xmlns:a="http://schemas.openxmlformats.org/drawingml/2006/main" xmlns:r="http://schemas.openxmlformats.org/officeDocument/2006/relationships" xmlns:p="http://schemas.openxmlformats.org/presentationml/2006/main">
  <p:tag name="PLUS_ID" val="chapter"/>
</p:tagLst>
</file>

<file path=ppt/tags/tag46.xml><?xml version="1.0" encoding="utf-8"?>
<p:tagLst xmlns:a="http://schemas.openxmlformats.org/drawingml/2006/main" xmlns:r="http://schemas.openxmlformats.org/officeDocument/2006/relationships" xmlns:p="http://schemas.openxmlformats.org/presentationml/2006/main">
  <p:tag name="PLUS_ID" val="logo"/>
</p:tagLst>
</file>

<file path=ppt/tags/tag47.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48.xml><?xml version="1.0" encoding="utf-8"?>
<p:tagLst xmlns:a="http://schemas.openxmlformats.org/drawingml/2006/main" xmlns:r="http://schemas.openxmlformats.org/officeDocument/2006/relationships" xmlns:p="http://schemas.openxmlformats.org/presentationml/2006/main">
  <p:tag name="PLUS_ID" val="title"/>
</p:tagLst>
</file>

<file path=ppt/tags/tag49.xml><?xml version="1.0" encoding="utf-8"?>
<p:tagLst xmlns:a="http://schemas.openxmlformats.org/drawingml/2006/main" xmlns:r="http://schemas.openxmlformats.org/officeDocument/2006/relationships" xmlns:p="http://schemas.openxmlformats.org/presentationml/2006/main">
  <p:tag name="PLUS_ID" val="detail"/>
  <p:tag name="PLUS_THEME" val="background_0"/>
</p:tagLst>
</file>

<file path=ppt/tags/tag50.xml><?xml version="1.0" encoding="utf-8"?>
<p:tagLst xmlns:a="http://schemas.openxmlformats.org/drawingml/2006/main" xmlns:r="http://schemas.openxmlformats.org/officeDocument/2006/relationships" xmlns:p="http://schemas.openxmlformats.org/presentationml/2006/main">
  <p:tag name="PLUS_ID" val="tip_wrapper"/>
</p:tagLst>
</file>

<file path=ppt/tags/tag51.xml><?xml version="1.0" encoding="utf-8"?>
<p:tagLst xmlns:a="http://schemas.openxmlformats.org/drawingml/2006/main" xmlns:r="http://schemas.openxmlformats.org/officeDocument/2006/relationships" xmlns:p="http://schemas.openxmlformats.org/presentationml/2006/main">
  <p:tag name="PLUS_ID" val="plus_tip"/>
</p:tagLst>
</file>

<file path=ppt/tags/tag52.xml><?xml version="1.0" encoding="utf-8"?>
<p:tagLst xmlns:a="http://schemas.openxmlformats.org/drawingml/2006/main" xmlns:r="http://schemas.openxmlformats.org/officeDocument/2006/relationships" xmlns:p="http://schemas.openxmlformats.org/presentationml/2006/main">
  <p:tag name="PLUS_ID" val="chapter"/>
</p:tagLst>
</file>

<file path=ppt/tags/tag53.xml><?xml version="1.0" encoding="utf-8"?>
<p:tagLst xmlns:a="http://schemas.openxmlformats.org/drawingml/2006/main" xmlns:r="http://schemas.openxmlformats.org/officeDocument/2006/relationships" xmlns:p="http://schemas.openxmlformats.org/presentationml/2006/main">
  <p:tag name="PLUS_ID" val="logo"/>
</p:tagLst>
</file>

<file path=ppt/tags/tag54.xml><?xml version="1.0" encoding="utf-8"?>
<p:tagLst xmlns:a="http://schemas.openxmlformats.org/drawingml/2006/main" xmlns:r="http://schemas.openxmlformats.org/officeDocument/2006/relationships" xmlns:p="http://schemas.openxmlformats.org/presentationml/2006/main">
  <p:tag name="PLUS_ID" val="chapter"/>
</p:tagLst>
</file>

<file path=ppt/tags/tag55.xml><?xml version="1.0" encoding="utf-8"?>
<p:tagLst xmlns:a="http://schemas.openxmlformats.org/drawingml/2006/main" xmlns:r="http://schemas.openxmlformats.org/officeDocument/2006/relationships" xmlns:p="http://schemas.openxmlformats.org/presentationml/2006/main">
  <p:tag name="PLUS_ID" val="title"/>
</p:tagLst>
</file>

<file path=ppt/tags/tag56.xml><?xml version="1.0" encoding="utf-8"?>
<p:tagLst xmlns:a="http://schemas.openxmlformats.org/drawingml/2006/main" xmlns:r="http://schemas.openxmlformats.org/officeDocument/2006/relationships" xmlns:p="http://schemas.openxmlformats.org/presentationml/2006/main">
  <p:tag name="PLUS_ID" val="logo"/>
</p:tagLst>
</file>

<file path=ppt/tags/tag57.xml><?xml version="1.0" encoding="utf-8"?>
<p:tagLst xmlns:a="http://schemas.openxmlformats.org/drawingml/2006/main" xmlns:r="http://schemas.openxmlformats.org/officeDocument/2006/relationships" xmlns:p="http://schemas.openxmlformats.org/presentationml/2006/main">
  <p:tag name="PLUS_ID" val="detail_0"/>
</p:tagLst>
</file>

<file path=ppt/tags/tag58.xml><?xml version="1.0" encoding="utf-8"?>
<p:tagLst xmlns:a="http://schemas.openxmlformats.org/drawingml/2006/main" xmlns:r="http://schemas.openxmlformats.org/officeDocument/2006/relationships" xmlns:p="http://schemas.openxmlformats.org/presentationml/2006/main">
  <p:tag name="PLUS_ID" val="detail_1"/>
</p:tagLst>
</file>

<file path=ppt/tags/tag59.xml><?xml version="1.0" encoding="utf-8"?>
<p:tagLst xmlns:a="http://schemas.openxmlformats.org/drawingml/2006/main" xmlns:r="http://schemas.openxmlformats.org/officeDocument/2006/relationships" xmlns:p="http://schemas.openxmlformats.org/presentationml/2006/main">
  <p:tag name="PLUS_ID" val="header_0"/>
</p:tagLst>
</file>

<file path=ppt/tags/tag60.xml><?xml version="1.0" encoding="utf-8"?>
<p:tagLst xmlns:a="http://schemas.openxmlformats.org/drawingml/2006/main" xmlns:r="http://schemas.openxmlformats.org/officeDocument/2006/relationships" xmlns:p="http://schemas.openxmlformats.org/presentationml/2006/main">
  <p:tag name="PLUS_ID" val="header_1"/>
</p:tagLst>
</file>

<file path=ppt/tags/tag61.xml><?xml version="1.0" encoding="utf-8"?>
<p:tagLst xmlns:a="http://schemas.openxmlformats.org/drawingml/2006/main" xmlns:r="http://schemas.openxmlformats.org/officeDocument/2006/relationships" xmlns:p="http://schemas.openxmlformats.org/presentationml/2006/main">
  <p:tag name="PLUS_ID" val="detail_2"/>
</p:tagLst>
</file>

<file path=ppt/tags/tag62.xml><?xml version="1.0" encoding="utf-8"?>
<p:tagLst xmlns:a="http://schemas.openxmlformats.org/drawingml/2006/main" xmlns:r="http://schemas.openxmlformats.org/officeDocument/2006/relationships" xmlns:p="http://schemas.openxmlformats.org/presentationml/2006/main">
  <p:tag name="PLUS_ID" val="detail_3"/>
</p:tagLst>
</file>

<file path=ppt/tags/tag63.xml><?xml version="1.0" encoding="utf-8"?>
<p:tagLst xmlns:a="http://schemas.openxmlformats.org/drawingml/2006/main" xmlns:r="http://schemas.openxmlformats.org/officeDocument/2006/relationships" xmlns:p="http://schemas.openxmlformats.org/presentationml/2006/main">
  <p:tag name="PLUS_ID" val="header_2"/>
</p:tagLst>
</file>

<file path=ppt/tags/tag64.xml><?xml version="1.0" encoding="utf-8"?>
<p:tagLst xmlns:a="http://schemas.openxmlformats.org/drawingml/2006/main" xmlns:r="http://schemas.openxmlformats.org/officeDocument/2006/relationships" xmlns:p="http://schemas.openxmlformats.org/presentationml/2006/main">
  <p:tag name="PLUS_ID" val="header_3"/>
</p:tagLst>
</file>

<file path=ppt/tags/tag65.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66.xml><?xml version="1.0" encoding="utf-8"?>
<p:tagLst xmlns:a="http://schemas.openxmlformats.org/drawingml/2006/main" xmlns:r="http://schemas.openxmlformats.org/officeDocument/2006/relationships" xmlns:p="http://schemas.openxmlformats.org/presentationml/2006/main">
  <p:tag name="PLUS_ID" val="title"/>
</p:tagLst>
</file>

<file path=ppt/tags/tag67.xml><?xml version="1.0" encoding="utf-8"?>
<p:tagLst xmlns:a="http://schemas.openxmlformats.org/drawingml/2006/main" xmlns:r="http://schemas.openxmlformats.org/officeDocument/2006/relationships" xmlns:p="http://schemas.openxmlformats.org/presentationml/2006/main">
  <p:tag name="PLUS_ID" val="detail"/>
  <p:tag name="PLUS_THEME" val="background_0"/>
</p:tagLst>
</file>

<file path=ppt/tags/tag68.xml><?xml version="1.0" encoding="utf-8"?>
<p:tagLst xmlns:a="http://schemas.openxmlformats.org/drawingml/2006/main" xmlns:r="http://schemas.openxmlformats.org/officeDocument/2006/relationships" xmlns:p="http://schemas.openxmlformats.org/presentationml/2006/main">
  <p:tag name="PLUS_ID" val="tip_wrapper"/>
</p:tagLst>
</file>

<file path=ppt/tags/tag69.xml><?xml version="1.0" encoding="utf-8"?>
<p:tagLst xmlns:a="http://schemas.openxmlformats.org/drawingml/2006/main" xmlns:r="http://schemas.openxmlformats.org/officeDocument/2006/relationships" xmlns:p="http://schemas.openxmlformats.org/presentationml/2006/main">
  <p:tag name="PLUS_ID" val="plus_tip"/>
</p:tagLst>
</file>

<file path=ppt/tags/tag70.xml><?xml version="1.0" encoding="utf-8"?>
<p:tagLst xmlns:a="http://schemas.openxmlformats.org/drawingml/2006/main" xmlns:r="http://schemas.openxmlformats.org/officeDocument/2006/relationships" xmlns:p="http://schemas.openxmlformats.org/presentationml/2006/main">
  <p:tag name="PLUS_ID" val="chapter"/>
</p:tagLst>
</file>

<file path=ppt/tags/tag71.xml><?xml version="1.0" encoding="utf-8"?>
<p:tagLst xmlns:a="http://schemas.openxmlformats.org/drawingml/2006/main" xmlns:r="http://schemas.openxmlformats.org/officeDocument/2006/relationships" xmlns:p="http://schemas.openxmlformats.org/presentationml/2006/main">
  <p:tag name="PLUS_ID" val="logo"/>
</p:tagLst>
</file>

<file path=ppt/tags/tag72.xml><?xml version="1.0" encoding="utf-8"?>
<p:tagLst xmlns:a="http://schemas.openxmlformats.org/drawingml/2006/main" xmlns:r="http://schemas.openxmlformats.org/officeDocument/2006/relationships" xmlns:p="http://schemas.openxmlformats.org/presentationml/2006/main">
  <p:tag name="PLUS_ID" val="chapter"/>
</p:tagLst>
</file>

<file path=ppt/tags/tag73.xml><?xml version="1.0" encoding="utf-8"?>
<p:tagLst xmlns:a="http://schemas.openxmlformats.org/drawingml/2006/main" xmlns:r="http://schemas.openxmlformats.org/officeDocument/2006/relationships" xmlns:p="http://schemas.openxmlformats.org/presentationml/2006/main">
  <p:tag name="PLUS_ID" val="title"/>
</p:tagLst>
</file>

<file path=ppt/tags/tag74.xml><?xml version="1.0" encoding="utf-8"?>
<p:tagLst xmlns:a="http://schemas.openxmlformats.org/drawingml/2006/main" xmlns:r="http://schemas.openxmlformats.org/officeDocument/2006/relationships" xmlns:p="http://schemas.openxmlformats.org/presentationml/2006/main">
  <p:tag name="PLUS_ID" val="header_0"/>
</p:tagLst>
</file>

<file path=ppt/tags/tag75.xml><?xml version="1.0" encoding="utf-8"?>
<p:tagLst xmlns:a="http://schemas.openxmlformats.org/drawingml/2006/main" xmlns:r="http://schemas.openxmlformats.org/officeDocument/2006/relationships" xmlns:p="http://schemas.openxmlformats.org/presentationml/2006/main">
  <p:tag name="PLUS_ID" val="detail_0"/>
</p:tagLst>
</file>

<file path=ppt/tags/tag76.xml><?xml version="1.0" encoding="utf-8"?>
<p:tagLst xmlns:a="http://schemas.openxmlformats.org/drawingml/2006/main" xmlns:r="http://schemas.openxmlformats.org/officeDocument/2006/relationships" xmlns:p="http://schemas.openxmlformats.org/presentationml/2006/main">
  <p:tag name="PLUS_ID" val="header_1"/>
</p:tagLst>
</file>

<file path=ppt/tags/tag77.xml><?xml version="1.0" encoding="utf-8"?>
<p:tagLst xmlns:a="http://schemas.openxmlformats.org/drawingml/2006/main" xmlns:r="http://schemas.openxmlformats.org/officeDocument/2006/relationships" xmlns:p="http://schemas.openxmlformats.org/presentationml/2006/main">
  <p:tag name="PLUS_ID" val="detail_1"/>
</p:tagLst>
</file>

<file path=ppt/tags/tag78.xml><?xml version="1.0" encoding="utf-8"?>
<p:tagLst xmlns:a="http://schemas.openxmlformats.org/drawingml/2006/main" xmlns:r="http://schemas.openxmlformats.org/officeDocument/2006/relationships" xmlns:p="http://schemas.openxmlformats.org/presentationml/2006/main">
  <p:tag name="PLUS_ID" val="image_0"/>
</p:tagLst>
</file>

<file path=ppt/tags/tag79.xml><?xml version="1.0" encoding="utf-8"?>
<p:tagLst xmlns:a="http://schemas.openxmlformats.org/drawingml/2006/main" xmlns:r="http://schemas.openxmlformats.org/officeDocument/2006/relationships" xmlns:p="http://schemas.openxmlformats.org/presentationml/2006/main">
  <p:tag name="PLUS_ID" val="image_1"/>
</p:tagLst>
</file>

<file path=ppt/tags/tag80.xml><?xml version="1.0" encoding="utf-8"?>
<p:tagLst xmlns:a="http://schemas.openxmlformats.org/drawingml/2006/main" xmlns:r="http://schemas.openxmlformats.org/officeDocument/2006/relationships" xmlns:p="http://schemas.openxmlformats.org/presentationml/2006/main">
  <p:tag name="PLUS_ID" val="logo"/>
</p:tagLst>
</file>

<file path=ppt/tags/tag81.xml><?xml version="1.0" encoding="utf-8"?>
<p:tagLst xmlns:a="http://schemas.openxmlformats.org/drawingml/2006/main" xmlns:r="http://schemas.openxmlformats.org/officeDocument/2006/relationships" xmlns:p="http://schemas.openxmlformats.org/presentationml/2006/main">
  <p:tag name="PLUS_ID" val="tip_wrapper"/>
</p:tagLst>
</file>

<file path=ppt/tags/tag82.xml><?xml version="1.0" encoding="utf-8"?>
<p:tagLst xmlns:a="http://schemas.openxmlformats.org/drawingml/2006/main" xmlns:r="http://schemas.openxmlformats.org/officeDocument/2006/relationships" xmlns:p="http://schemas.openxmlformats.org/presentationml/2006/main">
  <p:tag name="PLUS_ID" val="plus_tip"/>
</p:tagLst>
</file>

<file path=ppt/tags/tag83.xml><?xml version="1.0" encoding="utf-8"?>
<p:tagLst xmlns:a="http://schemas.openxmlformats.org/drawingml/2006/main" xmlns:r="http://schemas.openxmlformats.org/officeDocument/2006/relationships" xmlns:p="http://schemas.openxmlformats.org/presentationml/2006/main">
  <p:tag name="PLUS_ID" val="title"/>
</p:tagLst>
</file>

<file path=ppt/tags/tag84.xml><?xml version="1.0" encoding="utf-8"?>
<p:tagLst xmlns:a="http://schemas.openxmlformats.org/drawingml/2006/main" xmlns:r="http://schemas.openxmlformats.org/officeDocument/2006/relationships" xmlns:p="http://schemas.openxmlformats.org/presentationml/2006/main">
  <p:tag name="PLUS_ID" val="header_0"/>
</p:tagLst>
</file>

<file path=ppt/tags/tag85.xml><?xml version="1.0" encoding="utf-8"?>
<p:tagLst xmlns:a="http://schemas.openxmlformats.org/drawingml/2006/main" xmlns:r="http://schemas.openxmlformats.org/officeDocument/2006/relationships" xmlns:p="http://schemas.openxmlformats.org/presentationml/2006/main">
  <p:tag name="PLUS_ID" val="detail_0"/>
</p:tagLst>
</file>

<file path=ppt/tags/tag86.xml><?xml version="1.0" encoding="utf-8"?>
<p:tagLst xmlns:a="http://schemas.openxmlformats.org/drawingml/2006/main" xmlns:r="http://schemas.openxmlformats.org/officeDocument/2006/relationships" xmlns:p="http://schemas.openxmlformats.org/presentationml/2006/main">
  <p:tag name="PLUS_ID" val="header_1"/>
</p:tagLst>
</file>

<file path=ppt/tags/tag87.xml><?xml version="1.0" encoding="utf-8"?>
<p:tagLst xmlns:a="http://schemas.openxmlformats.org/drawingml/2006/main" xmlns:r="http://schemas.openxmlformats.org/officeDocument/2006/relationships" xmlns:p="http://schemas.openxmlformats.org/presentationml/2006/main">
  <p:tag name="PLUS_ID" val="detail_1"/>
</p:tagLst>
</file>

<file path=ppt/tags/tag88.xml><?xml version="1.0" encoding="utf-8"?>
<p:tagLst xmlns:a="http://schemas.openxmlformats.org/drawingml/2006/main" xmlns:r="http://schemas.openxmlformats.org/officeDocument/2006/relationships" xmlns:p="http://schemas.openxmlformats.org/presentationml/2006/main">
  <p:tag name="PLUS_ID" val="logo"/>
</p:tagLst>
</file>

<file path=ppt/tags/tag89.xml><?xml version="1.0" encoding="utf-8"?>
<p:tagLst xmlns:a="http://schemas.openxmlformats.org/drawingml/2006/main" xmlns:r="http://schemas.openxmlformats.org/officeDocument/2006/relationships" xmlns:p="http://schemas.openxmlformats.org/presentationml/2006/main">
  <p:tag name="PLUS_ID" val="tip_wrapper"/>
</p:tagLst>
</file>

<file path=ppt/tags/tag90.xml><?xml version="1.0" encoding="utf-8"?>
<p:tagLst xmlns:a="http://schemas.openxmlformats.org/drawingml/2006/main" xmlns:r="http://schemas.openxmlformats.org/officeDocument/2006/relationships" xmlns:p="http://schemas.openxmlformats.org/presentationml/2006/main">
  <p:tag name="PLUS_ID" val="plus_tip"/>
</p:tagLst>
</file>

<file path=ppt/tags/tag91.xml><?xml version="1.0" encoding="utf-8"?>
<p:tagLst xmlns:a="http://schemas.openxmlformats.org/drawingml/2006/main" xmlns:r="http://schemas.openxmlformats.org/officeDocument/2006/relationships" xmlns:p="http://schemas.openxmlformats.org/presentationml/2006/main">
  <p:tag name="PLUS_ID" val="chapter"/>
</p:tagLst>
</file>

<file path=ppt/tags/tag92.xml><?xml version="1.0" encoding="utf-8"?>
<p:tagLst xmlns:a="http://schemas.openxmlformats.org/drawingml/2006/main" xmlns:r="http://schemas.openxmlformats.org/officeDocument/2006/relationships" xmlns:p="http://schemas.openxmlformats.org/presentationml/2006/main">
  <p:tag name="PLUS_ID" val="title"/>
</p:tagLst>
</file>

<file path=ppt/tags/tag93.xml><?xml version="1.0" encoding="utf-8"?>
<p:tagLst xmlns:a="http://schemas.openxmlformats.org/drawingml/2006/main" xmlns:r="http://schemas.openxmlformats.org/officeDocument/2006/relationships" xmlns:p="http://schemas.openxmlformats.org/presentationml/2006/main">
  <p:tag name="PLUS_ID" val="header_0"/>
</p:tagLst>
</file>

<file path=ppt/tags/tag94.xml><?xml version="1.0" encoding="utf-8"?>
<p:tagLst xmlns:a="http://schemas.openxmlformats.org/drawingml/2006/main" xmlns:r="http://schemas.openxmlformats.org/officeDocument/2006/relationships" xmlns:p="http://schemas.openxmlformats.org/presentationml/2006/main">
  <p:tag name="PLUS_ID" val="detail_0"/>
</p:tagLst>
</file>

<file path=ppt/tags/tag95.xml><?xml version="1.0" encoding="utf-8"?>
<p:tagLst xmlns:a="http://schemas.openxmlformats.org/drawingml/2006/main" xmlns:r="http://schemas.openxmlformats.org/officeDocument/2006/relationships" xmlns:p="http://schemas.openxmlformats.org/presentationml/2006/main">
  <p:tag name="PLUS_ID" val="header_1"/>
</p:tagLst>
</file>

<file path=ppt/tags/tag96.xml><?xml version="1.0" encoding="utf-8"?>
<p:tagLst xmlns:a="http://schemas.openxmlformats.org/drawingml/2006/main" xmlns:r="http://schemas.openxmlformats.org/officeDocument/2006/relationships" xmlns:p="http://schemas.openxmlformats.org/presentationml/2006/main">
  <p:tag name="PLUS_ID" val="detail_1"/>
</p:tagLst>
</file>

<file path=ppt/tags/tag97.xml><?xml version="1.0" encoding="utf-8"?>
<p:tagLst xmlns:a="http://schemas.openxmlformats.org/drawingml/2006/main" xmlns:r="http://schemas.openxmlformats.org/officeDocument/2006/relationships" xmlns:p="http://schemas.openxmlformats.org/presentationml/2006/main">
  <p:tag name="PLUS_ID" val="logo"/>
</p:tagLst>
</file>

<file path=ppt/tags/tag98.xml><?xml version="1.0" encoding="utf-8"?>
<p:tagLst xmlns:a="http://schemas.openxmlformats.org/drawingml/2006/main" xmlns:r="http://schemas.openxmlformats.org/officeDocument/2006/relationships" xmlns:p="http://schemas.openxmlformats.org/presentationml/2006/main">
  <p:tag name="PLUS_ID" val="tip_wrapper"/>
</p:tagLst>
</file>

<file path=ppt/tags/tag99.xml><?xml version="1.0" encoding="utf-8"?>
<p:tagLst xmlns:a="http://schemas.openxmlformats.org/drawingml/2006/main" xmlns:r="http://schemas.openxmlformats.org/officeDocument/2006/relationships" xmlns:p="http://schemas.openxmlformats.org/presentationml/2006/main">
  <p:tag name="PLUS_ID" val="plus_tip"/>
</p:tagLst>
</file>

<file path=ppt/tags/tag100.xml><?xml version="1.0" encoding="utf-8"?>
<p:tagLst xmlns:a="http://schemas.openxmlformats.org/drawingml/2006/main" xmlns:r="http://schemas.openxmlformats.org/officeDocument/2006/relationships" xmlns:p="http://schemas.openxmlformats.org/presentationml/2006/main">
  <p:tag name="PLUS_ID" val="chapter"/>
</p:tagLst>
</file>

<file path=ppt/tags/tag101.xml><?xml version="1.0" encoding="utf-8"?>
<p:tagLst xmlns:a="http://schemas.openxmlformats.org/drawingml/2006/main" xmlns:r="http://schemas.openxmlformats.org/officeDocument/2006/relationships" xmlns:p="http://schemas.openxmlformats.org/presentationml/2006/main">
  <p:tag name="PLUS_ID" val="chapter"/>
</p:tagLst>
</file>

<file path=ppt/tags/tag102.xml><?xml version="1.0" encoding="utf-8"?>
<p:tagLst xmlns:a="http://schemas.openxmlformats.org/drawingml/2006/main" xmlns:r="http://schemas.openxmlformats.org/officeDocument/2006/relationships" xmlns:p="http://schemas.openxmlformats.org/presentationml/2006/main">
  <p:tag name="PLUS_ID" val="title"/>
</p:tagLst>
</file>

<file path=ppt/tags/tag103.xml><?xml version="1.0" encoding="utf-8"?>
<p:tagLst xmlns:a="http://schemas.openxmlformats.org/drawingml/2006/main" xmlns:r="http://schemas.openxmlformats.org/officeDocument/2006/relationships" xmlns:p="http://schemas.openxmlformats.org/presentationml/2006/main">
  <p:tag name="PLUS_ID" val="detail_0"/>
</p:tagLst>
</file>

<file path=ppt/tags/tag104.xml><?xml version="1.0" encoding="utf-8"?>
<p:tagLst xmlns:a="http://schemas.openxmlformats.org/drawingml/2006/main" xmlns:r="http://schemas.openxmlformats.org/officeDocument/2006/relationships" xmlns:p="http://schemas.openxmlformats.org/presentationml/2006/main">
  <p:tag name="PLUS_ID" val="detail_1"/>
</p:tagLst>
</file>

<file path=ppt/tags/tag105.xml><?xml version="1.0" encoding="utf-8"?>
<p:tagLst xmlns:a="http://schemas.openxmlformats.org/drawingml/2006/main" xmlns:r="http://schemas.openxmlformats.org/officeDocument/2006/relationships" xmlns:p="http://schemas.openxmlformats.org/presentationml/2006/main">
  <p:tag name="PLUS_ID" val="detail_2"/>
</p:tagLst>
</file>

<file path=ppt/tags/tag106.xml><?xml version="1.0" encoding="utf-8"?>
<p:tagLst xmlns:a="http://schemas.openxmlformats.org/drawingml/2006/main" xmlns:r="http://schemas.openxmlformats.org/officeDocument/2006/relationships" xmlns:p="http://schemas.openxmlformats.org/presentationml/2006/main">
  <p:tag name="PLUS_ID" val="header_0"/>
</p:tagLst>
</file>

<file path=ppt/tags/tag107.xml><?xml version="1.0" encoding="utf-8"?>
<p:tagLst xmlns:a="http://schemas.openxmlformats.org/drawingml/2006/main" xmlns:r="http://schemas.openxmlformats.org/officeDocument/2006/relationships" xmlns:p="http://schemas.openxmlformats.org/presentationml/2006/main">
  <p:tag name="PLUS_ID" val="header_1"/>
</p:tagLst>
</file>

<file path=ppt/tags/tag108.xml><?xml version="1.0" encoding="utf-8"?>
<p:tagLst xmlns:a="http://schemas.openxmlformats.org/drawingml/2006/main" xmlns:r="http://schemas.openxmlformats.org/officeDocument/2006/relationships" xmlns:p="http://schemas.openxmlformats.org/presentationml/2006/main">
  <p:tag name="PLUS_ID" val="header_2"/>
</p:tagLst>
</file>

<file path=ppt/tags/tag109.xml><?xml version="1.0" encoding="utf-8"?>
<p:tagLst xmlns:a="http://schemas.openxmlformats.org/drawingml/2006/main" xmlns:r="http://schemas.openxmlformats.org/officeDocument/2006/relationships" xmlns:p="http://schemas.openxmlformats.org/presentationml/2006/main">
  <p:tag name="PLUS_ID" val="logo"/>
</p:tagLst>
</file>

<file path=ppt/tags/tag110.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111.xml><?xml version="1.0" encoding="utf-8"?>
<p:tagLst xmlns:a="http://schemas.openxmlformats.org/drawingml/2006/main" xmlns:r="http://schemas.openxmlformats.org/officeDocument/2006/relationships" xmlns:p="http://schemas.openxmlformats.org/presentationml/2006/main">
  <p:tag name="PLUS_ID" val="image"/>
</p:tagLst>
</file>

<file path=ppt/tags/tag112.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113.xml><?xml version="1.0" encoding="utf-8"?>
<p:tagLst xmlns:a="http://schemas.openxmlformats.org/drawingml/2006/main" xmlns:r="http://schemas.openxmlformats.org/officeDocument/2006/relationships" xmlns:p="http://schemas.openxmlformats.org/presentationml/2006/main">
  <p:tag name="PLUS_ID" val="detail"/>
  <p:tag name="PLUS_THEME" val="font_0"/>
</p:tagLst>
</file>

<file path=ppt/tags/tag114.xml><?xml version="1.0" encoding="utf-8"?>
<p:tagLst xmlns:a="http://schemas.openxmlformats.org/drawingml/2006/main" xmlns:r="http://schemas.openxmlformats.org/officeDocument/2006/relationships" xmlns:p="http://schemas.openxmlformats.org/presentationml/2006/main">
  <p:tag name="PLUS_ID" val="logo"/>
</p:tagLst>
</file>

<file path=ppt/tags/tag115.xml><?xml version="1.0" encoding="utf-8"?>
<p:tagLst xmlns:a="http://schemas.openxmlformats.org/drawingml/2006/main" xmlns:r="http://schemas.openxmlformats.org/officeDocument/2006/relationships" xmlns:p="http://schemas.openxmlformats.org/presentationml/2006/main">
  <p:tag name="PLUS_ID" val="chapter"/>
</p:tagLst>
</file>

<file path=ppt/tags/tag116.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117.xml><?xml version="1.0" encoding="utf-8"?>
<p:tagLst xmlns:a="http://schemas.openxmlformats.org/drawingml/2006/main" xmlns:r="http://schemas.openxmlformats.org/officeDocument/2006/relationships" xmlns:p="http://schemas.openxmlformats.org/presentationml/2006/main">
  <p:tag name="PLUS_ID" val="title"/>
</p:tagLst>
</file>

<file path=ppt/tags/tag118.xml><?xml version="1.0" encoding="utf-8"?>
<p:tagLst xmlns:a="http://schemas.openxmlformats.org/drawingml/2006/main" xmlns:r="http://schemas.openxmlformats.org/officeDocument/2006/relationships" xmlns:p="http://schemas.openxmlformats.org/presentationml/2006/main">
  <p:tag name="PLUS_ID" val="detail"/>
  <p:tag name="PLUS_THEME" val="background_0"/>
</p:tagLst>
</file>

<file path=ppt/tags/tag119.xml><?xml version="1.0" encoding="utf-8"?>
<p:tagLst xmlns:a="http://schemas.openxmlformats.org/drawingml/2006/main" xmlns:r="http://schemas.openxmlformats.org/officeDocument/2006/relationships" xmlns:p="http://schemas.openxmlformats.org/presentationml/2006/main">
  <p:tag name="PLUS_ID" val="chapter"/>
</p:tagLst>
</file>

<file path=ppt/tags/tag120.xml><?xml version="1.0" encoding="utf-8"?>
<p:tagLst xmlns:a="http://schemas.openxmlformats.org/drawingml/2006/main" xmlns:r="http://schemas.openxmlformats.org/officeDocument/2006/relationships" xmlns:p="http://schemas.openxmlformats.org/presentationml/2006/main">
  <p:tag name="PLUS_ID" val="logo"/>
</p:tagLst>
</file>

<file path=ppt/tags/tag121.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122.xml><?xml version="1.0" encoding="utf-8"?>
<p:tagLst xmlns:a="http://schemas.openxmlformats.org/drawingml/2006/main" xmlns:r="http://schemas.openxmlformats.org/officeDocument/2006/relationships" xmlns:p="http://schemas.openxmlformats.org/presentationml/2006/main">
  <p:tag name="PLUS_ID" val="title"/>
</p:tagLst>
</file>

<file path=ppt/tags/tag123.xml><?xml version="1.0" encoding="utf-8"?>
<p:tagLst xmlns:a="http://schemas.openxmlformats.org/drawingml/2006/main" xmlns:r="http://schemas.openxmlformats.org/officeDocument/2006/relationships" xmlns:p="http://schemas.openxmlformats.org/presentationml/2006/main">
  <p:tag name="PLUS_ID" val="detail"/>
  <p:tag name="PLUS_THEME" val="background_0"/>
</p:tagLst>
</file>

<file path=ppt/tags/tag124.xml><?xml version="1.0" encoding="utf-8"?>
<p:tagLst xmlns:a="http://schemas.openxmlformats.org/drawingml/2006/main" xmlns:r="http://schemas.openxmlformats.org/officeDocument/2006/relationships" xmlns:p="http://schemas.openxmlformats.org/presentationml/2006/main">
  <p:tag name="PLUS_ID" val="tip_wrapper"/>
</p:tagLst>
</file>

<file path=ppt/tags/tag125.xml><?xml version="1.0" encoding="utf-8"?>
<p:tagLst xmlns:a="http://schemas.openxmlformats.org/drawingml/2006/main" xmlns:r="http://schemas.openxmlformats.org/officeDocument/2006/relationships" xmlns:p="http://schemas.openxmlformats.org/presentationml/2006/main">
  <p:tag name="PLUS_ID" val="plus_tip"/>
</p:tagLst>
</file>

<file path=ppt/tags/tag126.xml><?xml version="1.0" encoding="utf-8"?>
<p:tagLst xmlns:a="http://schemas.openxmlformats.org/drawingml/2006/main" xmlns:r="http://schemas.openxmlformats.org/officeDocument/2006/relationships" xmlns:p="http://schemas.openxmlformats.org/presentationml/2006/main">
  <p:tag name="PLUS_ID" val="chapter"/>
</p:tagLst>
</file>

<file path=ppt/tags/tag127.xml><?xml version="1.0" encoding="utf-8"?>
<p:tagLst xmlns:a="http://schemas.openxmlformats.org/drawingml/2006/main" xmlns:r="http://schemas.openxmlformats.org/officeDocument/2006/relationships" xmlns:p="http://schemas.openxmlformats.org/presentationml/2006/main">
  <p:tag name="PLUS_ID" val="logo"/>
</p:tagLst>
</file>

<file path=ppt/tags/tag128.xml><?xml version="1.0" encoding="utf-8"?>
<p:tagLst xmlns:a="http://schemas.openxmlformats.org/drawingml/2006/main" xmlns:r="http://schemas.openxmlformats.org/officeDocument/2006/relationships" xmlns:p="http://schemas.openxmlformats.org/presentationml/2006/main">
  <p:tag name="PLUS_ID" val="chapter"/>
</p:tagLst>
</file>

<file path=ppt/tags/tag129.xml><?xml version="1.0" encoding="utf-8"?>
<p:tagLst xmlns:a="http://schemas.openxmlformats.org/drawingml/2006/main" xmlns:r="http://schemas.openxmlformats.org/officeDocument/2006/relationships" xmlns:p="http://schemas.openxmlformats.org/presentationml/2006/main">
  <p:tag name="PLUS_ID" val="title"/>
</p:tagLst>
</file>

<file path=ppt/tags/tag130.xml><?xml version="1.0" encoding="utf-8"?>
<p:tagLst xmlns:a="http://schemas.openxmlformats.org/drawingml/2006/main" xmlns:r="http://schemas.openxmlformats.org/officeDocument/2006/relationships" xmlns:p="http://schemas.openxmlformats.org/presentationml/2006/main">
  <p:tag name="PLUS_ID" val="header_0"/>
</p:tagLst>
</file>

<file path=ppt/tags/tag131.xml><?xml version="1.0" encoding="utf-8"?>
<p:tagLst xmlns:a="http://schemas.openxmlformats.org/drawingml/2006/main" xmlns:r="http://schemas.openxmlformats.org/officeDocument/2006/relationships" xmlns:p="http://schemas.openxmlformats.org/presentationml/2006/main">
  <p:tag name="PLUS_ID" val="detail_0"/>
</p:tagLst>
</file>

<file path=ppt/tags/tag132.xml><?xml version="1.0" encoding="utf-8"?>
<p:tagLst xmlns:a="http://schemas.openxmlformats.org/drawingml/2006/main" xmlns:r="http://schemas.openxmlformats.org/officeDocument/2006/relationships" xmlns:p="http://schemas.openxmlformats.org/presentationml/2006/main">
  <p:tag name="PLUS_ID" val="header_1"/>
</p:tagLst>
</file>

<file path=ppt/tags/tag133.xml><?xml version="1.0" encoding="utf-8"?>
<p:tagLst xmlns:a="http://schemas.openxmlformats.org/drawingml/2006/main" xmlns:r="http://schemas.openxmlformats.org/officeDocument/2006/relationships" xmlns:p="http://schemas.openxmlformats.org/presentationml/2006/main">
  <p:tag name="PLUS_ID" val="detail_1"/>
</p:tagLst>
</file>

<file path=ppt/tags/tag134.xml><?xml version="1.0" encoding="utf-8"?>
<p:tagLst xmlns:a="http://schemas.openxmlformats.org/drawingml/2006/main" xmlns:r="http://schemas.openxmlformats.org/officeDocument/2006/relationships" xmlns:p="http://schemas.openxmlformats.org/presentationml/2006/main">
  <p:tag name="PLUS_ID" val="image_0"/>
</p:tagLst>
</file>

<file path=ppt/tags/tag135.xml><?xml version="1.0" encoding="utf-8"?>
<p:tagLst xmlns:a="http://schemas.openxmlformats.org/drawingml/2006/main" xmlns:r="http://schemas.openxmlformats.org/officeDocument/2006/relationships" xmlns:p="http://schemas.openxmlformats.org/presentationml/2006/main">
  <p:tag name="PLUS_ID" val="image_1"/>
</p:tagLst>
</file>

<file path=ppt/tags/tag136.xml><?xml version="1.0" encoding="utf-8"?>
<p:tagLst xmlns:a="http://schemas.openxmlformats.org/drawingml/2006/main" xmlns:r="http://schemas.openxmlformats.org/officeDocument/2006/relationships" xmlns:p="http://schemas.openxmlformats.org/presentationml/2006/main">
  <p:tag name="PLUS_ID" val="logo"/>
</p:tagLst>
</file>

<file path=ppt/tags/tag137.xml><?xml version="1.0" encoding="utf-8"?>
<p:tagLst xmlns:a="http://schemas.openxmlformats.org/drawingml/2006/main" xmlns:r="http://schemas.openxmlformats.org/officeDocument/2006/relationships" xmlns:p="http://schemas.openxmlformats.org/presentationml/2006/main">
  <p:tag name="PLUS_ID" val="tip_wrapper"/>
</p:tagLst>
</file>

<file path=ppt/tags/tag138.xml><?xml version="1.0" encoding="utf-8"?>
<p:tagLst xmlns:a="http://schemas.openxmlformats.org/drawingml/2006/main" xmlns:r="http://schemas.openxmlformats.org/officeDocument/2006/relationships" xmlns:p="http://schemas.openxmlformats.org/presentationml/2006/main">
  <p:tag name="PLUS_ID" val="plus_tip"/>
</p:tagLst>
</file>

<file path=ppt/tags/tag139.xml><?xml version="1.0" encoding="utf-8"?>
<p:tagLst xmlns:a="http://schemas.openxmlformats.org/drawingml/2006/main" xmlns:r="http://schemas.openxmlformats.org/officeDocument/2006/relationships" xmlns:p="http://schemas.openxmlformats.org/presentationml/2006/main">
  <p:tag name="PLUS_ID" val="title"/>
</p:tagLst>
</file>

<file path=ppt/tags/tag140.xml><?xml version="1.0" encoding="utf-8"?>
<p:tagLst xmlns:a="http://schemas.openxmlformats.org/drawingml/2006/main" xmlns:r="http://schemas.openxmlformats.org/officeDocument/2006/relationships" xmlns:p="http://schemas.openxmlformats.org/presentationml/2006/main">
  <p:tag name="PLUS_ID" val="logo"/>
</p:tagLst>
</file>

<file path=ppt/tags/tag141.xml><?xml version="1.0" encoding="utf-8"?>
<p:tagLst xmlns:a="http://schemas.openxmlformats.org/drawingml/2006/main" xmlns:r="http://schemas.openxmlformats.org/officeDocument/2006/relationships" xmlns:p="http://schemas.openxmlformats.org/presentationml/2006/main">
  <p:tag name="PLUS_ID" val="tip_wrapper"/>
</p:tagLst>
</file>

<file path=ppt/tags/tag142.xml><?xml version="1.0" encoding="utf-8"?>
<p:tagLst xmlns:a="http://schemas.openxmlformats.org/drawingml/2006/main" xmlns:r="http://schemas.openxmlformats.org/officeDocument/2006/relationships" xmlns:p="http://schemas.openxmlformats.org/presentationml/2006/main">
  <p:tag name="PLUS_ID" val="plus_tip"/>
</p:tagLst>
</file>

<file path=ppt/tags/tag143.xml><?xml version="1.0" encoding="utf-8"?>
<p:tagLst xmlns:a="http://schemas.openxmlformats.org/drawingml/2006/main" xmlns:r="http://schemas.openxmlformats.org/officeDocument/2006/relationships" xmlns:p="http://schemas.openxmlformats.org/presentationml/2006/main">
  <p:tag name="PLUS_ID" val="chapter"/>
</p:tagLst>
</file>

<file path=ppt/tags/tag144.xml><?xml version="1.0" encoding="utf-8"?>
<p:tagLst xmlns:a="http://schemas.openxmlformats.org/drawingml/2006/main" xmlns:r="http://schemas.openxmlformats.org/officeDocument/2006/relationships" xmlns:p="http://schemas.openxmlformats.org/presentationml/2006/main">
  <p:tag name="PLUS_ID" val="detail_0"/>
</p:tagLst>
</file>

<file path=ppt/tags/tag145.xml><?xml version="1.0" encoding="utf-8"?>
<p:tagLst xmlns:a="http://schemas.openxmlformats.org/drawingml/2006/main" xmlns:r="http://schemas.openxmlformats.org/officeDocument/2006/relationships" xmlns:p="http://schemas.openxmlformats.org/presentationml/2006/main">
  <p:tag name="PLUS_ID" val="header_0"/>
</p:tagLst>
</file>

<file path=ppt/tags/tag146.xml><?xml version="1.0" encoding="utf-8"?>
<p:tagLst xmlns:a="http://schemas.openxmlformats.org/drawingml/2006/main" xmlns:r="http://schemas.openxmlformats.org/officeDocument/2006/relationships" xmlns:p="http://schemas.openxmlformats.org/presentationml/2006/main">
  <p:tag name="PLUS_ID" val="deliverable_0"/>
</p:tagLst>
</file>

<file path=ppt/tags/tag147.xml><?xml version="1.0" encoding="utf-8"?>
<p:tagLst xmlns:a="http://schemas.openxmlformats.org/drawingml/2006/main" xmlns:r="http://schemas.openxmlformats.org/officeDocument/2006/relationships" xmlns:p="http://schemas.openxmlformats.org/presentationml/2006/main">
  <p:tag name="PLUS_ID" val="detail_1"/>
</p:tagLst>
</file>

<file path=ppt/tags/tag148.xml><?xml version="1.0" encoding="utf-8"?>
<p:tagLst xmlns:a="http://schemas.openxmlformats.org/drawingml/2006/main" xmlns:r="http://schemas.openxmlformats.org/officeDocument/2006/relationships" xmlns:p="http://schemas.openxmlformats.org/presentationml/2006/main">
  <p:tag name="PLUS_ID" val="header_1"/>
</p:tagLst>
</file>

<file path=ppt/tags/tag149.xml><?xml version="1.0" encoding="utf-8"?>
<p:tagLst xmlns:a="http://schemas.openxmlformats.org/drawingml/2006/main" xmlns:r="http://schemas.openxmlformats.org/officeDocument/2006/relationships" xmlns:p="http://schemas.openxmlformats.org/presentationml/2006/main">
  <p:tag name="PLUS_ID" val="detail_2"/>
</p:tagLst>
</file>

<file path=ppt/tags/tag150.xml><?xml version="1.0" encoding="utf-8"?>
<p:tagLst xmlns:a="http://schemas.openxmlformats.org/drawingml/2006/main" xmlns:r="http://schemas.openxmlformats.org/officeDocument/2006/relationships" xmlns:p="http://schemas.openxmlformats.org/presentationml/2006/main">
  <p:tag name="PLUS_ID" val="detail_3"/>
</p:tagLst>
</file>

<file path=ppt/tags/tag151.xml><?xml version="1.0" encoding="utf-8"?>
<p:tagLst xmlns:a="http://schemas.openxmlformats.org/drawingml/2006/main" xmlns:r="http://schemas.openxmlformats.org/officeDocument/2006/relationships" xmlns:p="http://schemas.openxmlformats.org/presentationml/2006/main">
  <p:tag name="PLUS_ID" val="header_2"/>
</p:tagLst>
</file>

<file path=ppt/tags/tag152.xml><?xml version="1.0" encoding="utf-8"?>
<p:tagLst xmlns:a="http://schemas.openxmlformats.org/drawingml/2006/main" xmlns:r="http://schemas.openxmlformats.org/officeDocument/2006/relationships" xmlns:p="http://schemas.openxmlformats.org/presentationml/2006/main">
  <p:tag name="PLUS_ID" val="header_3"/>
</p:tagLst>
</file>

<file path=ppt/tags/tag153.xml><?xml version="1.0" encoding="utf-8"?>
<p:tagLst xmlns:a="http://schemas.openxmlformats.org/drawingml/2006/main" xmlns:r="http://schemas.openxmlformats.org/officeDocument/2006/relationships" xmlns:p="http://schemas.openxmlformats.org/presentationml/2006/main">
  <p:tag name="PLUS_ID" val="deliverable_1"/>
</p:tagLst>
</file>

<file path=ppt/tags/tag154.xml><?xml version="1.0" encoding="utf-8"?>
<p:tagLst xmlns:a="http://schemas.openxmlformats.org/drawingml/2006/main" xmlns:r="http://schemas.openxmlformats.org/officeDocument/2006/relationships" xmlns:p="http://schemas.openxmlformats.org/presentationml/2006/main">
  <p:tag name="PLUS_ID" val="deliverable_2"/>
</p:tagLst>
</file>

<file path=ppt/tags/tag155.xml><?xml version="1.0" encoding="utf-8"?>
<p:tagLst xmlns:a="http://schemas.openxmlformats.org/drawingml/2006/main" xmlns:r="http://schemas.openxmlformats.org/officeDocument/2006/relationships" xmlns:p="http://schemas.openxmlformats.org/presentationml/2006/main">
  <p:tag name="PLUS_ID" val="deliverable_3"/>
</p:tagLst>
</file>

<file path=ppt/tags/tag156.xml><?xml version="1.0" encoding="utf-8"?>
<p:tagLst xmlns:a="http://schemas.openxmlformats.org/drawingml/2006/main" xmlns:r="http://schemas.openxmlformats.org/officeDocument/2006/relationships" xmlns:p="http://schemas.openxmlformats.org/presentationml/2006/main">
  <p:tag name="PLUS_ID" val="detail_4"/>
</p:tagLst>
</file>

<file path=ppt/tags/tag157.xml><?xml version="1.0" encoding="utf-8"?>
<p:tagLst xmlns:a="http://schemas.openxmlformats.org/drawingml/2006/main" xmlns:r="http://schemas.openxmlformats.org/officeDocument/2006/relationships" xmlns:p="http://schemas.openxmlformats.org/presentationml/2006/main">
  <p:tag name="PLUS_ID" val="header_4"/>
</p:tagLst>
</file>

<file path=ppt/tags/tag158.xml><?xml version="1.0" encoding="utf-8"?>
<p:tagLst xmlns:a="http://schemas.openxmlformats.org/drawingml/2006/main" xmlns:r="http://schemas.openxmlformats.org/officeDocument/2006/relationships" xmlns:p="http://schemas.openxmlformats.org/presentationml/2006/main">
  <p:tag name="PLUS_ID" val="deliverable_4"/>
</p:tagLst>
</file>

<file path=ppt/tags/tag159.xml><?xml version="1.0" encoding="utf-8"?>
<p:tagLst xmlns:a="http://schemas.openxmlformats.org/drawingml/2006/main" xmlns:r="http://schemas.openxmlformats.org/officeDocument/2006/relationships" xmlns:p="http://schemas.openxmlformats.org/presentationml/2006/main">
  <p:tag name="PLUS_ID" val="detail_5"/>
</p:tagLst>
</file>

<file path=ppt/tags/tag160.xml><?xml version="1.0" encoding="utf-8"?>
<p:tagLst xmlns:a="http://schemas.openxmlformats.org/drawingml/2006/main" xmlns:r="http://schemas.openxmlformats.org/officeDocument/2006/relationships" xmlns:p="http://schemas.openxmlformats.org/presentationml/2006/main">
  <p:tag name="PLUS_ID" val="header_5"/>
</p:tagLst>
</file>

<file path=ppt/tags/tag161.xml><?xml version="1.0" encoding="utf-8"?>
<p:tagLst xmlns:a="http://schemas.openxmlformats.org/drawingml/2006/main" xmlns:r="http://schemas.openxmlformats.org/officeDocument/2006/relationships" xmlns:p="http://schemas.openxmlformats.org/presentationml/2006/main">
  <p:tag name="PLUS_ID" val="deliverable_5"/>
</p:tagLst>
</file>

<file path=ppt/tags/tag162.xml><?xml version="1.0" encoding="utf-8"?>
<p:tagLst xmlns:a="http://schemas.openxmlformats.org/drawingml/2006/main" xmlns:r="http://schemas.openxmlformats.org/officeDocument/2006/relationships" xmlns:p="http://schemas.openxmlformats.org/presentationml/2006/main">
  <p:tag name="PLUS_ID" val="image"/>
</p:tagLst>
</file>

<file path=ppt/tags/tag163.xml><?xml version="1.0" encoding="utf-8"?>
<p:tagLst xmlns:a="http://schemas.openxmlformats.org/drawingml/2006/main" xmlns:r="http://schemas.openxmlformats.org/officeDocument/2006/relationships" xmlns:p="http://schemas.openxmlformats.org/presentationml/2006/main">
  <p:tag name="PLUS_ID" val="statement"/>
</p:tagLst>
</file>

<file path=ppt/tags/tag164.xml><?xml version="1.0" encoding="utf-8"?>
<p:tagLst xmlns:a="http://schemas.openxmlformats.org/drawingml/2006/main" xmlns:r="http://schemas.openxmlformats.org/officeDocument/2006/relationships" xmlns:p="http://schemas.openxmlformats.org/presentationml/2006/main">
  <p:tag name="PLUS_ID" val="tip_wrapper"/>
</p:tagLst>
</file>

<file path=ppt/tags/tag165.xml><?xml version="1.0" encoding="utf-8"?>
<p:tagLst xmlns:a="http://schemas.openxmlformats.org/drawingml/2006/main" xmlns:r="http://schemas.openxmlformats.org/officeDocument/2006/relationships" xmlns:p="http://schemas.openxmlformats.org/presentationml/2006/main">
  <p:tag name="PLUS_ID" val="plus_tip"/>
</p:tagLst>
</file>

<file path=ppt/tags/tag166.xml><?xml version="1.0" encoding="utf-8"?>
<p:tagLst xmlns:a="http://schemas.openxmlformats.org/drawingml/2006/main" xmlns:r="http://schemas.openxmlformats.org/officeDocument/2006/relationships" xmlns:p="http://schemas.openxmlformats.org/presentationml/2006/main">
  <p:tag name="PLUS_ID" val="chapter"/>
</p:tagLst>
</file>

<file path=ppt/tags/tag167.xml><?xml version="1.0" encoding="utf-8"?>
<p:tagLst xmlns:a="http://schemas.openxmlformats.org/drawingml/2006/main" xmlns:r="http://schemas.openxmlformats.org/officeDocument/2006/relationships" xmlns:p="http://schemas.openxmlformats.org/presentationml/2006/main">
  <p:tag name="PLUS_ID" val="detail"/>
</p:tagLst>
</file>

<file path=ppt/tags/tag168.xml><?xml version="1.0" encoding="utf-8"?>
<p:tagLst xmlns:a="http://schemas.openxmlformats.org/drawingml/2006/main" xmlns:r="http://schemas.openxmlformats.org/officeDocument/2006/relationships" xmlns:p="http://schemas.openxmlformats.org/presentationml/2006/main">
  <p:tag name="PLUS_ID" val="logo"/>
</p:tagLst>
</file>

<file path=ppt/tags/tag169.xml><?xml version="1.0" encoding="utf-8"?>
<p:tagLst xmlns:a="http://schemas.openxmlformats.org/drawingml/2006/main" xmlns:r="http://schemas.openxmlformats.org/officeDocument/2006/relationships" xmlns:p="http://schemas.openxmlformats.org/presentationml/2006/main">
  <p:tag name="PLUS_ID" val="header_0"/>
</p:tagLst>
</file>

<file path=ppt/tags/tag170.xml><?xml version="1.0" encoding="utf-8"?>
<p:tagLst xmlns:a="http://schemas.openxmlformats.org/drawingml/2006/main" xmlns:r="http://schemas.openxmlformats.org/officeDocument/2006/relationships" xmlns:p="http://schemas.openxmlformats.org/presentationml/2006/main">
  <p:tag name="PLUS_ID" val="header_1"/>
</p:tagLst>
</file>

<file path=ppt/tags/tag171.xml><?xml version="1.0" encoding="utf-8"?>
<p:tagLst xmlns:a="http://schemas.openxmlformats.org/drawingml/2006/main" xmlns:r="http://schemas.openxmlformats.org/officeDocument/2006/relationships" xmlns:p="http://schemas.openxmlformats.org/presentationml/2006/main">
  <p:tag name="PLUS_ID" val="header_2"/>
</p:tagLst>
</file>

<file path=ppt/tags/tag172.xml><?xml version="1.0" encoding="utf-8"?>
<p:tagLst xmlns:a="http://schemas.openxmlformats.org/drawingml/2006/main" xmlns:r="http://schemas.openxmlformats.org/officeDocument/2006/relationships" xmlns:p="http://schemas.openxmlformats.org/presentationml/2006/main">
  <p:tag name="PLUS_ID" val="chapter"/>
</p:tagLst>
</file>

<file path=ppt/tags/tag173.xml><?xml version="1.0" encoding="utf-8"?>
<p:tagLst xmlns:a="http://schemas.openxmlformats.org/drawingml/2006/main" xmlns:r="http://schemas.openxmlformats.org/officeDocument/2006/relationships" xmlns:p="http://schemas.openxmlformats.org/presentationml/2006/main">
  <p:tag name="PLUS_ID" val="title"/>
</p:tagLst>
</file>

<file path=ppt/tags/tag174.xml><?xml version="1.0" encoding="utf-8"?>
<p:tagLst xmlns:a="http://schemas.openxmlformats.org/drawingml/2006/main" xmlns:r="http://schemas.openxmlformats.org/officeDocument/2006/relationships" xmlns:p="http://schemas.openxmlformats.org/presentationml/2006/main">
  <p:tag name="PLUS_ID" val="detail_0"/>
</p:tagLst>
</file>

<file path=ppt/tags/tag175.xml><?xml version="1.0" encoding="utf-8"?>
<p:tagLst xmlns:a="http://schemas.openxmlformats.org/drawingml/2006/main" xmlns:r="http://schemas.openxmlformats.org/officeDocument/2006/relationships" xmlns:p="http://schemas.openxmlformats.org/presentationml/2006/main">
  <p:tag name="PLUS_ID" val="detail_1"/>
</p:tagLst>
</file>

<file path=ppt/tags/tag176.xml><?xml version="1.0" encoding="utf-8"?>
<p:tagLst xmlns:a="http://schemas.openxmlformats.org/drawingml/2006/main" xmlns:r="http://schemas.openxmlformats.org/officeDocument/2006/relationships" xmlns:p="http://schemas.openxmlformats.org/presentationml/2006/main">
  <p:tag name="PLUS_ID" val="detail_2"/>
</p:tagLst>
</file>

<file path=ppt/tags/tag177.xml><?xml version="1.0" encoding="utf-8"?>
<p:tagLst xmlns:a="http://schemas.openxmlformats.org/drawingml/2006/main" xmlns:r="http://schemas.openxmlformats.org/officeDocument/2006/relationships" xmlns:p="http://schemas.openxmlformats.org/presentationml/2006/main">
  <p:tag name="PLUS_ID" val="icon_0"/>
</p:tagLst>
</file>

<file path=ppt/tags/tag178.xml><?xml version="1.0" encoding="utf-8"?>
<p:tagLst xmlns:a="http://schemas.openxmlformats.org/drawingml/2006/main" xmlns:r="http://schemas.openxmlformats.org/officeDocument/2006/relationships" xmlns:p="http://schemas.openxmlformats.org/presentationml/2006/main">
  <p:tag name="PLUS_ID" val="icon_1"/>
</p:tagLst>
</file>

<file path=ppt/tags/tag179.xml><?xml version="1.0" encoding="utf-8"?>
<p:tagLst xmlns:a="http://schemas.openxmlformats.org/drawingml/2006/main" xmlns:r="http://schemas.openxmlformats.org/officeDocument/2006/relationships" xmlns:p="http://schemas.openxmlformats.org/presentationml/2006/main">
  <p:tag name="PLUS_ID" val="icon_2"/>
</p:tagLst>
</file>

<file path=ppt/tags/tag180.xml><?xml version="1.0" encoding="utf-8"?>
<p:tagLst xmlns:a="http://schemas.openxmlformats.org/drawingml/2006/main" xmlns:r="http://schemas.openxmlformats.org/officeDocument/2006/relationships" xmlns:p="http://schemas.openxmlformats.org/presentationml/2006/main">
  <p:tag name="PLUS_ID" val="logo"/>
</p:tagLst>
</file>

<file path=ppt/tags/tag181.xml><?xml version="1.0" encoding="utf-8"?>
<p:tagLst xmlns:a="http://schemas.openxmlformats.org/drawingml/2006/main" xmlns:r="http://schemas.openxmlformats.org/officeDocument/2006/relationships" xmlns:p="http://schemas.openxmlformats.org/presentationml/2006/main">
  <p:tag name="PLUS_ID" val="tip_wrapper"/>
</p:tagLst>
</file>

<file path=ppt/tags/tag182.xml><?xml version="1.0" encoding="utf-8"?>
<p:tagLst xmlns:a="http://schemas.openxmlformats.org/drawingml/2006/main" xmlns:r="http://schemas.openxmlformats.org/officeDocument/2006/relationships" xmlns:p="http://schemas.openxmlformats.org/presentationml/2006/main">
  <p:tag name="PLUS_ID" val="plus_tip"/>
</p:tagLst>
</file>

<file path=ppt/tags/tag183.xml><?xml version="1.0" encoding="utf-8"?>
<p:tagLst xmlns:a="http://schemas.openxmlformats.org/drawingml/2006/main" xmlns:r="http://schemas.openxmlformats.org/officeDocument/2006/relationships" xmlns:p="http://schemas.openxmlformats.org/presentationml/2006/main">
  <p:tag name="PLUS_ID" val="chapter"/>
</p:tagLst>
</file>

<file path=ppt/tags/tag184.xml><?xml version="1.0" encoding="utf-8"?>
<p:tagLst xmlns:a="http://schemas.openxmlformats.org/drawingml/2006/main" xmlns:r="http://schemas.openxmlformats.org/officeDocument/2006/relationships" xmlns:p="http://schemas.openxmlformats.org/presentationml/2006/main">
  <p:tag name="PLUS_ID" val="title"/>
</p:tagLst>
</file>

<file path=ppt/tags/tag185.xml><?xml version="1.0" encoding="utf-8"?>
<p:tagLst xmlns:a="http://schemas.openxmlformats.org/drawingml/2006/main" xmlns:r="http://schemas.openxmlformats.org/officeDocument/2006/relationships" xmlns:p="http://schemas.openxmlformats.org/presentationml/2006/main">
  <p:tag name="PLUS_ID" val="detail_0"/>
</p:tagLst>
</file>

<file path=ppt/tags/tag186.xml><?xml version="1.0" encoding="utf-8"?>
<p:tagLst xmlns:a="http://schemas.openxmlformats.org/drawingml/2006/main" xmlns:r="http://schemas.openxmlformats.org/officeDocument/2006/relationships" xmlns:p="http://schemas.openxmlformats.org/presentationml/2006/main">
  <p:tag name="PLUS_ID" val="detail_1"/>
</p:tagLst>
</file>

<file path=ppt/tags/tag187.xml><?xml version="1.0" encoding="utf-8"?>
<p:tagLst xmlns:a="http://schemas.openxmlformats.org/drawingml/2006/main" xmlns:r="http://schemas.openxmlformats.org/officeDocument/2006/relationships" xmlns:p="http://schemas.openxmlformats.org/presentationml/2006/main">
  <p:tag name="PLUS_ID" val="detail_2"/>
</p:tagLst>
</file>

<file path=ppt/tags/tag188.xml><?xml version="1.0" encoding="utf-8"?>
<p:tagLst xmlns:a="http://schemas.openxmlformats.org/drawingml/2006/main" xmlns:r="http://schemas.openxmlformats.org/officeDocument/2006/relationships" xmlns:p="http://schemas.openxmlformats.org/presentationml/2006/main">
  <p:tag name="PLUS_ID" val="header_0"/>
</p:tagLst>
</file>

<file path=ppt/tags/tag189.xml><?xml version="1.0" encoding="utf-8"?>
<p:tagLst xmlns:a="http://schemas.openxmlformats.org/drawingml/2006/main" xmlns:r="http://schemas.openxmlformats.org/officeDocument/2006/relationships" xmlns:p="http://schemas.openxmlformats.org/presentationml/2006/main">
  <p:tag name="PLUS_ID" val="header_1"/>
</p:tagLst>
</file>

<file path=ppt/tags/tag190.xml><?xml version="1.0" encoding="utf-8"?>
<p:tagLst xmlns:a="http://schemas.openxmlformats.org/drawingml/2006/main" xmlns:r="http://schemas.openxmlformats.org/officeDocument/2006/relationships" xmlns:p="http://schemas.openxmlformats.org/presentationml/2006/main">
  <p:tag name="PLUS_ID" val="header_2"/>
</p:tagLst>
</file>

<file path=ppt/tags/tag191.xml><?xml version="1.0" encoding="utf-8"?>
<p:tagLst xmlns:a="http://schemas.openxmlformats.org/drawingml/2006/main" xmlns:r="http://schemas.openxmlformats.org/officeDocument/2006/relationships" xmlns:p="http://schemas.openxmlformats.org/presentationml/2006/main">
  <p:tag name="PLUS_ID" val="icon_0"/>
</p:tagLst>
</file>

<file path=ppt/tags/tag192.xml><?xml version="1.0" encoding="utf-8"?>
<p:tagLst xmlns:a="http://schemas.openxmlformats.org/drawingml/2006/main" xmlns:r="http://schemas.openxmlformats.org/officeDocument/2006/relationships" xmlns:p="http://schemas.openxmlformats.org/presentationml/2006/main">
  <p:tag name="PLUS_ID" val="icon_1"/>
</p:tagLst>
</file>

<file path=ppt/tags/tag193.xml><?xml version="1.0" encoding="utf-8"?>
<p:tagLst xmlns:a="http://schemas.openxmlformats.org/drawingml/2006/main" xmlns:r="http://schemas.openxmlformats.org/officeDocument/2006/relationships" xmlns:p="http://schemas.openxmlformats.org/presentationml/2006/main">
  <p:tag name="PLUS_ID" val="icon_2"/>
</p:tagLst>
</file>

<file path=ppt/tags/tag194.xml><?xml version="1.0" encoding="utf-8"?>
<p:tagLst xmlns:a="http://schemas.openxmlformats.org/drawingml/2006/main" xmlns:r="http://schemas.openxmlformats.org/officeDocument/2006/relationships" xmlns:p="http://schemas.openxmlformats.org/presentationml/2006/main">
  <p:tag name="PLUS_ID" val="logo"/>
</p:tagLst>
</file>

<file path=ppt/tags/tag195.xml><?xml version="1.0" encoding="utf-8"?>
<p:tagLst xmlns:a="http://schemas.openxmlformats.org/drawingml/2006/main" xmlns:r="http://schemas.openxmlformats.org/officeDocument/2006/relationships" xmlns:p="http://schemas.openxmlformats.org/presentationml/2006/main">
  <p:tag name="PLUS_ID" val="tip_wrapper"/>
</p:tagLst>
</file>

<file path=ppt/tags/tag196.xml><?xml version="1.0" encoding="utf-8"?>
<p:tagLst xmlns:a="http://schemas.openxmlformats.org/drawingml/2006/main" xmlns:r="http://schemas.openxmlformats.org/officeDocument/2006/relationships" xmlns:p="http://schemas.openxmlformats.org/presentationml/2006/main">
  <p:tag name="PLUS_ID" val="plus_tip"/>
</p:tagLst>
</file>

<file path=ppt/tags/tag197.xml><?xml version="1.0" encoding="utf-8"?>
<p:tagLst xmlns:a="http://schemas.openxmlformats.org/drawingml/2006/main" xmlns:r="http://schemas.openxmlformats.org/officeDocument/2006/relationships" xmlns:p="http://schemas.openxmlformats.org/presentationml/2006/main">
  <p:tag name="PLUS_ID" val="title"/>
</p:tagLst>
</file>

<file path=ppt/tags/tag198.xml><?xml version="1.0" encoding="utf-8"?>
<p:tagLst xmlns:a="http://schemas.openxmlformats.org/drawingml/2006/main" xmlns:r="http://schemas.openxmlformats.org/officeDocument/2006/relationships" xmlns:p="http://schemas.openxmlformats.org/presentationml/2006/main">
  <p:tag name="PLUS_ID" val="header_0"/>
</p:tagLst>
</file>

<file path=ppt/tags/tag199.xml><?xml version="1.0" encoding="utf-8"?>
<p:tagLst xmlns:a="http://schemas.openxmlformats.org/drawingml/2006/main" xmlns:r="http://schemas.openxmlformats.org/officeDocument/2006/relationships" xmlns:p="http://schemas.openxmlformats.org/presentationml/2006/main">
  <p:tag name="PLUS_ID" val="detail_0"/>
</p:tagLst>
</file>

<file path=ppt/tags/tag200.xml><?xml version="1.0" encoding="utf-8"?>
<p:tagLst xmlns:a="http://schemas.openxmlformats.org/drawingml/2006/main" xmlns:r="http://schemas.openxmlformats.org/officeDocument/2006/relationships" xmlns:p="http://schemas.openxmlformats.org/presentationml/2006/main">
  <p:tag name="PLUS_ID" val="header_1"/>
</p:tagLst>
</file>

<file path=ppt/tags/tag201.xml><?xml version="1.0" encoding="utf-8"?>
<p:tagLst xmlns:a="http://schemas.openxmlformats.org/drawingml/2006/main" xmlns:r="http://schemas.openxmlformats.org/officeDocument/2006/relationships" xmlns:p="http://schemas.openxmlformats.org/presentationml/2006/main">
  <p:tag name="PLUS_ID" val="detail_1"/>
</p:tagLst>
</file>

<file path=ppt/tags/tag202.xml><?xml version="1.0" encoding="utf-8"?>
<p:tagLst xmlns:a="http://schemas.openxmlformats.org/drawingml/2006/main" xmlns:r="http://schemas.openxmlformats.org/officeDocument/2006/relationships" xmlns:p="http://schemas.openxmlformats.org/presentationml/2006/main">
  <p:tag name="PLUS_ID" val="logo"/>
</p:tagLst>
</file>

<file path=ppt/tags/tag203.xml><?xml version="1.0" encoding="utf-8"?>
<p:tagLst xmlns:a="http://schemas.openxmlformats.org/drawingml/2006/main" xmlns:r="http://schemas.openxmlformats.org/officeDocument/2006/relationships" xmlns:p="http://schemas.openxmlformats.org/presentationml/2006/main">
  <p:tag name="PLUS_ID" val="chapter"/>
</p:tagLst>
</file>

<file path=ppt/tags/tag204.xml><?xml version="1.0" encoding="utf-8"?>
<p:tagLst xmlns:a="http://schemas.openxmlformats.org/drawingml/2006/main" xmlns:r="http://schemas.openxmlformats.org/officeDocument/2006/relationships" xmlns:p="http://schemas.openxmlformats.org/presentationml/2006/main">
  <p:tag name="PLUS_ID" val="chapter"/>
</p:tagLst>
</file>

<file path=ppt/tags/tag205.xml><?xml version="1.0" encoding="utf-8"?>
<p:tagLst xmlns:a="http://schemas.openxmlformats.org/drawingml/2006/main" xmlns:r="http://schemas.openxmlformats.org/officeDocument/2006/relationships" xmlns:p="http://schemas.openxmlformats.org/presentationml/2006/main">
  <p:tag name="PLUS_ID" val="title"/>
</p:tagLst>
</file>

<file path=ppt/tags/tag206.xml><?xml version="1.0" encoding="utf-8"?>
<p:tagLst xmlns:a="http://schemas.openxmlformats.org/drawingml/2006/main" xmlns:r="http://schemas.openxmlformats.org/officeDocument/2006/relationships" xmlns:p="http://schemas.openxmlformats.org/presentationml/2006/main">
  <p:tag name="PLUS_ID" val="tip_wrapper"/>
</p:tagLst>
</file>

<file path=ppt/tags/tag207.xml><?xml version="1.0" encoding="utf-8"?>
<p:tagLst xmlns:a="http://schemas.openxmlformats.org/drawingml/2006/main" xmlns:r="http://schemas.openxmlformats.org/officeDocument/2006/relationships" xmlns:p="http://schemas.openxmlformats.org/presentationml/2006/main">
  <p:tag name="PLUS_ID" val="plus_tip"/>
</p:tagLst>
</file>

<file path=ppt/tags/tag208.xml><?xml version="1.0" encoding="utf-8"?>
<p:tagLst xmlns:a="http://schemas.openxmlformats.org/drawingml/2006/main" xmlns:r="http://schemas.openxmlformats.org/officeDocument/2006/relationships" xmlns:p="http://schemas.openxmlformats.org/presentationml/2006/main">
  <p:tag name="PLUS_ID" val="icon_3"/>
</p:tagLst>
</file>

<file path=ppt/tags/tag209.xml><?xml version="1.0" encoding="utf-8"?>
<p:tagLst xmlns:a="http://schemas.openxmlformats.org/drawingml/2006/main" xmlns:r="http://schemas.openxmlformats.org/officeDocument/2006/relationships" xmlns:p="http://schemas.openxmlformats.org/presentationml/2006/main">
  <p:tag name="PLUS_ID" val="icon_0"/>
</p:tagLst>
</file>

<file path=ppt/tags/tag210.xml><?xml version="1.0" encoding="utf-8"?>
<p:tagLst xmlns:a="http://schemas.openxmlformats.org/drawingml/2006/main" xmlns:r="http://schemas.openxmlformats.org/officeDocument/2006/relationships" xmlns:p="http://schemas.openxmlformats.org/presentationml/2006/main">
  <p:tag name="PLUS_ID" val="icon_1"/>
</p:tagLst>
</file>

<file path=ppt/tags/tag211.xml><?xml version="1.0" encoding="utf-8"?>
<p:tagLst xmlns:a="http://schemas.openxmlformats.org/drawingml/2006/main" xmlns:r="http://schemas.openxmlformats.org/officeDocument/2006/relationships" xmlns:p="http://schemas.openxmlformats.org/presentationml/2006/main">
  <p:tag name="PLUS_ID" val="icon_2"/>
</p:tagLst>
</file>

<file path=ppt/tags/tag212.xml><?xml version="1.0" encoding="utf-8"?>
<p:tagLst xmlns:a="http://schemas.openxmlformats.org/drawingml/2006/main" xmlns:r="http://schemas.openxmlformats.org/officeDocument/2006/relationships" xmlns:p="http://schemas.openxmlformats.org/presentationml/2006/main">
  <p:tag name="PLUS_ID" val="logo"/>
</p:tagLst>
</file>

<file path=ppt/tags/tag213.xml><?xml version="1.0" encoding="utf-8"?>
<p:tagLst xmlns:a="http://schemas.openxmlformats.org/drawingml/2006/main" xmlns:r="http://schemas.openxmlformats.org/officeDocument/2006/relationships" xmlns:p="http://schemas.openxmlformats.org/presentationml/2006/main">
  <p:tag name="PLUS_ID" val="header_0"/>
</p:tagLst>
</file>

<file path=ppt/tags/tag214.xml><?xml version="1.0" encoding="utf-8"?>
<p:tagLst xmlns:a="http://schemas.openxmlformats.org/drawingml/2006/main" xmlns:r="http://schemas.openxmlformats.org/officeDocument/2006/relationships" xmlns:p="http://schemas.openxmlformats.org/presentationml/2006/main">
  <p:tag name="PLUS_ID" val="detail_0"/>
</p:tagLst>
</file>

<file path=ppt/tags/tag215.xml><?xml version="1.0" encoding="utf-8"?>
<p:tagLst xmlns:a="http://schemas.openxmlformats.org/drawingml/2006/main" xmlns:r="http://schemas.openxmlformats.org/officeDocument/2006/relationships" xmlns:p="http://schemas.openxmlformats.org/presentationml/2006/main">
  <p:tag name="PLUS_ID" val="detail_1"/>
</p:tagLst>
</file>

<file path=ppt/tags/tag216.xml><?xml version="1.0" encoding="utf-8"?>
<p:tagLst xmlns:a="http://schemas.openxmlformats.org/drawingml/2006/main" xmlns:r="http://schemas.openxmlformats.org/officeDocument/2006/relationships" xmlns:p="http://schemas.openxmlformats.org/presentationml/2006/main">
  <p:tag name="PLUS_ID" val="header_1"/>
</p:tagLst>
</file>

<file path=ppt/tags/tag217.xml><?xml version="1.0" encoding="utf-8"?>
<p:tagLst xmlns:a="http://schemas.openxmlformats.org/drawingml/2006/main" xmlns:r="http://schemas.openxmlformats.org/officeDocument/2006/relationships" xmlns:p="http://schemas.openxmlformats.org/presentationml/2006/main">
  <p:tag name="PLUS_ID" val="detail_2"/>
</p:tagLst>
</file>

<file path=ppt/tags/tag218.xml><?xml version="1.0" encoding="utf-8"?>
<p:tagLst xmlns:a="http://schemas.openxmlformats.org/drawingml/2006/main" xmlns:r="http://schemas.openxmlformats.org/officeDocument/2006/relationships" xmlns:p="http://schemas.openxmlformats.org/presentationml/2006/main">
  <p:tag name="PLUS_ID" val="detail_3"/>
</p:tagLst>
</file>

<file path=ppt/tags/tag219.xml><?xml version="1.0" encoding="utf-8"?>
<p:tagLst xmlns:a="http://schemas.openxmlformats.org/drawingml/2006/main" xmlns:r="http://schemas.openxmlformats.org/officeDocument/2006/relationships" xmlns:p="http://schemas.openxmlformats.org/presentationml/2006/main">
  <p:tag name="PLUS_ID" val="header_2"/>
</p:tagLst>
</file>

<file path=ppt/tags/tag220.xml><?xml version="1.0" encoding="utf-8"?>
<p:tagLst xmlns:a="http://schemas.openxmlformats.org/drawingml/2006/main" xmlns:r="http://schemas.openxmlformats.org/officeDocument/2006/relationships" xmlns:p="http://schemas.openxmlformats.org/presentationml/2006/main">
  <p:tag name="PLUS_ID" val="header_3"/>
</p:tagLst>
</file>

<file path=ppt/tags/tag221.xml><?xml version="1.0" encoding="utf-8"?>
<p:tagLst xmlns:a="http://schemas.openxmlformats.org/drawingml/2006/main" xmlns:r="http://schemas.openxmlformats.org/officeDocument/2006/relationships" xmlns:p="http://schemas.openxmlformats.org/presentationml/2006/main">
  <p:tag name="PLUS_ID" val="icon_0"/>
</p:tagLst>
</file>

<file path=ppt/tags/tag222.xml><?xml version="1.0" encoding="utf-8"?>
<p:tagLst xmlns:a="http://schemas.openxmlformats.org/drawingml/2006/main" xmlns:r="http://schemas.openxmlformats.org/officeDocument/2006/relationships" xmlns:p="http://schemas.openxmlformats.org/presentationml/2006/main">
  <p:tag name="PLUS_ID" val="icon_1"/>
</p:tagLst>
</file>

<file path=ppt/tags/tag223.xml><?xml version="1.0" encoding="utf-8"?>
<p:tagLst xmlns:a="http://schemas.openxmlformats.org/drawingml/2006/main" xmlns:r="http://schemas.openxmlformats.org/officeDocument/2006/relationships" xmlns:p="http://schemas.openxmlformats.org/presentationml/2006/main">
  <p:tag name="PLUS_ID" val="icon_2"/>
</p:tagLst>
</file>

<file path=ppt/tags/tag224.xml><?xml version="1.0" encoding="utf-8"?>
<p:tagLst xmlns:a="http://schemas.openxmlformats.org/drawingml/2006/main" xmlns:r="http://schemas.openxmlformats.org/officeDocument/2006/relationships" xmlns:p="http://schemas.openxmlformats.org/presentationml/2006/main">
  <p:tag name="PLUS_ID" val="chapter"/>
</p:tagLst>
</file>

<file path=ppt/tags/tag225.xml><?xml version="1.0" encoding="utf-8"?>
<p:tagLst xmlns:a="http://schemas.openxmlformats.org/drawingml/2006/main" xmlns:r="http://schemas.openxmlformats.org/officeDocument/2006/relationships" xmlns:p="http://schemas.openxmlformats.org/presentationml/2006/main">
  <p:tag name="PLUS_ID" val="title"/>
</p:tagLst>
</file>

<file path=ppt/tags/tag226.xml><?xml version="1.0" encoding="utf-8"?>
<p:tagLst xmlns:a="http://schemas.openxmlformats.org/drawingml/2006/main" xmlns:r="http://schemas.openxmlformats.org/officeDocument/2006/relationships" xmlns:p="http://schemas.openxmlformats.org/presentationml/2006/main">
  <p:tag name="PLUS_ID" val="logo"/>
</p:tagLst>
</file>

<file path=ppt/tags/tag227.xml><?xml version="1.0" encoding="utf-8"?>
<p:tagLst xmlns:a="http://schemas.openxmlformats.org/drawingml/2006/main" xmlns:r="http://schemas.openxmlformats.org/officeDocument/2006/relationships" xmlns:p="http://schemas.openxmlformats.org/presentationml/2006/main">
  <p:tag name="PLUS_ID" val="detail_0"/>
</p:tagLst>
</file>

<file path=ppt/tags/tag228.xml><?xml version="1.0" encoding="utf-8"?>
<p:tagLst xmlns:a="http://schemas.openxmlformats.org/drawingml/2006/main" xmlns:r="http://schemas.openxmlformats.org/officeDocument/2006/relationships" xmlns:p="http://schemas.openxmlformats.org/presentationml/2006/main">
  <p:tag name="PLUS_ID" val="detail_1"/>
</p:tagLst>
</file>

<file path=ppt/tags/tag229.xml><?xml version="1.0" encoding="utf-8"?>
<p:tagLst xmlns:a="http://schemas.openxmlformats.org/drawingml/2006/main" xmlns:r="http://schemas.openxmlformats.org/officeDocument/2006/relationships" xmlns:p="http://schemas.openxmlformats.org/presentationml/2006/main">
  <p:tag name="PLUS_ID" val="detail_2"/>
</p:tagLst>
</file>

<file path=ppt/tags/tag230.xml><?xml version="1.0" encoding="utf-8"?>
<p:tagLst xmlns:a="http://schemas.openxmlformats.org/drawingml/2006/main" xmlns:r="http://schemas.openxmlformats.org/officeDocument/2006/relationships" xmlns:p="http://schemas.openxmlformats.org/presentationml/2006/main">
  <p:tag name="PLUS_ID" val="header_0"/>
</p:tagLst>
</file>

<file path=ppt/tags/tag231.xml><?xml version="1.0" encoding="utf-8"?>
<p:tagLst xmlns:a="http://schemas.openxmlformats.org/drawingml/2006/main" xmlns:r="http://schemas.openxmlformats.org/officeDocument/2006/relationships" xmlns:p="http://schemas.openxmlformats.org/presentationml/2006/main">
  <p:tag name="PLUS_ID" val="header_1"/>
</p:tagLst>
</file>

<file path=ppt/tags/tag232.xml><?xml version="1.0" encoding="utf-8"?>
<p:tagLst xmlns:a="http://schemas.openxmlformats.org/drawingml/2006/main" xmlns:r="http://schemas.openxmlformats.org/officeDocument/2006/relationships" xmlns:p="http://schemas.openxmlformats.org/presentationml/2006/main">
  <p:tag name="PLUS_ID" val="header_2"/>
</p:tagLst>
</file>

<file path=ppt/tags/tag233.xml><?xml version="1.0" encoding="utf-8"?>
<p:tagLst xmlns:a="http://schemas.openxmlformats.org/drawingml/2006/main" xmlns:r="http://schemas.openxmlformats.org/officeDocument/2006/relationships" xmlns:p="http://schemas.openxmlformats.org/presentationml/2006/main">
  <p:tag name="PLUS_ID" val="tip_wrapper"/>
</p:tagLst>
</file>

<file path=ppt/tags/tag234.xml><?xml version="1.0" encoding="utf-8"?>
<p:tagLst xmlns:a="http://schemas.openxmlformats.org/drawingml/2006/main" xmlns:r="http://schemas.openxmlformats.org/officeDocument/2006/relationships" xmlns:p="http://schemas.openxmlformats.org/presentationml/2006/main">
  <p:tag name="PLUS_ID" val="plus_tip"/>
</p:tagLst>
</file>

<file path=ppt/tags/tag235.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236.xml><?xml version="1.0" encoding="utf-8"?>
<p:tagLst xmlns:a="http://schemas.openxmlformats.org/drawingml/2006/main" xmlns:r="http://schemas.openxmlformats.org/officeDocument/2006/relationships" xmlns:p="http://schemas.openxmlformats.org/presentationml/2006/main">
  <p:tag name="PLUS_ID" val="title"/>
</p:tagLst>
</file>

<file path=ppt/tags/tag237.xml><?xml version="1.0" encoding="utf-8"?>
<p:tagLst xmlns:a="http://schemas.openxmlformats.org/drawingml/2006/main" xmlns:r="http://schemas.openxmlformats.org/officeDocument/2006/relationships" xmlns:p="http://schemas.openxmlformats.org/presentationml/2006/main">
  <p:tag name="PLUS_ID" val="detail"/>
  <p:tag name="PLUS_THEME" val="background_0"/>
</p:tagLst>
</file>

<file path=ppt/tags/tag238.xml><?xml version="1.0" encoding="utf-8"?>
<p:tagLst xmlns:a="http://schemas.openxmlformats.org/drawingml/2006/main" xmlns:r="http://schemas.openxmlformats.org/officeDocument/2006/relationships" xmlns:p="http://schemas.openxmlformats.org/presentationml/2006/main">
  <p:tag name="PLUS_ID" val="chapter"/>
</p:tagLst>
</file>

<file path=ppt/tags/tag239.xml><?xml version="1.0" encoding="utf-8"?>
<p:tagLst xmlns:a="http://schemas.openxmlformats.org/drawingml/2006/main" xmlns:r="http://schemas.openxmlformats.org/officeDocument/2006/relationships" xmlns:p="http://schemas.openxmlformats.org/presentationml/2006/main">
  <p:tag name="PLUS_ID" val="logo"/>
</p:tagLst>
</file>

<file path=ppt/tags/tag240.xml><?xml version="1.0" encoding="utf-8"?>
<p:tagLst xmlns:a="http://schemas.openxmlformats.org/drawingml/2006/main" xmlns:r="http://schemas.openxmlformats.org/officeDocument/2006/relationships" xmlns:p="http://schemas.openxmlformats.org/presentationml/2006/main">
  <p:tag name="PLUS_ID" val="chart_title"/>
</p:tagLst>
</file>

<file path=ppt/tags/tag241.xml><?xml version="1.0" encoding="utf-8"?>
<p:tagLst xmlns:a="http://schemas.openxmlformats.org/drawingml/2006/main" xmlns:r="http://schemas.openxmlformats.org/officeDocument/2006/relationships" xmlns:p="http://schemas.openxmlformats.org/presentationml/2006/main">
  <p:tag name="PLUS_ID" val="header"/>
</p:tagLst>
</file>

<file path=ppt/tags/tag242.xml><?xml version="1.0" encoding="utf-8"?>
<p:tagLst xmlns:a="http://schemas.openxmlformats.org/drawingml/2006/main" xmlns:r="http://schemas.openxmlformats.org/officeDocument/2006/relationships" xmlns:p="http://schemas.openxmlformats.org/presentationml/2006/main">
  <p:tag name="PLUS_ID" val="logo"/>
</p:tagLst>
</file>

<file path=ppt/tags/tag243.xml><?xml version="1.0" encoding="utf-8"?>
<p:tagLst xmlns:a="http://schemas.openxmlformats.org/drawingml/2006/main" xmlns:r="http://schemas.openxmlformats.org/officeDocument/2006/relationships" xmlns:p="http://schemas.openxmlformats.org/presentationml/2006/main">
  <p:tag name="PLUS_ID" val="title"/>
</p:tagLst>
</file>

<file path=ppt/tags/tag244.xml><?xml version="1.0" encoding="utf-8"?>
<p:tagLst xmlns:a="http://schemas.openxmlformats.org/drawingml/2006/main" xmlns:r="http://schemas.openxmlformats.org/officeDocument/2006/relationships" xmlns:p="http://schemas.openxmlformats.org/presentationml/2006/main">
  <p:tag name="PLUS_ID" val="detail"/>
</p:tagLst>
</file>

<file path=ppt/tags/tag245.xml><?xml version="1.0" encoding="utf-8"?>
<p:tagLst xmlns:a="http://schemas.openxmlformats.org/drawingml/2006/main" xmlns:r="http://schemas.openxmlformats.org/officeDocument/2006/relationships" xmlns:p="http://schemas.openxmlformats.org/presentationml/2006/main">
  <p:tag name="PLUS_ID" val="tip_wrapper"/>
</p:tagLst>
</file>

<file path=ppt/tags/tag246.xml><?xml version="1.0" encoding="utf-8"?>
<p:tagLst xmlns:a="http://schemas.openxmlformats.org/drawingml/2006/main" xmlns:r="http://schemas.openxmlformats.org/officeDocument/2006/relationships" xmlns:p="http://schemas.openxmlformats.org/presentationml/2006/main">
  <p:tag name="PLUS_ID" val="plus_tip"/>
</p:tagLst>
</file>

<file path=ppt/tags/tag247.xml><?xml version="1.0" encoding="utf-8"?>
<p:tagLst xmlns:a="http://schemas.openxmlformats.org/drawingml/2006/main" xmlns:r="http://schemas.openxmlformats.org/officeDocument/2006/relationships" xmlns:p="http://schemas.openxmlformats.org/presentationml/2006/main">
  <p:tag name="PLUS_ID" val="chart"/>
</p:tagLst>
</file>

<file path=ppt/tags/tag248.xml><?xml version="1.0" encoding="utf-8"?>
<p:tagLst xmlns:a="http://schemas.openxmlformats.org/drawingml/2006/main" xmlns:r="http://schemas.openxmlformats.org/officeDocument/2006/relationships" xmlns:p="http://schemas.openxmlformats.org/presentationml/2006/main">
  <p:tag name="PLUS_ID" val="chapter"/>
</p:tagLst>
</file>

<file path=ppt/tags/tag249.xml><?xml version="1.0" encoding="utf-8"?>
<p:tagLst xmlns:a="http://schemas.openxmlformats.org/drawingml/2006/main" xmlns:r="http://schemas.openxmlformats.org/officeDocument/2006/relationships" xmlns:p="http://schemas.openxmlformats.org/presentationml/2006/main">
  <p:tag name="PLUS_ID" val="chapter"/>
</p:tagLst>
</file>

<file path=ppt/tags/tag250.xml><?xml version="1.0" encoding="utf-8"?>
<p:tagLst xmlns:a="http://schemas.openxmlformats.org/drawingml/2006/main" xmlns:r="http://schemas.openxmlformats.org/officeDocument/2006/relationships" xmlns:p="http://schemas.openxmlformats.org/presentationml/2006/main">
  <p:tag name="PLUS_ID" val="title"/>
</p:tagLst>
</file>

<file path=ppt/tags/tag251.xml><?xml version="1.0" encoding="utf-8"?>
<p:tagLst xmlns:a="http://schemas.openxmlformats.org/drawingml/2006/main" xmlns:r="http://schemas.openxmlformats.org/officeDocument/2006/relationships" xmlns:p="http://schemas.openxmlformats.org/presentationml/2006/main">
  <p:tag name="PLUS_ID" val="tip_wrapper"/>
</p:tagLst>
</file>

<file path=ppt/tags/tag252.xml><?xml version="1.0" encoding="utf-8"?>
<p:tagLst xmlns:a="http://schemas.openxmlformats.org/drawingml/2006/main" xmlns:r="http://schemas.openxmlformats.org/officeDocument/2006/relationships" xmlns:p="http://schemas.openxmlformats.org/presentationml/2006/main">
  <p:tag name="PLUS_ID" val="plus_tip"/>
</p:tagLst>
</file>

<file path=ppt/tags/tag253.xml><?xml version="1.0" encoding="utf-8"?>
<p:tagLst xmlns:a="http://schemas.openxmlformats.org/drawingml/2006/main" xmlns:r="http://schemas.openxmlformats.org/officeDocument/2006/relationships" xmlns:p="http://schemas.openxmlformats.org/presentationml/2006/main">
  <p:tag name="PLUS_ID" val="logo"/>
</p:tagLst>
</file>

<file path=ppt/tags/tag254.xml><?xml version="1.0" encoding="utf-8"?>
<p:tagLst xmlns:a="http://schemas.openxmlformats.org/drawingml/2006/main" xmlns:r="http://schemas.openxmlformats.org/officeDocument/2006/relationships" xmlns:p="http://schemas.openxmlformats.org/presentationml/2006/main">
  <p:tag name="PLUS_ID" val="detail_0"/>
</p:tagLst>
</file>

<file path=ppt/tags/tag255.xml><?xml version="1.0" encoding="utf-8"?>
<p:tagLst xmlns:a="http://schemas.openxmlformats.org/drawingml/2006/main" xmlns:r="http://schemas.openxmlformats.org/officeDocument/2006/relationships" xmlns:p="http://schemas.openxmlformats.org/presentationml/2006/main">
  <p:tag name="PLUS_ID" val="detail_1"/>
</p:tagLst>
</file>

<file path=ppt/tags/tag256.xml><?xml version="1.0" encoding="utf-8"?>
<p:tagLst xmlns:a="http://schemas.openxmlformats.org/drawingml/2006/main" xmlns:r="http://schemas.openxmlformats.org/officeDocument/2006/relationships" xmlns:p="http://schemas.openxmlformats.org/presentationml/2006/main">
  <p:tag name="PLUS_ID" val="header_0"/>
</p:tagLst>
</file>

<file path=ppt/tags/tag257.xml><?xml version="1.0" encoding="utf-8"?>
<p:tagLst xmlns:a="http://schemas.openxmlformats.org/drawingml/2006/main" xmlns:r="http://schemas.openxmlformats.org/officeDocument/2006/relationships" xmlns:p="http://schemas.openxmlformats.org/presentationml/2006/main">
  <p:tag name="PLUS_ID" val="header_1"/>
</p:tagLst>
</file>

<file path=ppt/tags/tag258.xml><?xml version="1.0" encoding="utf-8"?>
<p:tagLst xmlns:a="http://schemas.openxmlformats.org/drawingml/2006/main" xmlns:r="http://schemas.openxmlformats.org/officeDocument/2006/relationships" xmlns:p="http://schemas.openxmlformats.org/presentationml/2006/main">
  <p:tag name="PLUS_ID" val="detail_2"/>
</p:tagLst>
</file>

<file path=ppt/tags/tag259.xml><?xml version="1.0" encoding="utf-8"?>
<p:tagLst xmlns:a="http://schemas.openxmlformats.org/drawingml/2006/main" xmlns:r="http://schemas.openxmlformats.org/officeDocument/2006/relationships" xmlns:p="http://schemas.openxmlformats.org/presentationml/2006/main">
  <p:tag name="PLUS_ID" val="detail_3"/>
</p:tagLst>
</file>

<file path=ppt/tags/tag260.xml><?xml version="1.0" encoding="utf-8"?>
<p:tagLst xmlns:a="http://schemas.openxmlformats.org/drawingml/2006/main" xmlns:r="http://schemas.openxmlformats.org/officeDocument/2006/relationships" xmlns:p="http://schemas.openxmlformats.org/presentationml/2006/main">
  <p:tag name="PLUS_ID" val="header_2"/>
</p:tagLst>
</file>

<file path=ppt/tags/tag261.xml><?xml version="1.0" encoding="utf-8"?>
<p:tagLst xmlns:a="http://schemas.openxmlformats.org/drawingml/2006/main" xmlns:r="http://schemas.openxmlformats.org/officeDocument/2006/relationships" xmlns:p="http://schemas.openxmlformats.org/presentationml/2006/main">
  <p:tag name="PLUS_ID" val="header_3"/>
</p:tagLst>
</file>

<file path=ppt/tags/tag262.xml><?xml version="1.0" encoding="utf-8"?>
<p:tagLst xmlns:a="http://schemas.openxmlformats.org/drawingml/2006/main" xmlns:r="http://schemas.openxmlformats.org/officeDocument/2006/relationships" xmlns:p="http://schemas.openxmlformats.org/presentationml/2006/main">
  <p:tag name="PLUS_ID" val="detail_4"/>
</p:tagLst>
</file>

<file path=ppt/tags/tag263.xml><?xml version="1.0" encoding="utf-8"?>
<p:tagLst xmlns:a="http://schemas.openxmlformats.org/drawingml/2006/main" xmlns:r="http://schemas.openxmlformats.org/officeDocument/2006/relationships" xmlns:p="http://schemas.openxmlformats.org/presentationml/2006/main">
  <p:tag name="PLUS_ID" val="header_4"/>
</p:tagLst>
</file>

<file path=ppt/tags/tag264.xml><?xml version="1.0" encoding="utf-8"?>
<p:tagLst xmlns:a="http://schemas.openxmlformats.org/drawingml/2006/main" xmlns:r="http://schemas.openxmlformats.org/officeDocument/2006/relationships" xmlns:p="http://schemas.openxmlformats.org/presentationml/2006/main">
  <p:tag name="PLUS_ID" val="chapter"/>
</p:tagLst>
</file>

<file path=ppt/tags/tag265.xml><?xml version="1.0" encoding="utf-8"?>
<p:tagLst xmlns:a="http://schemas.openxmlformats.org/drawingml/2006/main" xmlns:r="http://schemas.openxmlformats.org/officeDocument/2006/relationships" xmlns:p="http://schemas.openxmlformats.org/presentationml/2006/main">
  <p:tag name="PLUS_ID" val="title"/>
</p:tagLst>
</file>

<file path=ppt/tags/tag266.xml><?xml version="1.0" encoding="utf-8"?>
<p:tagLst xmlns:a="http://schemas.openxmlformats.org/drawingml/2006/main" xmlns:r="http://schemas.openxmlformats.org/officeDocument/2006/relationships" xmlns:p="http://schemas.openxmlformats.org/presentationml/2006/main">
  <p:tag name="PLUS_ID" val="detail_0"/>
</p:tagLst>
</file>

<file path=ppt/tags/tag267.xml><?xml version="1.0" encoding="utf-8"?>
<p:tagLst xmlns:a="http://schemas.openxmlformats.org/drawingml/2006/main" xmlns:r="http://schemas.openxmlformats.org/officeDocument/2006/relationships" xmlns:p="http://schemas.openxmlformats.org/presentationml/2006/main">
  <p:tag name="PLUS_ID" val="detail_1"/>
</p:tagLst>
</file>

<file path=ppt/tags/tag268.xml><?xml version="1.0" encoding="utf-8"?>
<p:tagLst xmlns:a="http://schemas.openxmlformats.org/drawingml/2006/main" xmlns:r="http://schemas.openxmlformats.org/officeDocument/2006/relationships" xmlns:p="http://schemas.openxmlformats.org/presentationml/2006/main">
  <p:tag name="PLUS_ID" val="detail_2"/>
</p:tagLst>
</file>

<file path=ppt/tags/tag269.xml><?xml version="1.0" encoding="utf-8"?>
<p:tagLst xmlns:a="http://schemas.openxmlformats.org/drawingml/2006/main" xmlns:r="http://schemas.openxmlformats.org/officeDocument/2006/relationships" xmlns:p="http://schemas.openxmlformats.org/presentationml/2006/main">
  <p:tag name="PLUS_ID" val="header_0"/>
</p:tagLst>
</file>

<file path=ppt/tags/tag270.xml><?xml version="1.0" encoding="utf-8"?>
<p:tagLst xmlns:a="http://schemas.openxmlformats.org/drawingml/2006/main" xmlns:r="http://schemas.openxmlformats.org/officeDocument/2006/relationships" xmlns:p="http://schemas.openxmlformats.org/presentationml/2006/main">
  <p:tag name="PLUS_ID" val="header_1"/>
</p:tagLst>
</file>

<file path=ppt/tags/tag271.xml><?xml version="1.0" encoding="utf-8"?>
<p:tagLst xmlns:a="http://schemas.openxmlformats.org/drawingml/2006/main" xmlns:r="http://schemas.openxmlformats.org/officeDocument/2006/relationships" xmlns:p="http://schemas.openxmlformats.org/presentationml/2006/main">
  <p:tag name="PLUS_ID" val="header_2"/>
</p:tagLst>
</file>

<file path=ppt/tags/tag272.xml><?xml version="1.0" encoding="utf-8"?>
<p:tagLst xmlns:a="http://schemas.openxmlformats.org/drawingml/2006/main" xmlns:r="http://schemas.openxmlformats.org/officeDocument/2006/relationships" xmlns:p="http://schemas.openxmlformats.org/presentationml/2006/main">
  <p:tag name="PLUS_ID" val="logo"/>
</p:tagLst>
</file>

<file path=ppt/tags/tag273.xml><?xml version="1.0" encoding="utf-8"?>
<p:tagLst xmlns:a="http://schemas.openxmlformats.org/drawingml/2006/main" xmlns:r="http://schemas.openxmlformats.org/officeDocument/2006/relationships" xmlns:p="http://schemas.openxmlformats.org/presentationml/2006/main">
  <p:tag name="PLUS_ID" val="tip_wrapper"/>
</p:tagLst>
</file>

<file path=ppt/tags/tag274.xml><?xml version="1.0" encoding="utf-8"?>
<p:tagLst xmlns:a="http://schemas.openxmlformats.org/drawingml/2006/main" xmlns:r="http://schemas.openxmlformats.org/officeDocument/2006/relationships" xmlns:p="http://schemas.openxmlformats.org/presentationml/2006/main">
  <p:tag name="PLUS_ID" val="plus_tip"/>
</p:tagLst>
</file>

<file path=ppt/tags/tag275.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276.xml><?xml version="1.0" encoding="utf-8"?>
<p:tagLst xmlns:a="http://schemas.openxmlformats.org/drawingml/2006/main" xmlns:r="http://schemas.openxmlformats.org/officeDocument/2006/relationships" xmlns:p="http://schemas.openxmlformats.org/presentationml/2006/main">
  <p:tag name="PLUS_ID" val="image"/>
</p:tagLst>
</file>

<file path=ppt/tags/tag277.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278.xml><?xml version="1.0" encoding="utf-8"?>
<p:tagLst xmlns:a="http://schemas.openxmlformats.org/drawingml/2006/main" xmlns:r="http://schemas.openxmlformats.org/officeDocument/2006/relationships" xmlns:p="http://schemas.openxmlformats.org/presentationml/2006/main">
  <p:tag name="PLUS_ID" val="detail"/>
  <p:tag name="PLUS_THEME" val="font_0"/>
</p:tagLst>
</file>

<file path=ppt/tags/tag279.xml><?xml version="1.0" encoding="utf-8"?>
<p:tagLst xmlns:a="http://schemas.openxmlformats.org/drawingml/2006/main" xmlns:r="http://schemas.openxmlformats.org/officeDocument/2006/relationships" xmlns:p="http://schemas.openxmlformats.org/presentationml/2006/main">
  <p:tag name="PLUS_ID" val="chapter"/>
</p:tagLst>
</file>

<file path=ppt/tags/tag280.xml><?xml version="1.0" encoding="utf-8"?>
<p:tagLst xmlns:a="http://schemas.openxmlformats.org/drawingml/2006/main" xmlns:r="http://schemas.openxmlformats.org/officeDocument/2006/relationships" xmlns:p="http://schemas.openxmlformats.org/presentationml/2006/main">
  <p:tag name="PLUS_ID" val="logo"/>
</p:tagLst>
</file>

<file path=ppt/tags/tag28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282.xml><?xml version="1.0" encoding="utf-8"?>
<p:tagLst xmlns:a="http://schemas.openxmlformats.org/drawingml/2006/main" xmlns:r="http://schemas.openxmlformats.org/officeDocument/2006/relationships" xmlns:p="http://schemas.openxmlformats.org/presentationml/2006/main">
  <p:tag name="PLUS_ID" val="outro_text"/>
</p:tagLst>
</file>

<file path=ppt/tags/tag283.xml><?xml version="1.0" encoding="utf-8"?>
<p:tagLst xmlns:a="http://schemas.openxmlformats.org/drawingml/2006/main" xmlns:r="http://schemas.openxmlformats.org/officeDocument/2006/relationships" xmlns:p="http://schemas.openxmlformats.org/presentationml/2006/main">
  <p:tag name="PLUS_ID" val="logo"/>
</p:tagLst>
</file>

<file path=ppt/tags/tag284.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285.xml><?xml version="1.0" encoding="utf-8"?>
<p:tagLst xmlns:a="http://schemas.openxmlformats.org/drawingml/2006/main" xmlns:r="http://schemas.openxmlformats.org/officeDocument/2006/relationships" xmlns:p="http://schemas.openxmlformats.org/presentationml/2006/main">
  <p:tag name="PLUS_ID" val="outro_text"/>
</p:tagLst>
</file>

<file path=ppt/tags/tag286.xml><?xml version="1.0" encoding="utf-8"?>
<p:tagLst xmlns:a="http://schemas.openxmlformats.org/drawingml/2006/main" xmlns:r="http://schemas.openxmlformats.org/officeDocument/2006/relationships" xmlns:p="http://schemas.openxmlformats.org/presentationml/2006/main">
  <p:tag name="PLUS_ID" val="logo"/>
</p:tagLst>
</file>

<file path=ppt/tags/tag287.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288.xml><?xml version="1.0" encoding="utf-8"?>
<p:tagLst xmlns:a="http://schemas.openxmlformats.org/drawingml/2006/main" xmlns:r="http://schemas.openxmlformats.org/officeDocument/2006/relationships" xmlns:p="http://schemas.openxmlformats.org/presentationml/2006/main">
  <p:tag name="PLUS_ID" val="outro_text"/>
</p:tagLst>
</file>

<file path=ppt/tags/tag289.xml><?xml version="1.0" encoding="utf-8"?>
<p:tagLst xmlns:a="http://schemas.openxmlformats.org/drawingml/2006/main" xmlns:r="http://schemas.openxmlformats.org/officeDocument/2006/relationships" xmlns:p="http://schemas.openxmlformats.org/presentationml/2006/main">
  <p:tag name="PLUS_ID" val="logo"/>
</p:tagLst>
</file>

<file path=ppt/theme/theme1.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4.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5.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6.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7.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8.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9.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0.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1.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4.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5.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6.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7.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8.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9.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0.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861E9D4-0D6A-A746-9078-7F05D17C72B5}">
  <we:reference id="wa200007130" version="1.0.0.1" store="en-US" storeType="OMEX"/>
  <we:alternateReferences>
    <we:reference id="WA200007130"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TotalTime>
  <Words>3492</Words>
  <Application>Microsoft Macintosh PowerPoint</Application>
  <PresentationFormat>Widescreen</PresentationFormat>
  <Paragraphs>217</Paragraphs>
  <Slides>32</Slides>
  <Notes>1</Notes>
  <HiddenSlides>0</HiddenSlides>
  <MMClips>0</MMClips>
  <ScaleCrop>false</ScaleCrop>
  <HeadingPairs>
    <vt:vector size="6" baseType="variant">
      <vt:variant>
        <vt:lpstr>Fonts Used</vt:lpstr>
      </vt:variant>
      <vt:variant>
        <vt:i4>5</vt:i4>
      </vt:variant>
      <vt:variant>
        <vt:lpstr>Theme</vt:lpstr>
      </vt:variant>
      <vt:variant>
        <vt:i4>30</vt:i4>
      </vt:variant>
      <vt:variant>
        <vt:lpstr>Slide Titles</vt:lpstr>
      </vt:variant>
      <vt:variant>
        <vt:i4>32</vt:i4>
      </vt:variant>
    </vt:vector>
  </HeadingPairs>
  <TitlesOfParts>
    <vt:vector size="67" baseType="lpstr">
      <vt:lpstr>Aptos</vt:lpstr>
      <vt:lpstr>Aptos Display</vt:lpstr>
      <vt:lpstr>Arial</vt:lpstr>
      <vt:lpstr>Franklin Gothic Book</vt:lpstr>
      <vt:lpstr>Franklin Gothic Medium</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Identity as a Service (IDaaS)</vt:lpstr>
      <vt:lpstr>Agenda</vt:lpstr>
      <vt:lpstr>Introduction to IDaaS</vt:lpstr>
      <vt:lpstr>What is OIDC?</vt:lpstr>
      <vt:lpstr>What is LDAP?</vt:lpstr>
      <vt:lpstr>Why Use OIDC?</vt:lpstr>
      <vt:lpstr>When to Add LDAP?</vt:lpstr>
      <vt:lpstr>Benefits of Adding LDAP to OIDC</vt:lpstr>
      <vt:lpstr>IDaaS Reference Architecture Overview</vt:lpstr>
      <vt:lpstr>IDaaS Architecture Diagram</vt:lpstr>
      <vt:lpstr>OIDC and SAML Authentication Path</vt:lpstr>
      <vt:lpstr>ZTNA Access Model</vt:lpstr>
      <vt:lpstr>LDAP Integration in IDaaS</vt:lpstr>
      <vt:lpstr>SCIM Provisioning Role</vt:lpstr>
      <vt:lpstr>Security Components in IDaaS</vt:lpstr>
      <vt:lpstr>Observability and Audit Trail</vt:lpstr>
      <vt:lpstr>Login &amp; Access Flow Diagram</vt:lpstr>
      <vt:lpstr>Login &amp; Access Flow Explained</vt:lpstr>
      <vt:lpstr>PowerPoint Presentation</vt:lpstr>
      <vt:lpstr>Practical Guidance: When to Add LDAP</vt:lpstr>
      <vt:lpstr>Tenant Isolation Strategy</vt:lpstr>
      <vt:lpstr>Keycloak Realm and LDAP Trees</vt:lpstr>
      <vt:lpstr>Security Best Practices</vt:lpstr>
      <vt:lpstr>Observability Implementation</vt:lpstr>
      <vt:lpstr>CI/CD and Deployment Overview</vt:lpstr>
      <vt:lpstr>.gitlab-ci.yml Example</vt:lpstr>
      <vt:lpstr>Repository Structure for IDaaS</vt:lpstr>
      <vt:lpstr>Summary: Why OIDC + LDAP?</vt:lpstr>
      <vt:lpstr>Next Steps for Implementation</vt:lpstr>
      <vt:lpstr>Thank you</vt:lpstr>
      <vt:lpstr>High-level components (with OIDC + LDAP</vt:lpstr>
      <vt:lpstr>Login &amp; Access flow (modern app via OIDC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Abiola Ogunsakin</dc:creator>
  <cp:lastModifiedBy>Abiola Ogunsakin</cp:lastModifiedBy>
  <cp:revision>1</cp:revision>
  <dcterms:created xsi:type="dcterms:W3CDTF">2025-09-24T16:02:43Z</dcterms:created>
  <dcterms:modified xsi:type="dcterms:W3CDTF">2025-09-24T16:24:35Z</dcterms:modified>
</cp:coreProperties>
</file>